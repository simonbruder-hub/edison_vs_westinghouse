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39"/>
  </p:notesMasterIdLst>
  <p:sldIdLst>
    <p:sldId id="293" r:id="rId57"/>
    <p:sldId id="256" r:id="rId2"/>
    <p:sldId id="259" r:id="rId5"/>
    <p:sldId id="272" r:id="rId18"/>
    <p:sldId id="266" r:id="rId12"/>
    <p:sldId id="280" r:id="rId26"/>
    <p:sldId id="294" r:id="rId58"/>
    <p:sldId id="264" r:id="rId10"/>
    <p:sldId id="284" r:id="rId30"/>
    <p:sldId id="274" r:id="rId20"/>
    <p:sldId id="285" r:id="rId31"/>
    <p:sldId id="261" r:id="rId7"/>
    <p:sldId id="260" r:id="rId6"/>
    <p:sldId id="295" r:id="rId59"/>
    <p:sldId id="296" r:id="rId60"/>
    <p:sldId id="301" r:id="rId65"/>
    <p:sldId id="297" r:id="rId61"/>
    <p:sldId id="298" r:id="rId62"/>
    <p:sldId id="299" r:id="rId63"/>
    <p:sldId id="290" r:id="rId36"/>
    <p:sldId id="300" r:id="rId64"/>
  </p:sldIdLst>
  <p:sldSz cx="9144000" cy="5143500" type="screen16x9"/>
  <p:notesSz cx="6858000" cy="9144000"/>
  <p:embeddedFontLst>
    <p:embeddedFont>
      <p:font typeface="Anaheim" panose="020B0604020202020204" charset="0"/>
      <p:regular r:id="rId40"/>
      <p:bold r:id="rId41"/>
    </p:embeddedFont>
    <p:embeddedFont>
      <p:font typeface="Libre Baskerville" panose="020F0502020204030204" pitchFamily="2" charset="0"/>
      <p:regular r:id="rId42"/>
      <p:bold r:id="rId43"/>
      <p:italic r:id="rId44"/>
      <p:boldItalic r:id="rId45"/>
    </p:embeddedFont>
    <p:embeddedFont>
      <p:font typeface="Nunito Light" pitchFamily="2" charset="0"/>
      <p:regular r:id="rId46"/>
    </p:embeddedFont>
    <p:embeddedFont>
      <p:font typeface="Source Sans 3" panose="020B0604020202020204" charset="0"/>
      <p:regular r:id="rId47"/>
      <p:bold r:id="rId48"/>
      <p:italic r:id="rId49"/>
      <p:boldItalic r:id="rId50"/>
    </p:embeddedFont>
    <p:embeddedFont>
      <p:font typeface="Source Sans Pro" panose="020B050303040302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2D88B3-22BB-41FE-A7F5-9A3F9A6575C7}">
  <a:tblStyle styleId="{A02D88B3-22BB-41FE-A7F5-9A3F9A6575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3A605CF-E138-47C1-8A13-604126F4E9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10" Type="http://schemas.openxmlformats.org/officeDocument/2006/relationships/slide" Target="slides/slide8.xml"/><Relationship Id="rId12" Type="http://schemas.openxmlformats.org/officeDocument/2006/relationships/slide" Target="slides/slide5.xml"/><Relationship Id="rId18" Type="http://schemas.openxmlformats.org/officeDocument/2006/relationships/slide" Target="slides/slide4.xml"/><Relationship Id="rId20" Type="http://schemas.openxmlformats.org/officeDocument/2006/relationships/slide" Target="slides/slide10.xml"/><Relationship Id="rId26" Type="http://schemas.openxmlformats.org/officeDocument/2006/relationships/slide" Target="slides/slide6.xml"/><Relationship Id="rId30" Type="http://schemas.openxmlformats.org/officeDocument/2006/relationships/slide" Target="slides/slide9.xml"/><Relationship Id="rId31" Type="http://schemas.openxmlformats.org/officeDocument/2006/relationships/slide" Target="slides/slide11.xml"/><Relationship Id="rId3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font" Target="fonts/font6.fntdata"/><Relationship Id="rId46" Type="http://schemas.openxmlformats.org/officeDocument/2006/relationships/font" Target="fonts/font7.fntdata"/><Relationship Id="rId47" Type="http://schemas.openxmlformats.org/officeDocument/2006/relationships/font" Target="fonts/font8.fntdata"/><Relationship Id="rId48" Type="http://schemas.openxmlformats.org/officeDocument/2006/relationships/font" Target="fonts/font9.fntdata"/><Relationship Id="rId49" Type="http://schemas.openxmlformats.org/officeDocument/2006/relationships/font" Target="fonts/font10.fntdata"/><Relationship Id="rId50" Type="http://schemas.openxmlformats.org/officeDocument/2006/relationships/font" Target="fonts/font11.fntdata"/><Relationship Id="rId51" Type="http://schemas.openxmlformats.org/officeDocument/2006/relationships/font" Target="fonts/font12.fntdata"/><Relationship Id="rId52" Type="http://schemas.openxmlformats.org/officeDocument/2006/relationships/font" Target="fonts/font13.fnt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openxmlformats.org/officeDocument/2006/relationships/slide" Target="slides/slide1.xml"/><Relationship Id="rId58" Type="http://schemas.openxmlformats.org/officeDocument/2006/relationships/slide" Target="slides/slide7.xml"/><Relationship Id="rId59" Type="http://schemas.openxmlformats.org/officeDocument/2006/relationships/slide" Target="slides/slide14.xml"/><Relationship Id="rId60" Type="http://schemas.openxmlformats.org/officeDocument/2006/relationships/slide" Target="slides/slide15.xml"/><Relationship Id="rId61" Type="http://schemas.openxmlformats.org/officeDocument/2006/relationships/slide" Target="slides/slide17.xml"/><Relationship Id="rId62" Type="http://schemas.openxmlformats.org/officeDocument/2006/relationships/slide" Target="slides/slide18.xml"/><Relationship Id="rId63" Type="http://schemas.openxmlformats.org/officeDocument/2006/relationships/slide" Target="slides/slide19.xml"/><Relationship Id="rId64" Type="http://schemas.openxmlformats.org/officeDocument/2006/relationships/slide" Target="slides/slide21.xml"/><Relationship Id="rId6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Titelfolie – kurz begrüssen: «Ich spreche heute über den Stromkrieg – den Kampf zwischen Edison und Westinghouse um Amerikas Stromnetz.»</a:t>
            </a:r>
          </a:p>
          <a:p>
            <a:r>
              <a:t>Animation: Nach dem Morph fliegen automatisch Edison (links) und Tesla mit dem Westinghouse-Logo (rechts) ein. Erst danach weiterklicken.</a:t>
            </a:r>
          </a:p>
          <a:p>
            <a:r>
              <a:t>Fotos einsetzen (optional): Oval anklicken → Rechtsklick → Form formatieren → Füllung → Bild- oder Texturfüllung → Einfügen; danach den Buchstaben im Oval löschen. Animation und Morph bleiben erhalten. Beim Logo-Kreis («W») genauso.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[0:00–0:45] Einstieg</a:t>
            </a:r>
          </a:p>
          <a:p>
            <a:r>
              <a:t>Auburn, New York, 6. August 1890: William Kemmler wird als erster Mensch auf dem elektrischen Stuhl hingerichtet. Der Generator stammt von Westinghouse – beschafft hatte ihn aber das Lager um Edison, um Wechselstrom als «Todesstrom» abzustempeln.</a:t>
            </a:r>
          </a:p>
          <a:p>
            <a:r>
              <a:t>Leitfrage: Warum setzte sich in den USA trotzdem der Wechselstrom durch – und was zeigt der Konflikt über den Aufstieg der USA zur führenden Industriemacht?</a:t>
            </a:r>
          </a:p>
          <a:p>
            <a:r>
              <a:t>These: Entschieden haben nicht Propaganda oder Genies, sondern Kosten, Kapital und Netzlogik.</a:t>
            </a:r>
          </a:p>
          <a:p>
            <a:r>
              <a:t>Quellen: [6], [9].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[ab 10:00] Diskussion – Dauer vorher mit dem Dozenten absprechen.</a:t>
            </a:r>
          </a:p>
          <a:p>
            <a:r>
              <a:t>Ablauf: zuerst die Fragen von Handout Seite 1 und 2 kurz im Plenum, dann die Gruppenaufträge von Seite 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[9:30–10:00] Fazit</a:t>
            </a:r>
          </a:p>
          <a:p>
            <a:r>
              <a:t>Zurück zur Leitfrage: Wechselstrom gewann, weil er sich billiger skalieren liess und weil das grosse Kapital – J. P. Morgan und GE – am Ende darauf setzte. Die Angstkampagne hat daran nichts geändert.</a:t>
            </a:r>
          </a:p>
          <a:p>
            <a:r>
              <a:t>Für die «Weltmacht USA»: Der Stromkrieg steht am Anfang eines Musters – Standardkriege, die mit Kapital entschieden werden, und Grosskonzerne, die danach den Markt aufteilen.</a:t>
            </a:r>
          </a:p>
          <a:p>
            <a:r>
              <a:t>Pointe: Heute kehrt der Gleichstrom für lange Strecken zurück – mit HGÜ, zuerst 1954 auf Gotland, gebaut von ASEA, heute wie die BBC Teil von ABB.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[5:30–6:30] Warum Wechselstrom gewann</a:t>
            </a:r>
          </a:p>
          <a:p>
            <a:r>
              <a:t>Erstens Kosten: Wenige grosse Kraftwerke und dünnere Leitungen waren billiger als viele kleine Gleichstromzentralen.</a:t>
            </a:r>
          </a:p>
          <a:p>
            <a:r>
              <a:t>Zweitens: Die Angstkampagne scheiterte. Cole und Chandler (2019) beschreiben sie als «kompetitives Impression Management» – Edisons Lager wollte das Bild des Konkurrenzprodukts beschädigen, schaffte es aber nicht, Wechselstrom in der Öffentlichkeit dauerhaft mit dem Tod zu verknüpfen.</a:t>
            </a:r>
          </a:p>
          <a:p>
            <a:r>
              <a:t>Drittens der Schweizer Bezug: 1891 übertragen AEG und die Maschinenfabrik Oerlikon Drehstrom über 175 km von Lauffen nach Frankfurt. Der Oerlikon-Ingenieur Charles E. L. Brown gründet im selben Jahr in Baden die BBC – heute ABB.</a:t>
            </a:r>
          </a:p>
          <a:p>
            <a:r>
              <a:t>Kein K.-o.-Sieg: Umformer verbanden alte und neue Netze; in Manhattan lief Gleichstrom bis 2007 [12]–[14].</a:t>
            </a:r>
          </a:p>
          <a:p>
            <a:r>
              <a:t>Deutung: Paul David nennt das Pfadabhängigkeit – ein Standard setzt sich in einem kurzen, offenen Zeitfenster durch und verfestigt sich dann [15].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Gruppe 1 stellt zuerst vor. Danach Klick für Klick ergänzen.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[1:45–3:00] Akteure</a:t>
            </a:r>
          </a:p>
          <a:p>
            <a:r>
              <a:t>Im Kern stritten zwei Aktiengesellschaften mit ihren Investoren, nicht bloss zwei Erfinder [2].</a:t>
            </a:r>
          </a:p>
          <a:p>
            <a:r>
              <a:t>Edison (1847–1931) hatte viel Geld und Ruf in Gleichstrom-Kraftwerke gesteckt. Seine Warnungen vor Hochspannung waren nicht nur Taktik – er hielt sie auch für gefährlich.</a:t>
            </a:r>
          </a:p>
          <a:p>
            <a:r>
              <a:t>Westinghouse (1846–1914), bekannt durch die Druckluftbremse, war Industrieller: Er kaufte die nötigen Patente zu, darunter 1888 Teslas Motorpatente.</a:t>
            </a:r>
          </a:p>
          <a:p>
            <a:r>
              <a:t>Tesla (1856–1943), 1884 kurz bei Edison, lieferte mit dem Wechselstrommotor das fehlende Stück für Fabriken.</a:t>
            </a:r>
          </a:p>
          <a:p>
            <a:r>
              <a:t>Harold P. Brown war das öffentliche Gesicht der Kampagne gegen Wechselstrom; Edisons Labor half im Hintergrund.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Wie bei Seite 1: erst Antworten sammeln, dann pro Klick einblenden.</a:t>
            </a:r>
          </a:p>
          <a:p>
            <a:r>
              <a:t>a) knüpft an die Zahlen-Folie an (5 % → 78 %). b) knüpft an 1892 an: Gründung von GE unter J. P. Morgan.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Startbild, während alle Platz nehmen. Erster Klick: Der Titel morpht auf die Titelfolie, danach fliegen Edison und Tesla automatisch ein.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[4:15–5:30] Verlauf, Teil 2</a:t>
            </a:r>
          </a:p>
          <a:p>
            <a:r>
              <a:t>Phase 3: Jetzt entscheiden Markt und Kapital.</a:t>
            </a:r>
          </a:p>
          <a:p>
            <a:r>
              <a:t>1891 ist Westinghouse finanziell unter Druck; Tesla verzichtet auf seine Lizenzgebühren.</a:t>
            </a:r>
          </a:p>
          <a:p>
            <a:r>
              <a:t>Wendepunkt 1892: Der Bankier J. P. Morgan fusioniert Edisons Firma mit Thomson-Houston zu General Electric. Edison verliert die Kontrolle – und GE setzt ebenfalls auf Wechselstrom. Damit ist der Systemstreit faktisch entschieden.</a:t>
            </a:r>
          </a:p>
          <a:p>
            <a:r>
              <a:t>1893 beleuchtet Westinghouse die Weltausstellung in Chicago, deutlich günstiger als GE. 1896 fliesst Strom von den Niagarafällen nach Buffalo; im selben Jahr teilen GE und Westinghouse ihre Patente – aus Rivalen wird ein Duopol.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Anhang – nur bei Nachfragen zeigen. Vollständiges IEEE-Verzeichnis (30 Einträge) im Handout; Nummern identisch.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Fragen a) und b) ins Plenum stellen, zwei, drei Antworten sammeln. Dann pro Klick eine Lösung einblenden.</a:t>
            </a:r>
          </a:p>
          <a:p>
            <a:r>
              <a:t>Ergänzung zu a): Das Ladegerät des Handys wandelt den Wechselstrom aus der Steckdose in Gleichstrom um – heute arbeiten beide Systeme zusammen.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7" name="Google Shape;3477;g258a3198316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8" name="Google Shape;3478;g258a3198316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[0:45–1:45] Technik</a:t>
            </a:r>
          </a:p>
          <a:p>
            <a:r>
              <a:t>Kernidee: Strom lässt sich nur mit hoher Spannung billig über weite Strecken schicken.</a:t>
            </a:r>
          </a:p>
          <a:p>
            <a:r>
              <a:t>Der Verlust in der Leitung wächst mit dem Quadrat der Stromstärke. Zehnfache Spannung heisst bei gleicher Leistung ein Zehntel des Stroms – und nur noch ein Hundertstel des Verlusts.</a:t>
            </a:r>
          </a:p>
          <a:p>
            <a:r>
              <a:t>Um 1890 liess sich nur Wechselstrom mit Transformatoren hoch- und heruntersetzen. Edisons Gleichstrom brauchte viele kleine Kraftwerke mitten in der Stadt und viel Kupfer.</a:t>
            </a:r>
          </a:p>
          <a:p>
            <a:r>
              <a:t>Quellen: [1]–[3].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Gruppen einteilen; die Aufträge stehen auf Handout Seite 3. Diese Folie stehen lassen, solange die Gruppen diskutieren.</a:t>
            </a:r>
          </a:p>
          <a:p>
            <a:r>
              <a:t>Danach pro Gruppe die Lösungsfolie: Die Gruppe stellt zuerst ihr Ergebnis vor, dann Klick für Klick ergänzen.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0" name="Google Shape;3950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[7:30–8:30] Bedeutung für die USA (2)</a:t>
            </a:r>
          </a:p>
          <a:p>
            <a:r>
              <a:t>Fabriken: 1899 lieferten Elektromotoren knapp 5 Prozent der Antriebsleistung der US-Industrie, 1929 rund 78 Prozent.</a:t>
            </a:r>
          </a:p>
          <a:p>
            <a:r>
              <a:t>Die Produktivität wuchs vor 1919 um 1,3 Prozent pro Jahr, danach um 3,1 Prozent. Paul David erklärt die Verzögerung: Erst als Fabriken um viele Elektromotoren herum neu gebaut wurden, zahlte sich die Technik aus.</a:t>
            </a:r>
          </a:p>
          <a:p>
            <a:r>
              <a:t>Big Business: GE war 1896 einer der zwölf ersten Werte im Dow Jones; mit Westinghouse bildete es ein Duopol mit Patentpool – typisch für das Gilded Age. An den Niagarafällen zog billige Wasserkraft Aluminium- und Chemieindustrie an [21].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Gruppe 2 stellt zuerst vor. Danach Klick für Klick ergänzen.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Gruppe 3 stellt zuerst vor. Danach Klick für Klick ergänzen.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Google Shape;435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6" name="Google Shape;435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[3:00–4:15] Verlauf, Teil 1</a:t>
            </a:r>
          </a:p>
          <a:p>
            <a:r>
              <a:t>Phase 1, offener Wettbewerb: 1882 startet Edisons Pearl Street Station, 1886 läuft in Great Barrington das erste Wechselstromnetz der USA mit Transformatoren; im selben Jahr gründet Westinghouse seine Elektrofirma.</a:t>
            </a:r>
          </a:p>
          <a:p>
            <a:r>
              <a:t>Phase 2, Propagandakrieg: 1888 warnt Edisons Firma mit der Broschüre «A Warning», Harold Brown tötet öffentlich Hunde mit Wechselstrom.</a:t>
            </a:r>
          </a:p>
          <a:p>
            <a:r>
              <a:t>1889 führt New York den elektrischen Stuhl ein – bewusst mit einem Westinghouse-Generator. Edison und Westinghouse streiten sich zudem in der North American Review [7], [8].</a:t>
            </a:r>
          </a:p>
          <a:p>
            <a:r>
              <a:t>1890 die Hinrichtung Kemmlers: kein «sauberer» Tod, sondern ein Debakel – zurück zum Einstieg.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258a3198316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258a3198316_0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[6:30–7:30] Bedeutung für die USA (1)</a:t>
            </a:r>
          </a:p>
          <a:p>
            <a:r>
              <a:t>Bezug zum Modul «Weltmacht USA». Die Daten stammen vom Wirtschaftshistoriker Paul Bairoch.</a:t>
            </a:r>
          </a:p>
          <a:p>
            <a:r>
              <a:t>1880 lag Grossbritannien klar vorne. Zwischen 1880 und 1900 – im Jahrzehnt des Stromkriegs – ziehen die USA vorbei. 1913 stellen sie knapp ein Drittel der Weltindustrieproduktion, mehr als Grossbritannien und Deutschland zusammen (28,4 %).</a:t>
            </a:r>
          </a:p>
          <a:p>
            <a:r>
              <a:t>Vorsicht bei der Deutung: Der Stromkrieg hat das nicht allein verursacht. Aber billiger, übertragbarer Strom wurde zu einer Basistechnologie dieses Aufstiegs [17].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g258a319831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7" name="Google Shape;4467;g258a319831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[8:30–9:30] Mythen und Quellenkritik</a:t>
            </a:r>
          </a:p>
          <a:p>
            <a:r>
              <a:t>Erstens Topsy: Ein ABB-Beitrag behauptet, Edison habe zur Abschreckung einen Elefanten töten lassen. Die Edison Papers der Rutgers University zeigen: Das war 1903, über zehn Jahre nach dem Stromkrieg, und Edison war nicht beteiligt.</a:t>
            </a:r>
          </a:p>
          <a:p>
            <a:r>
              <a:t>Zweitens «Tesla gegen Edison»: Filme wie «The Current War» machen daraus ein Duell der Genies; tatsächlich stritten Firmen und Investoren.</a:t>
            </a:r>
          </a:p>
          <a:p>
            <a:r>
              <a:t>Drittens der zerrissene Vertrag: Dafür gibt es keinen Beleg – belegt ist nur der Verzicht auf Lizenzgebühren (1891) und der spätere Patentverkauf für 216 000 Dollar (Carlson).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2" name="Google Shape;451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3" name="Google Shape;451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Danke – Fragen?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" name="Google Shape;11;p2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" name="Google Shape;24;p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8" name="Google Shape;38;p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1" name="Google Shape;51;p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67" name="Google Shape;67;p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79" name="Google Shape;79;p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pic" idx="2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3" name="Google Shape;93;p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5" name="Google Shape;105;p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1" name="Google Shape;121;p1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35" name="Google Shape;135;p1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2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3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4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5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6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7" hasCustomPrompt="1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8" hasCustomPrompt="1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9" hasCustomPrompt="1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16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7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8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9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20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1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65" name="Google Shape;165;p1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subTitle" idx="1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8" name="Google Shape;178;p1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5"/>
          <p:cNvSpPr txBox="1">
            <a:spLocks noGrp="1"/>
          </p:cNvSpPr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5"/>
          <p:cNvSpPr txBox="1">
            <a:spLocks noGrp="1"/>
          </p:cNvSpPr>
          <p:nvPr>
            <p:ph type="subTitle" idx="1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5"/>
          <p:cNvSpPr>
            <a:spLocks noGrp="1"/>
          </p:cNvSpPr>
          <p:nvPr>
            <p:ph type="pic" idx="2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2" name="Google Shape;192;p1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6"/>
          <p:cNvSpPr txBox="1">
            <a:spLocks noGrp="1"/>
          </p:cNvSpPr>
          <p:nvPr>
            <p:ph type="title"/>
          </p:nvPr>
        </p:nvSpPr>
        <p:spPr>
          <a:xfrm>
            <a:off x="872400" y="1362425"/>
            <a:ext cx="26382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subTitle" idx="1"/>
          </p:nvPr>
        </p:nvSpPr>
        <p:spPr>
          <a:xfrm>
            <a:off x="872400" y="2501825"/>
            <a:ext cx="26382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5" name="Google Shape;205;p1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5640175" y="1362425"/>
            <a:ext cx="26382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1"/>
          </p:nvPr>
        </p:nvSpPr>
        <p:spPr>
          <a:xfrm>
            <a:off x="5640175" y="2501825"/>
            <a:ext cx="26382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8" name="Google Shape;218;p1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1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31" name="Google Shape;231;p1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720000" y="1291951"/>
            <a:ext cx="7704000" cy="14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4" name="Google Shape;244;p20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2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1"/>
          </p:nvPr>
        </p:nvSpPr>
        <p:spPr>
          <a:xfrm>
            <a:off x="4914510" y="3016575"/>
            <a:ext cx="2574900" cy="11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subTitle" idx="2"/>
          </p:nvPr>
        </p:nvSpPr>
        <p:spPr>
          <a:xfrm>
            <a:off x="1654588" y="3016575"/>
            <a:ext cx="2574900" cy="11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1654588" y="2457675"/>
            <a:ext cx="257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4914511" y="2457675"/>
            <a:ext cx="257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60" name="Google Shape;260;p2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74" name="Google Shape;274;p22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2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body" idx="1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body" idx="2"/>
          </p:nvPr>
        </p:nvSpPr>
        <p:spPr>
          <a:xfrm>
            <a:off x="4823266" y="2757175"/>
            <a:ext cx="3243600" cy="16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subTitle" idx="3"/>
          </p:nvPr>
        </p:nvSpPr>
        <p:spPr>
          <a:xfrm>
            <a:off x="1077112" y="2198275"/>
            <a:ext cx="324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subTitle" idx="4"/>
          </p:nvPr>
        </p:nvSpPr>
        <p:spPr>
          <a:xfrm>
            <a:off x="4823276" y="2198275"/>
            <a:ext cx="324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2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90" name="Google Shape;290;p2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2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1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3"/>
          <p:cNvSpPr txBox="1">
            <a:spLocks noGrp="1"/>
          </p:cNvSpPr>
          <p:nvPr>
            <p:ph type="subTitle" idx="2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3"/>
          <p:cNvSpPr txBox="1">
            <a:spLocks noGrp="1"/>
          </p:cNvSpPr>
          <p:nvPr>
            <p:ph type="subTitle" idx="3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3"/>
          <p:cNvSpPr txBox="1">
            <a:spLocks noGrp="1"/>
          </p:cNvSpPr>
          <p:nvPr>
            <p:ph type="subTitle" idx="4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03" name="Google Shape;303;p23"/>
          <p:cNvSpPr txBox="1">
            <a:spLocks noGrp="1"/>
          </p:cNvSpPr>
          <p:nvPr>
            <p:ph type="subTitle" idx="5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subTitle" idx="6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08" name="Google Shape;308;p2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subTitle" idx="1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subTitle" idx="2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subTitle" idx="3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subTitle" idx="4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subTitle" idx="5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2" name="Google Shape;322;p24"/>
          <p:cNvSpPr txBox="1">
            <a:spLocks noGrp="1"/>
          </p:cNvSpPr>
          <p:nvPr>
            <p:ph type="subTitle" idx="6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3" name="Google Shape;323;p24"/>
          <p:cNvSpPr txBox="1">
            <a:spLocks noGrp="1"/>
          </p:cNvSpPr>
          <p:nvPr>
            <p:ph type="subTitle" idx="7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subTitle" idx="8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28" name="Google Shape;328;p2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" name="Google Shape;336;p2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5"/>
          <p:cNvSpPr txBox="1">
            <a:spLocks noGrp="1"/>
          </p:cNvSpPr>
          <p:nvPr>
            <p:ph type="subTitle" idx="1"/>
          </p:nvPr>
        </p:nvSpPr>
        <p:spPr>
          <a:xfrm>
            <a:off x="1109152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5"/>
          <p:cNvSpPr txBox="1">
            <a:spLocks noGrp="1"/>
          </p:cNvSpPr>
          <p:nvPr>
            <p:ph type="subTitle" idx="2"/>
          </p:nvPr>
        </p:nvSpPr>
        <p:spPr>
          <a:xfrm>
            <a:off x="3579000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5"/>
          <p:cNvSpPr txBox="1">
            <a:spLocks noGrp="1"/>
          </p:cNvSpPr>
          <p:nvPr>
            <p:ph type="subTitle" idx="3"/>
          </p:nvPr>
        </p:nvSpPr>
        <p:spPr>
          <a:xfrm>
            <a:off x="1109152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5"/>
          <p:cNvSpPr txBox="1">
            <a:spLocks noGrp="1"/>
          </p:cNvSpPr>
          <p:nvPr>
            <p:ph type="subTitle" idx="4"/>
          </p:nvPr>
        </p:nvSpPr>
        <p:spPr>
          <a:xfrm>
            <a:off x="3579000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subTitle" idx="5"/>
          </p:nvPr>
        </p:nvSpPr>
        <p:spPr>
          <a:xfrm>
            <a:off x="6048848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5"/>
          <p:cNvSpPr txBox="1">
            <a:spLocks noGrp="1"/>
          </p:cNvSpPr>
          <p:nvPr>
            <p:ph type="subTitle" idx="6"/>
          </p:nvPr>
        </p:nvSpPr>
        <p:spPr>
          <a:xfrm>
            <a:off x="6048848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5"/>
          <p:cNvSpPr txBox="1">
            <a:spLocks noGrp="1"/>
          </p:cNvSpPr>
          <p:nvPr>
            <p:ph type="subTitle" idx="7"/>
          </p:nvPr>
        </p:nvSpPr>
        <p:spPr>
          <a:xfrm>
            <a:off x="1113052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subTitle" idx="8"/>
          </p:nvPr>
        </p:nvSpPr>
        <p:spPr>
          <a:xfrm>
            <a:off x="3582900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subTitle" idx="9"/>
          </p:nvPr>
        </p:nvSpPr>
        <p:spPr>
          <a:xfrm>
            <a:off x="6052748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6" name="Google Shape;346;p25"/>
          <p:cNvSpPr txBox="1">
            <a:spLocks noGrp="1"/>
          </p:cNvSpPr>
          <p:nvPr>
            <p:ph type="subTitle" idx="13"/>
          </p:nvPr>
        </p:nvSpPr>
        <p:spPr>
          <a:xfrm>
            <a:off x="1113052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7" name="Google Shape;347;p25"/>
          <p:cNvSpPr txBox="1">
            <a:spLocks noGrp="1"/>
          </p:cNvSpPr>
          <p:nvPr>
            <p:ph type="subTitle" idx="14"/>
          </p:nvPr>
        </p:nvSpPr>
        <p:spPr>
          <a:xfrm>
            <a:off x="3582900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subTitle" idx="15"/>
          </p:nvPr>
        </p:nvSpPr>
        <p:spPr>
          <a:xfrm>
            <a:off x="6052748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52" name="Google Shape;352;p2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1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2" name="Google Shape;362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" name="Google Shape;363;p26"/>
          <p:cNvSpPr txBox="1">
            <a:spLocks noGrp="1"/>
          </p:cNvSpPr>
          <p:nvPr>
            <p:ph type="subTitle" idx="3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4" name="Google Shape;364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5" name="Google Shape;365;p26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" name="Google Shape;368;p2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69" name="Google Shape;369;p2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27"/>
          <p:cNvSpPr txBox="1">
            <a:spLocks noGrp="1"/>
          </p:cNvSpPr>
          <p:nvPr>
            <p:ph type="title" hasCustomPrompt="1"/>
          </p:nvPr>
        </p:nvSpPr>
        <p:spPr>
          <a:xfrm>
            <a:off x="1216350" y="1339675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7200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subTitle" idx="2"/>
          </p:nvPr>
        </p:nvSpPr>
        <p:spPr>
          <a:xfrm>
            <a:off x="7200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33967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27"/>
          <p:cNvSpPr txBox="1">
            <a:spLocks noGrp="1"/>
          </p:cNvSpPr>
          <p:nvPr>
            <p:ph type="subTitle" idx="4"/>
          </p:nvPr>
        </p:nvSpPr>
        <p:spPr>
          <a:xfrm>
            <a:off x="33762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ubTitle" idx="5"/>
          </p:nvPr>
        </p:nvSpPr>
        <p:spPr>
          <a:xfrm>
            <a:off x="33762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3" name="Google Shape;383;p27"/>
          <p:cNvSpPr txBox="1">
            <a:spLocks noGrp="1"/>
          </p:cNvSpPr>
          <p:nvPr>
            <p:ph type="title" idx="6" hasCustomPrompt="1"/>
          </p:nvPr>
        </p:nvSpPr>
        <p:spPr>
          <a:xfrm>
            <a:off x="6528650" y="133967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27"/>
          <p:cNvSpPr txBox="1">
            <a:spLocks noGrp="1"/>
          </p:cNvSpPr>
          <p:nvPr>
            <p:ph type="subTitle" idx="7"/>
          </p:nvPr>
        </p:nvSpPr>
        <p:spPr>
          <a:xfrm>
            <a:off x="60323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5" name="Google Shape;385;p27"/>
          <p:cNvSpPr txBox="1">
            <a:spLocks noGrp="1"/>
          </p:cNvSpPr>
          <p:nvPr>
            <p:ph type="subTitle" idx="8"/>
          </p:nvPr>
        </p:nvSpPr>
        <p:spPr>
          <a:xfrm>
            <a:off x="60323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6" name="Google Shape;386;p27"/>
          <p:cNvSpPr txBox="1">
            <a:spLocks noGrp="1"/>
          </p:cNvSpPr>
          <p:nvPr>
            <p:ph type="title" idx="9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90" name="Google Shape;390;p2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8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2405700" y="3611950"/>
            <a:ext cx="4332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000" b="1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404" name="Google Shape;404;p2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13" name="Google Shape;413;p29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3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3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72" name="Google Shape;872;p30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jbxad7q3dFi-GKvg4GhqPaYuQ5p925QZmp8zlzLnUxo/copy#gid=0" TargetMode="External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!!Titel"/>
          <p:cNvSpPr txBox="1">
            <a:spLocks noGrp="1"/>
          </p:cNvSpPr>
          <p:nvPr>
            <p:ph type="ctrTitle"/>
          </p:nvPr>
        </p:nvSpPr>
        <p:spPr>
          <a:xfrm>
            <a:off x="1371600" y="123444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Der Stromkrieg</a:t>
            </a:r>
            <a:endParaRPr sz="5100"/>
          </a:p>
        </p:txBody>
      </p:sp>
      <p:sp>
        <p:nvSpPr>
          <p:cNvPr id="891" name="!!Untertitel"/>
          <p:cNvSpPr txBox="1">
            <a:spLocks noGrp="1"/>
          </p:cNvSpPr>
          <p:nvPr>
            <p:ph type="subTitle" idx="1"/>
          </p:nvPr>
        </p:nvSpPr>
        <p:spPr>
          <a:xfrm>
            <a:off x="1371600" y="3154680"/>
            <a:ext cx="6400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Edison · Westinghouse · Tesla</a:t>
            </a:r>
            <a:endParaRPr/>
          </a:p>
        </p:txBody>
      </p:sp>
      <p:grpSp>
        <p:nvGrpSpPr>
          <p:cNvPr id="896" name="Google Shape;896;p3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897" name="Google Shape;897;p34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" grpId="0" animBg="1"/>
      <p:bldP spid="89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!!Titel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Der Stromkrieg</a:t>
            </a:r>
            <a:endParaRPr sz="5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- 1886–1892 -</a:t>
            </a:r>
            <a:endParaRPr sz="5100"/>
          </a:p>
        </p:txBody>
      </p:sp>
      <p:sp>
        <p:nvSpPr>
          <p:cNvPr id="891" name="!!Untertitel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Edison vs. Westinghouse · Simon Bruder</a:t>
            </a:r>
            <a:endParaRPr/>
          </a:p>
        </p:txBody>
      </p:sp>
      <p:grpSp>
        <p:nvGrpSpPr>
          <p:cNvPr id="892" name="Google Shape;892;p34"/>
          <p:cNvGrpSpPr/>
          <p:nvPr/>
        </p:nvGrpSpPr>
        <p:grpSpPr>
          <a:xfrm>
            <a:off x="2361225" y="3521900"/>
            <a:ext cx="4421400" cy="589250"/>
            <a:chOff x="2361225" y="3521900"/>
            <a:chExt cx="4421400" cy="589250"/>
          </a:xfrm>
        </p:grpSpPr>
        <p:cxnSp>
          <p:nvCxnSpPr>
            <p:cNvPr id="893" name="Google Shape;893;p3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3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95" name="Google Shape;895;p34"/>
          <p:cNvSpPr txBox="1"/>
          <p:nvPr/>
        </p:nvSpPr>
        <p:spPr>
          <a:xfrm>
            <a:off x="3714675" y="1016233"/>
            <a:ext cx="1714500" cy="41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FHNW</a:t>
            </a:r>
            <a:endParaRPr sz="16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896" name="Google Shape;896;p3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897" name="Google Shape;897;p34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3" name="!!Edison"/>
          <p:cNvSpPr/>
          <p:nvPr/>
        </p:nvSpPr>
        <p:spPr>
          <a:xfrm>
            <a:off x="1298448" y="1481328"/>
            <a:ext cx="960120" cy="1234440"/>
          </a:xfrm>
          <a:prstGeom prst="ellipse">
            <a:avLst/>
          </a:prstGeom>
          <a:solidFill>
            <a:srgbClr val="FFFFFF">
              <a:alpha val="45000"/>
            </a:srgbClr>
          </a:solidFill>
          <a:ln w="57150" cmpd="dbl">
            <a:solidFill>
              <a:srgbClr val="0A1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0" i="0">
                <a:solidFill>
                  <a:srgbClr val="0A1A35"/>
                </a:solidFill>
                <a:latin typeface="Libre Baskerville"/>
              </a:rPr>
              <a:t>E</a:t>
            </a:r>
          </a:p>
        </p:txBody>
      </p:sp>
      <p:sp>
        <p:nvSpPr>
          <p:cNvPr id="1354" name="Edison Name"/>
          <p:cNvSpPr txBox="1"/>
          <p:nvPr/>
        </p:nvSpPr>
        <p:spPr>
          <a:xfrm>
            <a:off x="955547" y="2761488"/>
            <a:ext cx="16459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/>
            <a:r>
              <a:rPr sz="1200" b="1" i="0">
                <a:solidFill>
                  <a:srgbClr val="0A1A35"/>
                </a:solidFill>
                <a:latin typeface="Libre Baskerville"/>
              </a:rPr>
              <a:t>Thomas A. Edison</a:t>
            </a:r>
          </a:p>
          <a:p>
            <a:pPr algn="ctr"/>
            <a:r>
              <a:rPr sz="1000" b="0" i="1">
                <a:solidFill>
                  <a:srgbClr val="0A1A35"/>
                </a:solidFill>
                <a:latin typeface="Source Sans 3"/>
              </a:rPr>
              <a:t>Gleichstrom</a:t>
            </a:r>
          </a:p>
        </p:txBody>
      </p:sp>
      <p:sp>
        <p:nvSpPr>
          <p:cNvPr id="1355" name="!!Tesla"/>
          <p:cNvSpPr/>
          <p:nvPr/>
        </p:nvSpPr>
        <p:spPr>
          <a:xfrm>
            <a:off x="6885432" y="1481328"/>
            <a:ext cx="960120" cy="1234440"/>
          </a:xfrm>
          <a:prstGeom prst="ellipse">
            <a:avLst/>
          </a:prstGeom>
          <a:solidFill>
            <a:srgbClr val="FFFFFF">
              <a:alpha val="45000"/>
            </a:srgbClr>
          </a:solidFill>
          <a:ln w="57150" cmpd="dbl">
            <a:solidFill>
              <a:srgbClr val="0A1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0" i="0">
                <a:solidFill>
                  <a:srgbClr val="0A1A35"/>
                </a:solidFill>
                <a:latin typeface="Libre Baskerville"/>
              </a:rPr>
              <a:t>T</a:t>
            </a:r>
          </a:p>
        </p:txBody>
      </p:sp>
      <p:sp>
        <p:nvSpPr>
          <p:cNvPr id="1356" name="Tesla Name"/>
          <p:cNvSpPr txBox="1"/>
          <p:nvPr/>
        </p:nvSpPr>
        <p:spPr>
          <a:xfrm>
            <a:off x="6496812" y="2761488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/>
            <a:r>
              <a:rPr sz="1200" b="1" i="0">
                <a:solidFill>
                  <a:srgbClr val="0A1A35"/>
                </a:solidFill>
                <a:latin typeface="Libre Baskerville"/>
              </a:rPr>
              <a:t>Nikola Tesla</a:t>
            </a:r>
          </a:p>
          <a:p>
            <a:pPr algn="ctr"/>
            <a:r>
              <a:rPr sz="1000" b="0" i="1">
                <a:solidFill>
                  <a:srgbClr val="0A1A35"/>
                </a:solidFill>
                <a:latin typeface="Source Sans 3"/>
              </a:rPr>
              <a:t>Wechselstrom · Westinghouse</a:t>
            </a:r>
          </a:p>
        </p:txBody>
      </p:sp>
      <p:sp>
        <p:nvSpPr>
          <p:cNvPr id="1357" name="!!Logo Westinghouse"/>
          <p:cNvSpPr/>
          <p:nvPr/>
        </p:nvSpPr>
        <p:spPr>
          <a:xfrm>
            <a:off x="7534656" y="1353312"/>
            <a:ext cx="502920" cy="502920"/>
          </a:xfrm>
          <a:prstGeom prst="ellipse">
            <a:avLst/>
          </a:prstGeom>
          <a:solidFill>
            <a:srgbClr val="0A1C5E"/>
          </a:solidFill>
          <a:ln w="38100" cmpd="dbl">
            <a:solidFill>
              <a:srgbClr val="C2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re Baskerville"/>
              </a:rPr>
              <a:t>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8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" grpId="0" animBg="1"/>
      <p:bldP spid="1354" grpId="0" animBg="1"/>
      <p:bldP spid="1355" grpId="0" animBg="1"/>
      <p:bldP spid="1356" grpId="0" animBg="1"/>
      <p:bldP spid="13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37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1408" name="Google Shape;1408;p37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7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7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7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7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7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7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7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7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7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7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7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7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7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7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7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7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7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7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7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7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7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7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7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7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7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7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7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7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7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7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7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7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7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7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7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7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7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7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7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7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7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7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7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7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7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7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7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7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7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7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7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7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7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7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7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7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7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7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7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7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7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7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7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7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7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7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7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7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7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7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7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7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7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7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7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7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7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7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7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7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7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7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7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7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7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7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7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7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7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7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7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7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7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7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7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7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7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7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7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7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7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7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7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7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7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7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7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7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7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7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7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7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7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7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7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7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7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7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7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7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7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7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7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7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7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7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7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7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7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7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7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7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7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7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7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7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7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7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7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7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7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7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7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7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7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7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7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7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7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7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7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7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7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7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7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7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7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7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7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7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7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7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7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7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7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7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7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7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7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7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7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7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7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7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7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7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7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7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7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7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7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7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7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7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7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7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7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7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7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7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7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7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7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7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7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7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7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7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7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7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7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7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7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7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7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7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7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7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7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7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7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7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4" name="Google Shape;1864;p37"/>
          <p:cNvSpPr txBox="1">
            <a:spLocks noGrp="1"/>
          </p:cNvSpPr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- Auburn, 1890 -</a:t>
            </a:r>
            <a:endParaRPr/>
          </a:p>
        </p:txBody>
      </p:sp>
      <p:sp>
        <p:nvSpPr>
          <p:cNvPr id="1865" name="Google Shape;1865;p37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August: erste Hinrichtung mit Strom – mit einem Westinghouse-Generator</a:t>
            </a:r>
            <a:endParaRPr/>
          </a:p>
        </p:txBody>
      </p:sp>
      <p:grpSp>
        <p:nvGrpSpPr>
          <p:cNvPr id="1866" name="Google Shape;1866;p37"/>
          <p:cNvGrpSpPr/>
          <p:nvPr/>
        </p:nvGrpSpPr>
        <p:grpSpPr>
          <a:xfrm>
            <a:off x="2007250" y="2725500"/>
            <a:ext cx="5129400" cy="940200"/>
            <a:chOff x="2007250" y="2725500"/>
            <a:chExt cx="5129400" cy="940200"/>
          </a:xfrm>
        </p:grpSpPr>
        <p:cxnSp>
          <p:nvCxnSpPr>
            <p:cNvPr id="1867" name="Google Shape;1867;p37"/>
            <p:cNvCxnSpPr/>
            <p:nvPr/>
          </p:nvCxnSpPr>
          <p:spPr>
            <a:xfrm>
              <a:off x="2007250" y="2725500"/>
              <a:ext cx="512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8" name="Google Shape;1868;p37"/>
            <p:cNvCxnSpPr/>
            <p:nvPr/>
          </p:nvCxnSpPr>
          <p:spPr>
            <a:xfrm>
              <a:off x="2007250" y="3665700"/>
              <a:ext cx="512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1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1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" grpId="0" animBg="1"/>
      <p:bldP spid="18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p5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Warum die Spannung entscheidet</a:t>
            </a:r>
            <a:endParaRPr/>
          </a:p>
        </p:txBody>
      </p:sp>
      <p:graphicFrame>
        <p:nvGraphicFramePr>
          <p:cNvPr id="3481" name="Google Shape;3481;p50"/>
          <p:cNvGraphicFramePr/>
          <p:nvPr/>
        </p:nvGraphicFramePr>
        <p:xfrm>
          <a:off x="720000" y="1335200"/>
          <a:ext cx="3000000" cy="2286000"/>
        </p:xfrm>
        <a:graphic>
          <a:graphicData uri="http://schemas.openxmlformats.org/drawingml/2006/table">
            <a:tbl>
              <a:tblPr>
                <a:noFill/>
                <a:tableStyleId>{13A605CF-E138-47C1-8A13-604126F4E997}</a:tableStyleId>
              </a:tblPr>
              <a:tblGrid>
                <a:gridCol w="19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/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Gleichstrom (Edison)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Wechselstrom (Westinghouse)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Spannung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rund 110 V, nicht transformierbar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Transformator: hoch im Netz, tief beim Kunden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Verlust (I² · R)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hoch: viel Strom, dicke Kupferleitungen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× Spannung = 1/100 Verlust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Reichweite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ein Stadtquartier (1882: 0,65 km²) [1]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Niagara–Buffalo 1896: über 30 km [3]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Schwachpunkt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viele kleine Kraftwerke, viel Kupfer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Hochspannung gefährlich; Motor erst 1888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4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Firmen und Investoren statt Genies</a:t>
            </a:r>
            <a:endParaRPr/>
          </a:p>
        </p:txBody>
      </p:sp>
      <p:sp>
        <p:nvSpPr>
          <p:cNvPr id="2430" name="Google Shape;2430;p44"/>
          <p:cNvSpPr txBox="1">
            <a:spLocks noGrp="1"/>
          </p:cNvSpPr>
          <p:nvPr>
            <p:ph type="subTitle" idx="1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Erfinder-Unternehmer; verteidigt Gleichstrom</a:t>
            </a:r>
            <a:endParaRPr/>
          </a:p>
        </p:txBody>
      </p:sp>
      <p:sp>
        <p:nvSpPr>
          <p:cNvPr id="2431" name="Google Shape;2431;p44"/>
          <p:cNvSpPr txBox="1">
            <a:spLocks noGrp="1"/>
          </p:cNvSpPr>
          <p:nvPr>
            <p:ph type="subTitle" idx="2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Industrieller; ab 1886 Wechselstromnetze</a:t>
            </a:r>
            <a:endParaRPr/>
          </a:p>
        </p:txBody>
      </p:sp>
      <p:sp>
        <p:nvSpPr>
          <p:cNvPr id="2432" name="Google Shape;2432;p44"/>
          <p:cNvSpPr txBox="1">
            <a:spLocks noGrp="1"/>
          </p:cNvSpPr>
          <p:nvPr>
            <p:ph type="subTitle" idx="3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Motorpatente 1888 für die Fabrik [4]</a:t>
            </a:r>
            <a:endParaRPr/>
          </a:p>
        </p:txBody>
      </p:sp>
      <p:sp>
        <p:nvSpPr>
          <p:cNvPr id="2433" name="Google Shape;2433;p44"/>
          <p:cNvSpPr txBox="1">
            <a:spLocks noGrp="1"/>
          </p:cNvSpPr>
          <p:nvPr>
            <p:ph type="subTitle" idx="4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Anti-Wechselstrom-Kampagne [5]</a:t>
            </a:r>
            <a:endParaRPr/>
          </a:p>
        </p:txBody>
      </p:sp>
      <p:sp>
        <p:nvSpPr>
          <p:cNvPr id="2434" name="Google Shape;2434;p44"/>
          <p:cNvSpPr txBox="1">
            <a:spLocks noGrp="1"/>
          </p:cNvSpPr>
          <p:nvPr>
            <p:ph type="subTitle" idx="5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Thomas A. Edison</a:t>
            </a:r>
            <a:endParaRPr/>
          </a:p>
        </p:txBody>
      </p:sp>
      <p:sp>
        <p:nvSpPr>
          <p:cNvPr id="2435" name="Google Shape;2435;p44"/>
          <p:cNvSpPr txBox="1">
            <a:spLocks noGrp="1"/>
          </p:cNvSpPr>
          <p:nvPr>
            <p:ph type="subTitle" idx="6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Nikola Tesla</a:t>
            </a:r>
            <a:endParaRPr/>
          </a:p>
        </p:txBody>
      </p:sp>
      <p:sp>
        <p:nvSpPr>
          <p:cNvPr id="2436" name="Google Shape;2436;p44"/>
          <p:cNvSpPr txBox="1">
            <a:spLocks noGrp="1"/>
          </p:cNvSpPr>
          <p:nvPr>
            <p:ph type="subTitle" idx="7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G. Westinghouse</a:t>
            </a:r>
            <a:endParaRPr/>
          </a:p>
        </p:txBody>
      </p:sp>
      <p:sp>
        <p:nvSpPr>
          <p:cNvPr id="2437" name="Google Shape;2437;p44"/>
          <p:cNvSpPr txBox="1">
            <a:spLocks noGrp="1"/>
          </p:cNvSpPr>
          <p:nvPr>
            <p:ph type="subTitle" idx="8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Harold P. Brown</a:t>
            </a:r>
            <a:endParaRPr/>
          </a:p>
        </p:txBody>
      </p:sp>
      <p:grpSp>
        <p:nvGrpSpPr>
          <p:cNvPr id="2438" name="Google Shape;2438;p44"/>
          <p:cNvGrpSpPr/>
          <p:nvPr/>
        </p:nvGrpSpPr>
        <p:grpSpPr>
          <a:xfrm>
            <a:off x="1213327" y="1703913"/>
            <a:ext cx="744564" cy="624959"/>
            <a:chOff x="2361225" y="3521900"/>
            <a:chExt cx="4421400" cy="589250"/>
          </a:xfrm>
        </p:grpSpPr>
        <p:cxnSp>
          <p:nvCxnSpPr>
            <p:cNvPr id="2439" name="Google Shape;2439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0" name="Google Shape;2440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1" name="Google Shape;2441;p44"/>
          <p:cNvGrpSpPr/>
          <p:nvPr/>
        </p:nvGrpSpPr>
        <p:grpSpPr>
          <a:xfrm>
            <a:off x="1213327" y="3144763"/>
            <a:ext cx="744564" cy="624959"/>
            <a:chOff x="2361225" y="3521900"/>
            <a:chExt cx="4421400" cy="589250"/>
          </a:xfrm>
        </p:grpSpPr>
        <p:cxnSp>
          <p:nvCxnSpPr>
            <p:cNvPr id="2442" name="Google Shape;2442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3" name="Google Shape;2443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4" name="Google Shape;2444;p44"/>
          <p:cNvGrpSpPr/>
          <p:nvPr/>
        </p:nvGrpSpPr>
        <p:grpSpPr>
          <a:xfrm>
            <a:off x="7186102" y="1703913"/>
            <a:ext cx="744564" cy="624959"/>
            <a:chOff x="2361225" y="3521900"/>
            <a:chExt cx="4421400" cy="589250"/>
          </a:xfrm>
        </p:grpSpPr>
        <p:cxnSp>
          <p:nvCxnSpPr>
            <p:cNvPr id="2445" name="Google Shape;2445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6" name="Google Shape;2446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7" name="Google Shape;2447;p44"/>
          <p:cNvGrpSpPr/>
          <p:nvPr/>
        </p:nvGrpSpPr>
        <p:grpSpPr>
          <a:xfrm>
            <a:off x="7186102" y="3144763"/>
            <a:ext cx="744564" cy="624959"/>
            <a:chOff x="2361225" y="3521900"/>
            <a:chExt cx="4421400" cy="589250"/>
          </a:xfrm>
        </p:grpSpPr>
        <p:cxnSp>
          <p:nvCxnSpPr>
            <p:cNvPr id="2448" name="Google Shape;2448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9" name="Google Shape;2449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50" name="Google Shape;2450;p44"/>
          <p:cNvGrpSpPr/>
          <p:nvPr/>
        </p:nvGrpSpPr>
        <p:grpSpPr>
          <a:xfrm>
            <a:off x="1409496" y="1842125"/>
            <a:ext cx="352230" cy="348542"/>
            <a:chOff x="1049375" y="2318350"/>
            <a:chExt cx="298525" cy="295400"/>
          </a:xfrm>
        </p:grpSpPr>
        <p:sp>
          <p:nvSpPr>
            <p:cNvPr id="2451" name="Google Shape;2451;p44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4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4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4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5" name="Google Shape;2455;p44"/>
          <p:cNvGrpSpPr/>
          <p:nvPr/>
        </p:nvGrpSpPr>
        <p:grpSpPr>
          <a:xfrm>
            <a:off x="7383207" y="1842286"/>
            <a:ext cx="350371" cy="348247"/>
            <a:chOff x="5045775" y="1946400"/>
            <a:chExt cx="296950" cy="295150"/>
          </a:xfrm>
        </p:grpSpPr>
        <p:sp>
          <p:nvSpPr>
            <p:cNvPr id="2456" name="Google Shape;2456;p44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4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8" name="Google Shape;2458;p44"/>
          <p:cNvGrpSpPr/>
          <p:nvPr/>
        </p:nvGrpSpPr>
        <p:grpSpPr>
          <a:xfrm>
            <a:off x="7394344" y="3282533"/>
            <a:ext cx="328071" cy="349427"/>
            <a:chOff x="5421475" y="1945825"/>
            <a:chExt cx="278050" cy="296150"/>
          </a:xfrm>
        </p:grpSpPr>
        <p:sp>
          <p:nvSpPr>
            <p:cNvPr id="2459" name="Google Shape;2459;p44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4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4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4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4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4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4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4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7" name="Google Shape;2467;p44"/>
          <p:cNvGrpSpPr/>
          <p:nvPr/>
        </p:nvGrpSpPr>
        <p:grpSpPr>
          <a:xfrm>
            <a:off x="1410407" y="3324791"/>
            <a:ext cx="350401" cy="264888"/>
            <a:chOff x="3962775" y="1990700"/>
            <a:chExt cx="296975" cy="224500"/>
          </a:xfrm>
        </p:grpSpPr>
        <p:sp>
          <p:nvSpPr>
            <p:cNvPr id="2468" name="Google Shape;2468;p44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4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4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4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2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2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2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2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4" grpId="0" animBg="1"/>
      <p:bldP spid="2430" grpId="0" animBg="1"/>
      <p:bldP spid="2436" grpId="0" animBg="1"/>
      <p:bldP spid="2431" grpId="0" animBg="1"/>
      <p:bldP spid="2435" grpId="0" animBg="1"/>
      <p:bldP spid="2432" grpId="0" animBg="1"/>
      <p:bldP spid="2437" grpId="0" animBg="1"/>
      <p:bldP spid="24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p5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1882–1890: Wettbewerb und Propaganda</a:t>
            </a:r>
            <a:endParaRPr/>
          </a:p>
        </p:txBody>
      </p:sp>
      <p:sp>
        <p:nvSpPr>
          <p:cNvPr id="4359" name="Google Shape;4359;p58"/>
          <p:cNvSpPr txBox="1"/>
          <p:nvPr/>
        </p:nvSpPr>
        <p:spPr>
          <a:xfrm>
            <a:off x="4608981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«A Warning»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0" name="Google Shape;4360;p58"/>
          <p:cNvSpPr txBox="1"/>
          <p:nvPr/>
        </p:nvSpPr>
        <p:spPr>
          <a:xfrm>
            <a:off x="4608967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Brown tötet öffentlich Hunde [5]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1" name="Google Shape;4361;p58"/>
          <p:cNvSpPr txBox="1"/>
          <p:nvPr/>
        </p:nvSpPr>
        <p:spPr>
          <a:xfrm>
            <a:off x="74346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Pearl Street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2" name="Google Shape;4362;p58"/>
          <p:cNvSpPr txBox="1"/>
          <p:nvPr/>
        </p:nvSpPr>
        <p:spPr>
          <a:xfrm>
            <a:off x="743450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Edisons Gleichstrom für 400 Lampen [1]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3" name="Google Shape;4363;p58"/>
          <p:cNvSpPr txBox="1"/>
          <p:nvPr/>
        </p:nvSpPr>
        <p:spPr>
          <a:xfrm>
            <a:off x="654173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Elektrischer Stuhl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4" name="Google Shape;4364;p58"/>
          <p:cNvSpPr txBox="1"/>
          <p:nvPr/>
        </p:nvSpPr>
        <p:spPr>
          <a:xfrm>
            <a:off x="6541725" y="3559095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Kemmler-Hinrichtung als Debakel [6], [9]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5" name="Google Shape;4365;p58"/>
          <p:cNvSpPr txBox="1"/>
          <p:nvPr/>
        </p:nvSpPr>
        <p:spPr>
          <a:xfrm>
            <a:off x="2676224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Great Barrington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6" name="Google Shape;4366;p58"/>
          <p:cNvSpPr txBox="1"/>
          <p:nvPr/>
        </p:nvSpPr>
        <p:spPr>
          <a:xfrm>
            <a:off x="2676208" y="3559093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erstes Wechselstromnetz der USA [3]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7" name="Google Shape;4367;p58"/>
          <p:cNvSpPr txBox="1"/>
          <p:nvPr/>
        </p:nvSpPr>
        <p:spPr>
          <a:xfrm>
            <a:off x="4608981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1888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8" name="Google Shape;4368;p58"/>
          <p:cNvSpPr txBox="1"/>
          <p:nvPr/>
        </p:nvSpPr>
        <p:spPr>
          <a:xfrm>
            <a:off x="74346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1882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9" name="Google Shape;4369;p58"/>
          <p:cNvSpPr txBox="1"/>
          <p:nvPr/>
        </p:nvSpPr>
        <p:spPr>
          <a:xfrm>
            <a:off x="654173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1889/90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70" name="Google Shape;4370;p58"/>
          <p:cNvSpPr txBox="1"/>
          <p:nvPr/>
        </p:nvSpPr>
        <p:spPr>
          <a:xfrm>
            <a:off x="2676224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1886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4371" name="Google Shape;4371;p58"/>
          <p:cNvGrpSpPr/>
          <p:nvPr/>
        </p:nvGrpSpPr>
        <p:grpSpPr>
          <a:xfrm>
            <a:off x="1300564" y="2258783"/>
            <a:ext cx="744564" cy="624959"/>
            <a:chOff x="2361225" y="3521900"/>
            <a:chExt cx="4421400" cy="589250"/>
          </a:xfrm>
        </p:grpSpPr>
        <p:cxnSp>
          <p:nvCxnSpPr>
            <p:cNvPr id="4372" name="Google Shape;4372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3" name="Google Shape;4373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4" name="Google Shape;4374;p58"/>
          <p:cNvGrpSpPr/>
          <p:nvPr/>
        </p:nvGrpSpPr>
        <p:grpSpPr>
          <a:xfrm>
            <a:off x="3233339" y="2258783"/>
            <a:ext cx="744564" cy="624959"/>
            <a:chOff x="2361225" y="3521900"/>
            <a:chExt cx="4421400" cy="589250"/>
          </a:xfrm>
        </p:grpSpPr>
        <p:cxnSp>
          <p:nvCxnSpPr>
            <p:cNvPr id="4375" name="Google Shape;4375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6" name="Google Shape;4376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7" name="Google Shape;4377;p58"/>
          <p:cNvGrpSpPr/>
          <p:nvPr/>
        </p:nvGrpSpPr>
        <p:grpSpPr>
          <a:xfrm>
            <a:off x="5166114" y="2258783"/>
            <a:ext cx="744564" cy="624959"/>
            <a:chOff x="2361225" y="3521900"/>
            <a:chExt cx="4421400" cy="589250"/>
          </a:xfrm>
        </p:grpSpPr>
        <p:cxnSp>
          <p:nvCxnSpPr>
            <p:cNvPr id="4378" name="Google Shape;4378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9" name="Google Shape;4379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0" name="Google Shape;4380;p58"/>
          <p:cNvGrpSpPr/>
          <p:nvPr/>
        </p:nvGrpSpPr>
        <p:grpSpPr>
          <a:xfrm>
            <a:off x="7098889" y="2258783"/>
            <a:ext cx="744564" cy="624959"/>
            <a:chOff x="2361225" y="3521900"/>
            <a:chExt cx="4421400" cy="589250"/>
          </a:xfrm>
        </p:grpSpPr>
        <p:cxnSp>
          <p:nvCxnSpPr>
            <p:cNvPr id="4381" name="Google Shape;4381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2" name="Google Shape;4382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83" name="Google Shape;4383;p58"/>
          <p:cNvCxnSpPr/>
          <p:nvPr/>
        </p:nvCxnSpPr>
        <p:spPr>
          <a:xfrm>
            <a:off x="232798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4" name="Google Shape;4384;p58"/>
          <p:cNvCxnSpPr/>
          <p:nvPr/>
        </p:nvCxnSpPr>
        <p:spPr>
          <a:xfrm>
            <a:off x="4260750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5" name="Google Shape;4385;p58"/>
          <p:cNvCxnSpPr/>
          <p:nvPr/>
        </p:nvCxnSpPr>
        <p:spPr>
          <a:xfrm>
            <a:off x="619353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386" name="Google Shape;4386;p58"/>
          <p:cNvGrpSpPr/>
          <p:nvPr/>
        </p:nvGrpSpPr>
        <p:grpSpPr>
          <a:xfrm>
            <a:off x="3429508" y="2396875"/>
            <a:ext cx="352230" cy="348542"/>
            <a:chOff x="1049375" y="2318350"/>
            <a:chExt cx="298525" cy="295400"/>
          </a:xfrm>
        </p:grpSpPr>
        <p:sp>
          <p:nvSpPr>
            <p:cNvPr id="4387" name="Google Shape;4387;p58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58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58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58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1" name="Google Shape;4391;p58"/>
          <p:cNvGrpSpPr/>
          <p:nvPr/>
        </p:nvGrpSpPr>
        <p:grpSpPr>
          <a:xfrm>
            <a:off x="7307182" y="2397023"/>
            <a:ext cx="350371" cy="348247"/>
            <a:chOff x="5045775" y="1946400"/>
            <a:chExt cx="296950" cy="295150"/>
          </a:xfrm>
        </p:grpSpPr>
        <p:sp>
          <p:nvSpPr>
            <p:cNvPr id="4392" name="Google Shape;4392;p58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58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4" name="Google Shape;4394;p58"/>
          <p:cNvGrpSpPr/>
          <p:nvPr/>
        </p:nvGrpSpPr>
        <p:grpSpPr>
          <a:xfrm>
            <a:off x="5374356" y="2396433"/>
            <a:ext cx="328071" cy="349427"/>
            <a:chOff x="5421475" y="1945825"/>
            <a:chExt cx="278050" cy="296150"/>
          </a:xfrm>
        </p:grpSpPr>
        <p:sp>
          <p:nvSpPr>
            <p:cNvPr id="4395" name="Google Shape;4395;p58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58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58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58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58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58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58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58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3" name="Google Shape;4403;p58"/>
          <p:cNvGrpSpPr/>
          <p:nvPr/>
        </p:nvGrpSpPr>
        <p:grpSpPr>
          <a:xfrm>
            <a:off x="1498594" y="2438703"/>
            <a:ext cx="350401" cy="264888"/>
            <a:chOff x="3962775" y="1990700"/>
            <a:chExt cx="296975" cy="224500"/>
          </a:xfrm>
        </p:grpSpPr>
        <p:sp>
          <p:nvSpPr>
            <p:cNvPr id="4404" name="Google Shape;4404;p58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58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58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58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4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4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3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4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4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4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5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4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4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4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4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4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4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8" grpId="0" animBg="1"/>
      <p:bldP spid="4361" grpId="0" animBg="1"/>
      <p:bldP spid="4362" grpId="0" animBg="1"/>
      <p:bldP spid="4370" grpId="0" animBg="1"/>
      <p:bldP spid="4365" grpId="0" animBg="1"/>
      <p:bldP spid="4366" grpId="0" animBg="1"/>
      <p:bldP spid="4367" grpId="0" animBg="1"/>
      <p:bldP spid="4359" grpId="0" animBg="1"/>
      <p:bldP spid="4360" grpId="0" animBg="1"/>
      <p:bldP spid="4369" grpId="0" animBg="1"/>
      <p:bldP spid="4363" grpId="0" animBg="1"/>
      <p:bldP spid="43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p5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1891–1896: Markt und Kapital entscheiden</a:t>
            </a:r>
            <a:endParaRPr/>
          </a:p>
        </p:txBody>
      </p:sp>
      <p:sp>
        <p:nvSpPr>
          <p:cNvPr id="4359" name="Google Shape;4359;p58"/>
          <p:cNvSpPr txBox="1"/>
          <p:nvPr/>
        </p:nvSpPr>
        <p:spPr>
          <a:xfrm>
            <a:off x="4608981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Chicago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0" name="Google Shape;4360;p58"/>
          <p:cNvSpPr txBox="1"/>
          <p:nvPr/>
        </p:nvSpPr>
        <p:spPr>
          <a:xfrm>
            <a:off x="4608967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Westinghouse beleuchtet die Weltausstellung [3]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1" name="Google Shape;4361;p58"/>
          <p:cNvSpPr txBox="1"/>
          <p:nvPr/>
        </p:nvSpPr>
        <p:spPr>
          <a:xfrm>
            <a:off x="74346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Lizenzverzicht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2" name="Google Shape;4362;p58"/>
          <p:cNvSpPr txBox="1"/>
          <p:nvPr/>
        </p:nvSpPr>
        <p:spPr>
          <a:xfrm>
            <a:off x="743450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Tesla verzichtet auf Gebühren [4]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3" name="Google Shape;4363;p58"/>
          <p:cNvSpPr txBox="1"/>
          <p:nvPr/>
        </p:nvSpPr>
        <p:spPr>
          <a:xfrm>
            <a:off x="654173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Niagara–Buffalo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4" name="Google Shape;4364;p58"/>
          <p:cNvSpPr txBox="1"/>
          <p:nvPr/>
        </p:nvSpPr>
        <p:spPr>
          <a:xfrm>
            <a:off x="6541725" y="3559095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Fernstrom und Patentabkommen [3], [4]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5" name="Google Shape;4365;p58"/>
          <p:cNvSpPr txBox="1"/>
          <p:nvPr/>
        </p:nvSpPr>
        <p:spPr>
          <a:xfrm>
            <a:off x="2676224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 Electric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6" name="Google Shape;4366;p58"/>
          <p:cNvSpPr txBox="1"/>
          <p:nvPr/>
        </p:nvSpPr>
        <p:spPr>
          <a:xfrm>
            <a:off x="2676208" y="3559093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Fusion unter J. P. Morgan [2]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7" name="Google Shape;4367;p58"/>
          <p:cNvSpPr txBox="1"/>
          <p:nvPr/>
        </p:nvSpPr>
        <p:spPr>
          <a:xfrm>
            <a:off x="4608981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1893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8" name="Google Shape;4368;p58"/>
          <p:cNvSpPr txBox="1"/>
          <p:nvPr/>
        </p:nvSpPr>
        <p:spPr>
          <a:xfrm>
            <a:off x="74346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1891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9" name="Google Shape;4369;p58"/>
          <p:cNvSpPr txBox="1"/>
          <p:nvPr/>
        </p:nvSpPr>
        <p:spPr>
          <a:xfrm>
            <a:off x="654173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1896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70" name="Google Shape;4370;p58"/>
          <p:cNvSpPr txBox="1"/>
          <p:nvPr/>
        </p:nvSpPr>
        <p:spPr>
          <a:xfrm>
            <a:off x="2676224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1892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4371" name="Google Shape;4371;p58"/>
          <p:cNvGrpSpPr/>
          <p:nvPr/>
        </p:nvGrpSpPr>
        <p:grpSpPr>
          <a:xfrm>
            <a:off x="1300564" y="2258783"/>
            <a:ext cx="744564" cy="624959"/>
            <a:chOff x="2361225" y="3521900"/>
            <a:chExt cx="4421400" cy="589250"/>
          </a:xfrm>
        </p:grpSpPr>
        <p:cxnSp>
          <p:nvCxnSpPr>
            <p:cNvPr id="4372" name="Google Shape;4372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3" name="Google Shape;4373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4" name="Google Shape;4374;p58"/>
          <p:cNvGrpSpPr/>
          <p:nvPr/>
        </p:nvGrpSpPr>
        <p:grpSpPr>
          <a:xfrm>
            <a:off x="3233339" y="2258783"/>
            <a:ext cx="744564" cy="624959"/>
            <a:chOff x="2361225" y="3521900"/>
            <a:chExt cx="4421400" cy="589250"/>
          </a:xfrm>
        </p:grpSpPr>
        <p:cxnSp>
          <p:nvCxnSpPr>
            <p:cNvPr id="4375" name="Google Shape;4375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6" name="Google Shape;4376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7" name="Google Shape;4377;p58"/>
          <p:cNvGrpSpPr/>
          <p:nvPr/>
        </p:nvGrpSpPr>
        <p:grpSpPr>
          <a:xfrm>
            <a:off x="5166114" y="2258783"/>
            <a:ext cx="744564" cy="624959"/>
            <a:chOff x="2361225" y="3521900"/>
            <a:chExt cx="4421400" cy="589250"/>
          </a:xfrm>
        </p:grpSpPr>
        <p:cxnSp>
          <p:nvCxnSpPr>
            <p:cNvPr id="4378" name="Google Shape;4378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9" name="Google Shape;4379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0" name="Google Shape;4380;p58"/>
          <p:cNvGrpSpPr/>
          <p:nvPr/>
        </p:nvGrpSpPr>
        <p:grpSpPr>
          <a:xfrm>
            <a:off x="7098889" y="2258783"/>
            <a:ext cx="744564" cy="624959"/>
            <a:chOff x="2361225" y="3521900"/>
            <a:chExt cx="4421400" cy="589250"/>
          </a:xfrm>
        </p:grpSpPr>
        <p:cxnSp>
          <p:nvCxnSpPr>
            <p:cNvPr id="4381" name="Google Shape;4381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2" name="Google Shape;4382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83" name="Google Shape;4383;p58"/>
          <p:cNvCxnSpPr/>
          <p:nvPr/>
        </p:nvCxnSpPr>
        <p:spPr>
          <a:xfrm>
            <a:off x="232798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4" name="Google Shape;4384;p58"/>
          <p:cNvCxnSpPr/>
          <p:nvPr/>
        </p:nvCxnSpPr>
        <p:spPr>
          <a:xfrm>
            <a:off x="4260750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5" name="Google Shape;4385;p58"/>
          <p:cNvCxnSpPr/>
          <p:nvPr/>
        </p:nvCxnSpPr>
        <p:spPr>
          <a:xfrm>
            <a:off x="619353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386" name="Google Shape;4386;p58"/>
          <p:cNvGrpSpPr/>
          <p:nvPr/>
        </p:nvGrpSpPr>
        <p:grpSpPr>
          <a:xfrm>
            <a:off x="3429508" y="2396875"/>
            <a:ext cx="352230" cy="348542"/>
            <a:chOff x="1049375" y="2318350"/>
            <a:chExt cx="298525" cy="295400"/>
          </a:xfrm>
        </p:grpSpPr>
        <p:sp>
          <p:nvSpPr>
            <p:cNvPr id="4387" name="Google Shape;4387;p58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58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58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58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1" name="Google Shape;4391;p58"/>
          <p:cNvGrpSpPr/>
          <p:nvPr/>
        </p:nvGrpSpPr>
        <p:grpSpPr>
          <a:xfrm>
            <a:off x="7307182" y="2397023"/>
            <a:ext cx="350371" cy="348247"/>
            <a:chOff x="5045775" y="1946400"/>
            <a:chExt cx="296950" cy="295150"/>
          </a:xfrm>
        </p:grpSpPr>
        <p:sp>
          <p:nvSpPr>
            <p:cNvPr id="4392" name="Google Shape;4392;p58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58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4" name="Google Shape;4394;p58"/>
          <p:cNvGrpSpPr/>
          <p:nvPr/>
        </p:nvGrpSpPr>
        <p:grpSpPr>
          <a:xfrm>
            <a:off x="5374356" y="2396433"/>
            <a:ext cx="328071" cy="349427"/>
            <a:chOff x="5421475" y="1945825"/>
            <a:chExt cx="278050" cy="296150"/>
          </a:xfrm>
        </p:grpSpPr>
        <p:sp>
          <p:nvSpPr>
            <p:cNvPr id="4395" name="Google Shape;4395;p58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58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58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58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58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58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58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58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3" name="Google Shape;4403;p58"/>
          <p:cNvGrpSpPr/>
          <p:nvPr/>
        </p:nvGrpSpPr>
        <p:grpSpPr>
          <a:xfrm>
            <a:off x="1498594" y="2438703"/>
            <a:ext cx="350401" cy="264888"/>
            <a:chOff x="3962775" y="1990700"/>
            <a:chExt cx="296975" cy="224500"/>
          </a:xfrm>
        </p:grpSpPr>
        <p:sp>
          <p:nvSpPr>
            <p:cNvPr id="4404" name="Google Shape;4404;p58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58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58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58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4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Kosten und Kapital schlugen Propaganda</a:t>
            </a:r>
            <a:endParaRPr/>
          </a:p>
        </p:txBody>
      </p:sp>
      <p:sp>
        <p:nvSpPr>
          <p:cNvPr id="2379" name="Google Shape;2379;p42"/>
          <p:cNvSpPr txBox="1">
            <a:spLocks noGrp="1"/>
          </p:cNvSpPr>
          <p:nvPr>
            <p:ph type="subTitle" idx="1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Wechselstromnetze waren billiger; neue Versorger und ab 1892 auch GE setzten darauf [2]</a:t>
            </a:r>
            <a:endParaRPr/>
          </a:p>
        </p:txBody>
      </p:sp>
      <p:sp>
        <p:nvSpPr>
          <p:cNvPr id="2380" name="Google Shape;2380;p42"/>
          <p:cNvSpPr txBox="1">
            <a:spLocks noGrp="1"/>
          </p:cNvSpPr>
          <p:nvPr>
            <p:ph type="subTitle" idx="2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Wechselstrom liess sich öffentlich nicht mit dem Tod verbinden [10]</a:t>
            </a:r>
            <a:endParaRPr/>
          </a:p>
        </p:txBody>
      </p:sp>
      <p:sp>
        <p:nvSpPr>
          <p:cNvPr id="2381" name="Google Shape;2381;p42"/>
          <p:cNvSpPr txBox="1">
            <a:spLocks noGrp="1"/>
          </p:cNvSpPr>
          <p:nvPr>
            <p:ph type="subTitle" idx="3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1891: Drehstrom über 175 km (MFO Oerlikon, AEG); Brown gründet BBC in Baden [11]</a:t>
            </a:r>
            <a:endParaRPr/>
          </a:p>
        </p:txBody>
      </p:sp>
      <p:sp>
        <p:nvSpPr>
          <p:cNvPr id="2382" name="Google Shape;2382;p42"/>
          <p:cNvSpPr txBox="1">
            <a:spLocks noGrp="1"/>
          </p:cNvSpPr>
          <p:nvPr>
            <p:ph type="subTitle" idx="4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Kosten</a:t>
            </a:r>
            <a:endParaRPr/>
          </a:p>
        </p:txBody>
      </p:sp>
      <p:sp>
        <p:nvSpPr>
          <p:cNvPr id="2383" name="Google Shape;2383;p42"/>
          <p:cNvSpPr txBox="1">
            <a:spLocks noGrp="1"/>
          </p:cNvSpPr>
          <p:nvPr>
            <p:ph type="subTitle" idx="5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Propaganda scheitert</a:t>
            </a:r>
            <a:endParaRPr/>
          </a:p>
        </p:txBody>
      </p:sp>
      <p:sp>
        <p:nvSpPr>
          <p:cNvPr id="2384" name="Google Shape;2384;p42"/>
          <p:cNvSpPr txBox="1">
            <a:spLocks noGrp="1"/>
          </p:cNvSpPr>
          <p:nvPr>
            <p:ph type="subTitle" idx="6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Schweizer Bezug</a:t>
            </a:r>
            <a:endParaRPr/>
          </a:p>
        </p:txBody>
      </p:sp>
      <p:grpSp>
        <p:nvGrpSpPr>
          <p:cNvPr id="2385" name="Google Shape;2385;p42"/>
          <p:cNvGrpSpPr/>
          <p:nvPr/>
        </p:nvGrpSpPr>
        <p:grpSpPr>
          <a:xfrm>
            <a:off x="1652989" y="1824750"/>
            <a:ext cx="744564" cy="624959"/>
            <a:chOff x="2361225" y="3521900"/>
            <a:chExt cx="4421400" cy="589250"/>
          </a:xfrm>
        </p:grpSpPr>
        <p:cxnSp>
          <p:nvCxnSpPr>
            <p:cNvPr id="2386" name="Google Shape;2386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7" name="Google Shape;2387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88" name="Google Shape;2388;p42"/>
          <p:cNvGrpSpPr/>
          <p:nvPr/>
        </p:nvGrpSpPr>
        <p:grpSpPr>
          <a:xfrm>
            <a:off x="4199714" y="1824750"/>
            <a:ext cx="744564" cy="624959"/>
            <a:chOff x="2361225" y="3521900"/>
            <a:chExt cx="4421400" cy="589250"/>
          </a:xfrm>
        </p:grpSpPr>
        <p:cxnSp>
          <p:nvCxnSpPr>
            <p:cNvPr id="2389" name="Google Shape;2389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0" name="Google Shape;2390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1" name="Google Shape;2391;p42"/>
          <p:cNvGrpSpPr/>
          <p:nvPr/>
        </p:nvGrpSpPr>
        <p:grpSpPr>
          <a:xfrm>
            <a:off x="6746439" y="1824750"/>
            <a:ext cx="744564" cy="624959"/>
            <a:chOff x="2361225" y="3521900"/>
            <a:chExt cx="4421400" cy="589250"/>
          </a:xfrm>
        </p:grpSpPr>
        <p:cxnSp>
          <p:nvCxnSpPr>
            <p:cNvPr id="2392" name="Google Shape;2392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3" name="Google Shape;2393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4" name="Google Shape;2394;p42"/>
          <p:cNvGrpSpPr/>
          <p:nvPr/>
        </p:nvGrpSpPr>
        <p:grpSpPr>
          <a:xfrm>
            <a:off x="1852843" y="1984131"/>
            <a:ext cx="340186" cy="318904"/>
            <a:chOff x="3865000" y="847675"/>
            <a:chExt cx="483150" cy="452925"/>
          </a:xfrm>
        </p:grpSpPr>
        <p:sp>
          <p:nvSpPr>
            <p:cNvPr id="2395" name="Google Shape;2395;p42"/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6" name="Google Shape;2396;p42"/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7" name="Google Shape;2397;p42"/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8" name="Google Shape;2398;p42"/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99" name="Google Shape;2399;p42"/>
          <p:cNvSpPr/>
          <p:nvPr/>
        </p:nvSpPr>
        <p:spPr>
          <a:xfrm>
            <a:off x="4401877" y="1973492"/>
            <a:ext cx="340239" cy="340168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400" name="Google Shape;2400;p42"/>
          <p:cNvGrpSpPr/>
          <p:nvPr/>
        </p:nvGrpSpPr>
        <p:grpSpPr>
          <a:xfrm>
            <a:off x="6950973" y="2050591"/>
            <a:ext cx="335504" cy="185953"/>
            <a:chOff x="896050" y="2725450"/>
            <a:chExt cx="476500" cy="264100"/>
          </a:xfrm>
        </p:grpSpPr>
        <p:sp>
          <p:nvSpPr>
            <p:cNvPr id="2401" name="Google Shape;2401;p42"/>
            <p:cNvSpPr/>
            <p:nvPr/>
          </p:nvSpPr>
          <p:spPr>
            <a:xfrm>
              <a:off x="896050" y="2725450"/>
              <a:ext cx="476500" cy="264100"/>
            </a:xfrm>
            <a:custGeom>
              <a:avLst/>
              <a:gdLst/>
              <a:ahLst/>
              <a:cxnLst/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2" name="Google Shape;2402;p42"/>
            <p:cNvSpPr/>
            <p:nvPr/>
          </p:nvSpPr>
          <p:spPr>
            <a:xfrm>
              <a:off x="951625" y="2774675"/>
              <a:ext cx="365450" cy="165650"/>
            </a:xfrm>
            <a:custGeom>
              <a:avLst/>
              <a:gdLst/>
              <a:ahLst/>
              <a:cxnLst/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3" name="Google Shape;2403;p42"/>
            <p:cNvSpPr/>
            <p:nvPr/>
          </p:nvSpPr>
          <p:spPr>
            <a:xfrm>
              <a:off x="1088625" y="2815075"/>
              <a:ext cx="88200" cy="84850"/>
            </a:xfrm>
            <a:custGeom>
              <a:avLst/>
              <a:gdLst/>
              <a:ahLst/>
              <a:cxnLst/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2" grpId="0" animBg="1"/>
      <p:bldP spid="2379" grpId="0" animBg="1"/>
      <p:bldP spid="2383" grpId="0" animBg="1"/>
      <p:bldP spid="2380" grpId="0" animBg="1"/>
      <p:bldP spid="2384" grpId="0" animBg="1"/>
      <p:bldP spid="23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6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 USA überholen Grossbritannien</a:t>
            </a:r>
            <a:endParaRPr/>
          </a:p>
        </p:txBody>
      </p:sp>
      <p:sp>
        <p:nvSpPr>
          <p:cNvPr id="4457" name="Google Shape;4457;p62"/>
          <p:cNvSpPr txBox="1"/>
          <p:nvPr/>
        </p:nvSpPr>
        <p:spPr>
          <a:xfrm>
            <a:off x="981900" y="4270575"/>
            <a:ext cx="7180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Anteil an der Weltindustrieproduktion in %, Stichjahre (Zeitachse nicht massstäblich). Daten: Bairoch [18]</a:t>
            </a:r>
            <a:endParaRPr sz="1000" b="1" u="sng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58" name="Google Shape;4458;p62"/>
          <p:cNvSpPr txBox="1">
            <a:spLocks noGrp="1"/>
          </p:cNvSpPr>
          <p:nvPr>
            <p:ph type="title" idx="4294967295"/>
          </p:nvPr>
        </p:nvSpPr>
        <p:spPr>
          <a:xfrm>
            <a:off x="6206075" y="1569000"/>
            <a:ext cx="167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USA</a:t>
            </a:r>
            <a:endParaRPr sz="1700"/>
          </a:p>
        </p:txBody>
      </p:sp>
      <p:sp>
        <p:nvSpPr>
          <p:cNvPr id="4459" name="Google Shape;4459;p62"/>
          <p:cNvSpPr txBox="1">
            <a:spLocks noGrp="1"/>
          </p:cNvSpPr>
          <p:nvPr>
            <p:ph type="subTitle" idx="4294967295"/>
          </p:nvPr>
        </p:nvSpPr>
        <p:spPr>
          <a:xfrm>
            <a:off x="6206075" y="2096700"/>
            <a:ext cx="167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1913: 32 % der Weltindustrie</a:t>
            </a:r>
            <a:endParaRPr/>
          </a:p>
        </p:txBody>
      </p:sp>
      <p:sp>
        <p:nvSpPr>
          <p:cNvPr id="4460" name="Google Shape;4460;p62"/>
          <p:cNvSpPr txBox="1">
            <a:spLocks noGrp="1"/>
          </p:cNvSpPr>
          <p:nvPr>
            <p:ph type="title" idx="4294967295"/>
          </p:nvPr>
        </p:nvSpPr>
        <p:spPr>
          <a:xfrm>
            <a:off x="6206075" y="2876099"/>
            <a:ext cx="167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Grossbritannien</a:t>
            </a:r>
            <a:endParaRPr sz="1700"/>
          </a:p>
        </p:txBody>
      </p:sp>
      <p:sp>
        <p:nvSpPr>
          <p:cNvPr id="4461" name="Google Shape;4461;p62"/>
          <p:cNvSpPr txBox="1">
            <a:spLocks noGrp="1"/>
          </p:cNvSpPr>
          <p:nvPr>
            <p:ph type="subTitle" idx="4294967295"/>
          </p:nvPr>
        </p:nvSpPr>
        <p:spPr>
          <a:xfrm>
            <a:off x="6206075" y="3403788"/>
            <a:ext cx="167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1880: 22,9 %, 1913: 13,6 %</a:t>
            </a:r>
            <a:endParaRPr/>
          </a:p>
        </p:txBody>
      </p:sp>
      <p:sp>
        <p:nvSpPr>
          <p:cNvPr id="4462" name="Google Shape;4462;p62"/>
          <p:cNvSpPr/>
          <p:nvPr/>
        </p:nvSpPr>
        <p:spPr>
          <a:xfrm>
            <a:off x="8007683" y="1776427"/>
            <a:ext cx="185700" cy="185700"/>
          </a:xfrm>
          <a:prstGeom prst="rect">
            <a:avLst/>
          </a:prstGeom>
          <a:solidFill>
            <a:srgbClr val="0A1C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62"/>
          <p:cNvSpPr/>
          <p:nvPr/>
        </p:nvSpPr>
        <p:spPr>
          <a:xfrm>
            <a:off x="8007683" y="3081993"/>
            <a:ext cx="185700" cy="185700"/>
          </a:xfrm>
          <a:prstGeom prst="rect">
            <a:avLst/>
          </a:prstGeom>
          <a:solidFill>
            <a:srgbClr val="4E5B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64" name="Google Shape;4464;p62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600" y="1322524"/>
            <a:ext cx="5115452" cy="279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2000"/>
                                        <p:tgtEl>
                                          <p:spTgt spid="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8" grpId="0" animBg="1"/>
      <p:bldP spid="4459" grpId="0" animBg="1"/>
      <p:bldP spid="4462" grpId="0" animBg="1"/>
      <p:bldP spid="4460" grpId="0" animBg="1"/>
      <p:bldP spid="4461" grpId="0" animBg="1"/>
      <p:bldP spid="44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52"/>
          <p:cNvSpPr txBox="1">
            <a:spLocks noGrp="1"/>
          </p:cNvSpPr>
          <p:nvPr>
            <p:ph type="subTitle" idx="1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Elektromotoren an der Antriebsleistung der US-Industrie, 1899 → 1929 [19]</a:t>
            </a:r>
            <a:endParaRPr/>
          </a:p>
        </p:txBody>
      </p:sp>
      <p:sp>
        <p:nvSpPr>
          <p:cNvPr id="3953" name="Google Shape;3953;p52"/>
          <p:cNvSpPr txBox="1">
            <a:spLocks noGrp="1"/>
          </p:cNvSpPr>
          <p:nvPr>
            <p:ph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5 % → 78 %</a:t>
            </a:r>
            <a:endParaRPr/>
          </a:p>
        </p:txBody>
      </p:sp>
      <p:sp>
        <p:nvSpPr>
          <p:cNvPr id="3954" name="Google Shape;3954;p52"/>
          <p:cNvSpPr txBox="1">
            <a:spLocks noGrp="1"/>
          </p:cNvSpPr>
          <p:nvPr>
            <p:ph type="title" idx="2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1,3 % → 3,1 %</a:t>
            </a:r>
            <a:endParaRPr/>
          </a:p>
        </p:txBody>
      </p:sp>
      <p:sp>
        <p:nvSpPr>
          <p:cNvPr id="3955" name="Google Shape;3955;p52"/>
          <p:cNvSpPr txBox="1">
            <a:spLocks noGrp="1"/>
          </p:cNvSpPr>
          <p:nvPr>
            <p:ph type="subTitle" idx="3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Produktivitätswachstum pro Jahr, vor → nach 1919 [20]</a:t>
            </a:r>
            <a:endParaRPr/>
          </a:p>
        </p:txBody>
      </p:sp>
      <p:sp>
        <p:nvSpPr>
          <p:cNvPr id="3956" name="Google Shape;3956;p52"/>
          <p:cNvSpPr txBox="1">
            <a:spLocks noGrp="1"/>
          </p:cNvSpPr>
          <p:nvPr>
            <p:ph type="title" idx="4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1896</a:t>
            </a:r>
            <a:endParaRPr/>
          </a:p>
        </p:txBody>
      </p:sp>
      <p:sp>
        <p:nvSpPr>
          <p:cNvPr id="3957" name="Google Shape;3957;p52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 unter den zwölf ersten Werten des Dow Jones</a:t>
            </a:r>
            <a:endParaRPr/>
          </a:p>
        </p:txBody>
      </p:sp>
      <p:grpSp>
        <p:nvGrpSpPr>
          <p:cNvPr id="3958" name="Google Shape;3958;p52"/>
          <p:cNvGrpSpPr/>
          <p:nvPr/>
        </p:nvGrpSpPr>
        <p:grpSpPr>
          <a:xfrm>
            <a:off x="565056" y="519563"/>
            <a:ext cx="8012737" cy="4104778"/>
            <a:chOff x="565056" y="519563"/>
            <a:chExt cx="8012737" cy="4104778"/>
          </a:xfrm>
        </p:grpSpPr>
        <p:sp>
          <p:nvSpPr>
            <p:cNvPr id="3959" name="Google Shape;3959;p52"/>
            <p:cNvSpPr/>
            <p:nvPr/>
          </p:nvSpPr>
          <p:spPr>
            <a:xfrm>
              <a:off x="881261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2"/>
            <p:cNvSpPr/>
            <p:nvPr/>
          </p:nvSpPr>
          <p:spPr>
            <a:xfrm>
              <a:off x="887080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2"/>
            <p:cNvSpPr/>
            <p:nvPr/>
          </p:nvSpPr>
          <p:spPr>
            <a:xfrm>
              <a:off x="954772" y="700790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52"/>
            <p:cNvSpPr/>
            <p:nvPr/>
          </p:nvSpPr>
          <p:spPr>
            <a:xfrm>
              <a:off x="1012317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52"/>
            <p:cNvSpPr/>
            <p:nvPr/>
          </p:nvSpPr>
          <p:spPr>
            <a:xfrm>
              <a:off x="772736" y="567399"/>
              <a:ext cx="257508" cy="129532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2"/>
            <p:cNvSpPr/>
            <p:nvPr/>
          </p:nvSpPr>
          <p:spPr>
            <a:xfrm>
              <a:off x="1096722" y="573623"/>
              <a:ext cx="110485" cy="99592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2"/>
            <p:cNvSpPr/>
            <p:nvPr/>
          </p:nvSpPr>
          <p:spPr>
            <a:xfrm>
              <a:off x="1234781" y="606271"/>
              <a:ext cx="41642" cy="5449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2"/>
            <p:cNvSpPr/>
            <p:nvPr/>
          </p:nvSpPr>
          <p:spPr>
            <a:xfrm>
              <a:off x="748616" y="63116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2"/>
            <p:cNvSpPr/>
            <p:nvPr/>
          </p:nvSpPr>
          <p:spPr>
            <a:xfrm>
              <a:off x="843540" y="609788"/>
              <a:ext cx="96853" cy="140829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52"/>
            <p:cNvSpPr/>
            <p:nvPr/>
          </p:nvSpPr>
          <p:spPr>
            <a:xfrm>
              <a:off x="822906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2"/>
            <p:cNvSpPr/>
            <p:nvPr/>
          </p:nvSpPr>
          <p:spPr>
            <a:xfrm>
              <a:off x="883595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2"/>
            <p:cNvSpPr/>
            <p:nvPr/>
          </p:nvSpPr>
          <p:spPr>
            <a:xfrm>
              <a:off x="1048108" y="720241"/>
              <a:ext cx="12076" cy="859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2"/>
            <p:cNvSpPr/>
            <p:nvPr/>
          </p:nvSpPr>
          <p:spPr>
            <a:xfrm>
              <a:off x="871924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2"/>
            <p:cNvSpPr/>
            <p:nvPr/>
          </p:nvSpPr>
          <p:spPr>
            <a:xfrm>
              <a:off x="845470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2"/>
            <p:cNvSpPr/>
            <p:nvPr/>
          </p:nvSpPr>
          <p:spPr>
            <a:xfrm>
              <a:off x="790227" y="630017"/>
              <a:ext cx="91064" cy="28041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2"/>
            <p:cNvSpPr/>
            <p:nvPr/>
          </p:nvSpPr>
          <p:spPr>
            <a:xfrm>
              <a:off x="791410" y="637020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2"/>
            <p:cNvSpPr/>
            <p:nvPr/>
          </p:nvSpPr>
          <p:spPr>
            <a:xfrm>
              <a:off x="980821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2"/>
            <p:cNvSpPr/>
            <p:nvPr/>
          </p:nvSpPr>
          <p:spPr>
            <a:xfrm>
              <a:off x="974597" y="579848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2"/>
            <p:cNvSpPr/>
            <p:nvPr/>
          </p:nvSpPr>
          <p:spPr>
            <a:xfrm>
              <a:off x="1313739" y="653733"/>
              <a:ext cx="103482" cy="33488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2"/>
            <p:cNvSpPr/>
            <p:nvPr/>
          </p:nvSpPr>
          <p:spPr>
            <a:xfrm>
              <a:off x="1314143" y="659552"/>
              <a:ext cx="125237" cy="38561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2"/>
            <p:cNvSpPr/>
            <p:nvPr/>
          </p:nvSpPr>
          <p:spPr>
            <a:xfrm>
              <a:off x="565056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2"/>
            <p:cNvSpPr/>
            <p:nvPr/>
          </p:nvSpPr>
          <p:spPr>
            <a:xfrm>
              <a:off x="785963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2"/>
            <p:cNvSpPr/>
            <p:nvPr/>
          </p:nvSpPr>
          <p:spPr>
            <a:xfrm>
              <a:off x="759136" y="915099"/>
              <a:ext cx="96075" cy="91033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2"/>
            <p:cNvSpPr/>
            <p:nvPr/>
          </p:nvSpPr>
          <p:spPr>
            <a:xfrm>
              <a:off x="847399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2"/>
            <p:cNvSpPr/>
            <p:nvPr/>
          </p:nvSpPr>
          <p:spPr>
            <a:xfrm>
              <a:off x="625340" y="733064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2"/>
            <p:cNvSpPr/>
            <p:nvPr/>
          </p:nvSpPr>
          <p:spPr>
            <a:xfrm>
              <a:off x="631565" y="1057049"/>
              <a:ext cx="101522" cy="110111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2"/>
            <p:cNvSpPr/>
            <p:nvPr/>
          </p:nvSpPr>
          <p:spPr>
            <a:xfrm>
              <a:off x="664243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2"/>
            <p:cNvSpPr/>
            <p:nvPr/>
          </p:nvSpPr>
          <p:spPr>
            <a:xfrm>
              <a:off x="689110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2"/>
            <p:cNvSpPr/>
            <p:nvPr/>
          </p:nvSpPr>
          <p:spPr>
            <a:xfrm>
              <a:off x="668103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2"/>
            <p:cNvSpPr/>
            <p:nvPr/>
          </p:nvSpPr>
          <p:spPr>
            <a:xfrm>
              <a:off x="794118" y="782860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2"/>
            <p:cNvSpPr/>
            <p:nvPr/>
          </p:nvSpPr>
          <p:spPr>
            <a:xfrm>
              <a:off x="815125" y="843518"/>
              <a:ext cx="12480" cy="7438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2"/>
            <p:cNvSpPr/>
            <p:nvPr/>
          </p:nvSpPr>
          <p:spPr>
            <a:xfrm>
              <a:off x="778183" y="1008062"/>
              <a:ext cx="8963" cy="12449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2"/>
            <p:cNvSpPr/>
            <p:nvPr/>
          </p:nvSpPr>
          <p:spPr>
            <a:xfrm>
              <a:off x="616782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2"/>
            <p:cNvSpPr/>
            <p:nvPr/>
          </p:nvSpPr>
          <p:spPr>
            <a:xfrm>
              <a:off x="616782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2"/>
            <p:cNvSpPr/>
            <p:nvPr/>
          </p:nvSpPr>
          <p:spPr>
            <a:xfrm>
              <a:off x="688332" y="750586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52"/>
            <p:cNvSpPr/>
            <p:nvPr/>
          </p:nvSpPr>
          <p:spPr>
            <a:xfrm>
              <a:off x="695335" y="751737"/>
              <a:ext cx="29597" cy="87921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52"/>
            <p:cNvSpPr/>
            <p:nvPr/>
          </p:nvSpPr>
          <p:spPr>
            <a:xfrm>
              <a:off x="635455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52"/>
            <p:cNvSpPr/>
            <p:nvPr/>
          </p:nvSpPr>
          <p:spPr>
            <a:xfrm>
              <a:off x="635828" y="928700"/>
              <a:ext cx="69652" cy="26081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52"/>
            <p:cNvSpPr/>
            <p:nvPr/>
          </p:nvSpPr>
          <p:spPr>
            <a:xfrm>
              <a:off x="712079" y="1274066"/>
              <a:ext cx="33457" cy="103109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52"/>
            <p:cNvSpPr/>
            <p:nvPr/>
          </p:nvSpPr>
          <p:spPr>
            <a:xfrm>
              <a:off x="717899" y="1274066"/>
              <a:ext cx="38530" cy="125673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52"/>
            <p:cNvSpPr/>
            <p:nvPr/>
          </p:nvSpPr>
          <p:spPr>
            <a:xfrm>
              <a:off x="940362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52"/>
            <p:cNvSpPr/>
            <p:nvPr/>
          </p:nvSpPr>
          <p:spPr>
            <a:xfrm>
              <a:off x="948547" y="885159"/>
              <a:ext cx="73138" cy="18674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52"/>
            <p:cNvSpPr/>
            <p:nvPr/>
          </p:nvSpPr>
          <p:spPr>
            <a:xfrm>
              <a:off x="990158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52"/>
            <p:cNvSpPr/>
            <p:nvPr/>
          </p:nvSpPr>
          <p:spPr>
            <a:xfrm>
              <a:off x="939989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52"/>
            <p:cNvSpPr/>
            <p:nvPr/>
          </p:nvSpPr>
          <p:spPr>
            <a:xfrm>
              <a:off x="952811" y="918585"/>
              <a:ext cx="21412" cy="43198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52"/>
            <p:cNvSpPr/>
            <p:nvPr/>
          </p:nvSpPr>
          <p:spPr>
            <a:xfrm>
              <a:off x="966412" y="916655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52"/>
            <p:cNvSpPr/>
            <p:nvPr/>
          </p:nvSpPr>
          <p:spPr>
            <a:xfrm>
              <a:off x="975748" y="906136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52"/>
            <p:cNvSpPr/>
            <p:nvPr/>
          </p:nvSpPr>
          <p:spPr>
            <a:xfrm>
              <a:off x="978083" y="906541"/>
              <a:ext cx="21443" cy="859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52"/>
            <p:cNvSpPr/>
            <p:nvPr/>
          </p:nvSpPr>
          <p:spPr>
            <a:xfrm>
              <a:off x="988976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52"/>
            <p:cNvSpPr/>
            <p:nvPr/>
          </p:nvSpPr>
          <p:spPr>
            <a:xfrm>
              <a:off x="7566560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52"/>
            <p:cNvSpPr/>
            <p:nvPr/>
          </p:nvSpPr>
          <p:spPr>
            <a:xfrm>
              <a:off x="8021602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52"/>
            <p:cNvSpPr/>
            <p:nvPr/>
          </p:nvSpPr>
          <p:spPr>
            <a:xfrm>
              <a:off x="8087707" y="700790"/>
              <a:ext cx="91438" cy="96106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52"/>
            <p:cNvSpPr/>
            <p:nvPr/>
          </p:nvSpPr>
          <p:spPr>
            <a:xfrm>
              <a:off x="8121568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52"/>
            <p:cNvSpPr/>
            <p:nvPr/>
          </p:nvSpPr>
          <p:spPr>
            <a:xfrm>
              <a:off x="8104046" y="567399"/>
              <a:ext cx="257134" cy="129532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52"/>
            <p:cNvSpPr/>
            <p:nvPr/>
          </p:nvSpPr>
          <p:spPr>
            <a:xfrm>
              <a:off x="7927083" y="573623"/>
              <a:ext cx="110111" cy="99592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52"/>
            <p:cNvSpPr/>
            <p:nvPr/>
          </p:nvSpPr>
          <p:spPr>
            <a:xfrm>
              <a:off x="7857867" y="606271"/>
              <a:ext cx="41237" cy="5449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52"/>
            <p:cNvSpPr/>
            <p:nvPr/>
          </p:nvSpPr>
          <p:spPr>
            <a:xfrm>
              <a:off x="8345588" y="631169"/>
              <a:ext cx="39681" cy="39712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52"/>
            <p:cNvSpPr/>
            <p:nvPr/>
          </p:nvSpPr>
          <p:spPr>
            <a:xfrm>
              <a:off x="8193897" y="60978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52"/>
            <p:cNvSpPr/>
            <p:nvPr/>
          </p:nvSpPr>
          <p:spPr>
            <a:xfrm>
              <a:off x="8272854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52"/>
            <p:cNvSpPr/>
            <p:nvPr/>
          </p:nvSpPr>
          <p:spPr>
            <a:xfrm>
              <a:off x="8243288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52"/>
            <p:cNvSpPr/>
            <p:nvPr/>
          </p:nvSpPr>
          <p:spPr>
            <a:xfrm>
              <a:off x="8073733" y="720241"/>
              <a:ext cx="12449" cy="859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52"/>
            <p:cNvSpPr/>
            <p:nvPr/>
          </p:nvSpPr>
          <p:spPr>
            <a:xfrm>
              <a:off x="8066730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52"/>
            <p:cNvSpPr/>
            <p:nvPr/>
          </p:nvSpPr>
          <p:spPr>
            <a:xfrm>
              <a:off x="8247178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52"/>
            <p:cNvSpPr/>
            <p:nvPr/>
          </p:nvSpPr>
          <p:spPr>
            <a:xfrm>
              <a:off x="8253029" y="630017"/>
              <a:ext cx="90629" cy="28041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52"/>
            <p:cNvSpPr/>
            <p:nvPr/>
          </p:nvSpPr>
          <p:spPr>
            <a:xfrm>
              <a:off x="8254959" y="637020"/>
              <a:ext cx="87548" cy="29193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52"/>
            <p:cNvSpPr/>
            <p:nvPr/>
          </p:nvSpPr>
          <p:spPr>
            <a:xfrm>
              <a:off x="8130500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52"/>
            <p:cNvSpPr/>
            <p:nvPr/>
          </p:nvSpPr>
          <p:spPr>
            <a:xfrm>
              <a:off x="8139432" y="579848"/>
              <a:ext cx="19887" cy="67691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52"/>
            <p:cNvSpPr/>
            <p:nvPr/>
          </p:nvSpPr>
          <p:spPr>
            <a:xfrm>
              <a:off x="7716695" y="653733"/>
              <a:ext cx="103078" cy="33488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52"/>
            <p:cNvSpPr/>
            <p:nvPr/>
          </p:nvSpPr>
          <p:spPr>
            <a:xfrm>
              <a:off x="7694505" y="65955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52"/>
            <p:cNvSpPr/>
            <p:nvPr/>
          </p:nvSpPr>
          <p:spPr>
            <a:xfrm>
              <a:off x="8319912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52"/>
            <p:cNvSpPr/>
            <p:nvPr/>
          </p:nvSpPr>
          <p:spPr>
            <a:xfrm>
              <a:off x="8196635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52"/>
            <p:cNvSpPr/>
            <p:nvPr/>
          </p:nvSpPr>
          <p:spPr>
            <a:xfrm>
              <a:off x="8278674" y="915099"/>
              <a:ext cx="96106" cy="91033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52"/>
            <p:cNvSpPr/>
            <p:nvPr/>
          </p:nvSpPr>
          <p:spPr>
            <a:xfrm>
              <a:off x="8286455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52"/>
            <p:cNvSpPr/>
            <p:nvPr/>
          </p:nvSpPr>
          <p:spPr>
            <a:xfrm>
              <a:off x="8379013" y="733064"/>
              <a:ext cx="129563" cy="257134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52"/>
            <p:cNvSpPr/>
            <p:nvPr/>
          </p:nvSpPr>
          <p:spPr>
            <a:xfrm>
              <a:off x="8400799" y="1057049"/>
              <a:ext cx="101553" cy="110111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52"/>
            <p:cNvSpPr/>
            <p:nvPr/>
          </p:nvSpPr>
          <p:spPr>
            <a:xfrm>
              <a:off x="8414804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52"/>
            <p:cNvSpPr/>
            <p:nvPr/>
          </p:nvSpPr>
          <p:spPr>
            <a:xfrm>
              <a:off x="8404689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52"/>
            <p:cNvSpPr/>
            <p:nvPr/>
          </p:nvSpPr>
          <p:spPr>
            <a:xfrm>
              <a:off x="8325358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52"/>
            <p:cNvSpPr/>
            <p:nvPr/>
          </p:nvSpPr>
          <p:spPr>
            <a:xfrm>
              <a:off x="8299308" y="782860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52"/>
            <p:cNvSpPr/>
            <p:nvPr/>
          </p:nvSpPr>
          <p:spPr>
            <a:xfrm>
              <a:off x="8306311" y="843518"/>
              <a:ext cx="12449" cy="7438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52"/>
            <p:cNvSpPr/>
            <p:nvPr/>
          </p:nvSpPr>
          <p:spPr>
            <a:xfrm>
              <a:off x="8346739" y="1008062"/>
              <a:ext cx="8994" cy="12449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52"/>
            <p:cNvSpPr/>
            <p:nvPr/>
          </p:nvSpPr>
          <p:spPr>
            <a:xfrm>
              <a:off x="8482495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52"/>
            <p:cNvSpPr/>
            <p:nvPr/>
          </p:nvSpPr>
          <p:spPr>
            <a:xfrm>
              <a:off x="8478605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52"/>
            <p:cNvSpPr/>
            <p:nvPr/>
          </p:nvSpPr>
          <p:spPr>
            <a:xfrm>
              <a:off x="8417543" y="750586"/>
              <a:ext cx="28010" cy="90629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52"/>
            <p:cNvSpPr/>
            <p:nvPr/>
          </p:nvSpPr>
          <p:spPr>
            <a:xfrm>
              <a:off x="8408984" y="751737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52"/>
            <p:cNvSpPr/>
            <p:nvPr/>
          </p:nvSpPr>
          <p:spPr>
            <a:xfrm>
              <a:off x="8427658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52"/>
            <p:cNvSpPr/>
            <p:nvPr/>
          </p:nvSpPr>
          <p:spPr>
            <a:xfrm>
              <a:off x="8428031" y="928326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52"/>
            <p:cNvSpPr/>
            <p:nvPr/>
          </p:nvSpPr>
          <p:spPr>
            <a:xfrm>
              <a:off x="8388350" y="1274066"/>
              <a:ext cx="33488" cy="103109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52"/>
            <p:cNvSpPr/>
            <p:nvPr/>
          </p:nvSpPr>
          <p:spPr>
            <a:xfrm>
              <a:off x="8377457" y="1274066"/>
              <a:ext cx="38561" cy="125673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52"/>
            <p:cNvSpPr/>
            <p:nvPr/>
          </p:nvSpPr>
          <p:spPr>
            <a:xfrm>
              <a:off x="8183004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52"/>
            <p:cNvSpPr/>
            <p:nvPr/>
          </p:nvSpPr>
          <p:spPr>
            <a:xfrm>
              <a:off x="8112231" y="885159"/>
              <a:ext cx="73542" cy="18674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52"/>
            <p:cNvSpPr/>
            <p:nvPr/>
          </p:nvSpPr>
          <p:spPr>
            <a:xfrm>
              <a:off x="8112231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52"/>
            <p:cNvSpPr/>
            <p:nvPr/>
          </p:nvSpPr>
          <p:spPr>
            <a:xfrm>
              <a:off x="8160844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52"/>
            <p:cNvSpPr/>
            <p:nvPr/>
          </p:nvSpPr>
          <p:spPr>
            <a:xfrm>
              <a:off x="8159662" y="918585"/>
              <a:ext cx="21443" cy="43198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52"/>
            <p:cNvSpPr/>
            <p:nvPr/>
          </p:nvSpPr>
          <p:spPr>
            <a:xfrm>
              <a:off x="8139432" y="916655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52"/>
            <p:cNvSpPr/>
            <p:nvPr/>
          </p:nvSpPr>
          <p:spPr>
            <a:xfrm>
              <a:off x="8138281" y="906136"/>
              <a:ext cx="19483" cy="23778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52"/>
            <p:cNvSpPr/>
            <p:nvPr/>
          </p:nvSpPr>
          <p:spPr>
            <a:xfrm>
              <a:off x="8134390" y="906541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52"/>
            <p:cNvSpPr/>
            <p:nvPr/>
          </p:nvSpPr>
          <p:spPr>
            <a:xfrm>
              <a:off x="8109492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52"/>
            <p:cNvSpPr/>
            <p:nvPr/>
          </p:nvSpPr>
          <p:spPr>
            <a:xfrm>
              <a:off x="7575897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52"/>
            <p:cNvSpPr/>
            <p:nvPr/>
          </p:nvSpPr>
          <p:spPr>
            <a:xfrm>
              <a:off x="8030534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52"/>
            <p:cNvSpPr/>
            <p:nvPr/>
          </p:nvSpPr>
          <p:spPr>
            <a:xfrm>
              <a:off x="8097448" y="4346604"/>
              <a:ext cx="90660" cy="96106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52"/>
            <p:cNvSpPr/>
            <p:nvPr/>
          </p:nvSpPr>
          <p:spPr>
            <a:xfrm>
              <a:off x="8130500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52"/>
            <p:cNvSpPr/>
            <p:nvPr/>
          </p:nvSpPr>
          <p:spPr>
            <a:xfrm>
              <a:off x="8113383" y="4446943"/>
              <a:ext cx="257134" cy="129158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52"/>
            <p:cNvSpPr/>
            <p:nvPr/>
          </p:nvSpPr>
          <p:spPr>
            <a:xfrm>
              <a:off x="7936047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52"/>
            <p:cNvSpPr/>
            <p:nvPr/>
          </p:nvSpPr>
          <p:spPr>
            <a:xfrm>
              <a:off x="7866799" y="4483138"/>
              <a:ext cx="41268" cy="54091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52"/>
            <p:cNvSpPr/>
            <p:nvPr/>
          </p:nvSpPr>
          <p:spPr>
            <a:xfrm>
              <a:off x="8354520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52"/>
            <p:cNvSpPr/>
            <p:nvPr/>
          </p:nvSpPr>
          <p:spPr>
            <a:xfrm>
              <a:off x="8202829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52"/>
            <p:cNvSpPr/>
            <p:nvPr/>
          </p:nvSpPr>
          <p:spPr>
            <a:xfrm>
              <a:off x="8281786" y="4367238"/>
              <a:ext cx="38156" cy="40459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52"/>
            <p:cNvSpPr/>
            <p:nvPr/>
          </p:nvSpPr>
          <p:spPr>
            <a:xfrm>
              <a:off x="8252625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52"/>
            <p:cNvSpPr/>
            <p:nvPr/>
          </p:nvSpPr>
          <p:spPr>
            <a:xfrm>
              <a:off x="8082665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52"/>
            <p:cNvSpPr/>
            <p:nvPr/>
          </p:nvSpPr>
          <p:spPr>
            <a:xfrm>
              <a:off x="8075662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52"/>
            <p:cNvSpPr/>
            <p:nvPr/>
          </p:nvSpPr>
          <p:spPr>
            <a:xfrm>
              <a:off x="8256515" y="4546535"/>
              <a:ext cx="40864" cy="38903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52"/>
            <p:cNvSpPr/>
            <p:nvPr/>
          </p:nvSpPr>
          <p:spPr>
            <a:xfrm>
              <a:off x="8261961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52"/>
            <p:cNvSpPr/>
            <p:nvPr/>
          </p:nvSpPr>
          <p:spPr>
            <a:xfrm>
              <a:off x="8263518" y="4477287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52"/>
            <p:cNvSpPr/>
            <p:nvPr/>
          </p:nvSpPr>
          <p:spPr>
            <a:xfrm>
              <a:off x="81394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52"/>
            <p:cNvSpPr/>
            <p:nvPr/>
          </p:nvSpPr>
          <p:spPr>
            <a:xfrm>
              <a:off x="8148395" y="4495961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52"/>
            <p:cNvSpPr/>
            <p:nvPr/>
          </p:nvSpPr>
          <p:spPr>
            <a:xfrm>
              <a:off x="7726001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52"/>
            <p:cNvSpPr/>
            <p:nvPr/>
          </p:nvSpPr>
          <p:spPr>
            <a:xfrm>
              <a:off x="7703468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52"/>
            <p:cNvSpPr/>
            <p:nvPr/>
          </p:nvSpPr>
          <p:spPr>
            <a:xfrm>
              <a:off x="8329248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52"/>
            <p:cNvSpPr/>
            <p:nvPr/>
          </p:nvSpPr>
          <p:spPr>
            <a:xfrm>
              <a:off x="8205941" y="4070859"/>
              <a:ext cx="150944" cy="225234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52"/>
            <p:cNvSpPr/>
            <p:nvPr/>
          </p:nvSpPr>
          <p:spPr>
            <a:xfrm>
              <a:off x="8288011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52"/>
            <p:cNvSpPr/>
            <p:nvPr/>
          </p:nvSpPr>
          <p:spPr>
            <a:xfrm>
              <a:off x="8295418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52"/>
            <p:cNvSpPr/>
            <p:nvPr/>
          </p:nvSpPr>
          <p:spPr>
            <a:xfrm>
              <a:off x="8387976" y="4153302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52"/>
            <p:cNvSpPr/>
            <p:nvPr/>
          </p:nvSpPr>
          <p:spPr>
            <a:xfrm>
              <a:off x="8409762" y="3975966"/>
              <a:ext cx="101926" cy="110485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52"/>
            <p:cNvSpPr/>
            <p:nvPr/>
          </p:nvSpPr>
          <p:spPr>
            <a:xfrm>
              <a:off x="8424141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52"/>
            <p:cNvSpPr/>
            <p:nvPr/>
          </p:nvSpPr>
          <p:spPr>
            <a:xfrm>
              <a:off x="8414026" y="43948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52"/>
            <p:cNvSpPr/>
            <p:nvPr/>
          </p:nvSpPr>
          <p:spPr>
            <a:xfrm>
              <a:off x="8334290" y="4243557"/>
              <a:ext cx="140456" cy="9648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52"/>
            <p:cNvSpPr/>
            <p:nvPr/>
          </p:nvSpPr>
          <p:spPr>
            <a:xfrm>
              <a:off x="8308645" y="4322111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52"/>
            <p:cNvSpPr/>
            <p:nvPr/>
          </p:nvSpPr>
          <p:spPr>
            <a:xfrm>
              <a:off x="8315648" y="4292544"/>
              <a:ext cx="12076" cy="7438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52"/>
            <p:cNvSpPr/>
            <p:nvPr/>
          </p:nvSpPr>
          <p:spPr>
            <a:xfrm>
              <a:off x="8356076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52"/>
            <p:cNvSpPr/>
            <p:nvPr/>
          </p:nvSpPr>
          <p:spPr>
            <a:xfrm>
              <a:off x="8491832" y="4115986"/>
              <a:ext cx="34235" cy="195263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52"/>
            <p:cNvSpPr/>
            <p:nvPr/>
          </p:nvSpPr>
          <p:spPr>
            <a:xfrm>
              <a:off x="8487537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52"/>
            <p:cNvSpPr/>
            <p:nvPr/>
          </p:nvSpPr>
          <p:spPr>
            <a:xfrm>
              <a:off x="842647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52"/>
            <p:cNvSpPr/>
            <p:nvPr/>
          </p:nvSpPr>
          <p:spPr>
            <a:xfrm>
              <a:off x="841832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52"/>
            <p:cNvSpPr/>
            <p:nvPr/>
          </p:nvSpPr>
          <p:spPr>
            <a:xfrm>
              <a:off x="8436963" y="4179756"/>
              <a:ext cx="70430" cy="22221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52"/>
            <p:cNvSpPr/>
            <p:nvPr/>
          </p:nvSpPr>
          <p:spPr>
            <a:xfrm>
              <a:off x="8437368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52"/>
            <p:cNvSpPr/>
            <p:nvPr/>
          </p:nvSpPr>
          <p:spPr>
            <a:xfrm>
              <a:off x="8397687" y="3766325"/>
              <a:ext cx="33114" cy="103109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52"/>
            <p:cNvSpPr/>
            <p:nvPr/>
          </p:nvSpPr>
          <p:spPr>
            <a:xfrm>
              <a:off x="8386794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52"/>
            <p:cNvSpPr/>
            <p:nvPr/>
          </p:nvSpPr>
          <p:spPr>
            <a:xfrm>
              <a:off x="8191967" y="4248226"/>
              <a:ext cx="10519" cy="10146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52"/>
            <p:cNvSpPr/>
            <p:nvPr/>
          </p:nvSpPr>
          <p:spPr>
            <a:xfrm>
              <a:off x="8121568" y="4239667"/>
              <a:ext cx="73138" cy="1870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52"/>
            <p:cNvSpPr/>
            <p:nvPr/>
          </p:nvSpPr>
          <p:spPr>
            <a:xfrm>
              <a:off x="8121163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52"/>
            <p:cNvSpPr/>
            <p:nvPr/>
          </p:nvSpPr>
          <p:spPr>
            <a:xfrm>
              <a:off x="817018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52"/>
            <p:cNvSpPr/>
            <p:nvPr/>
          </p:nvSpPr>
          <p:spPr>
            <a:xfrm>
              <a:off x="8168999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52"/>
            <p:cNvSpPr/>
            <p:nvPr/>
          </p:nvSpPr>
          <p:spPr>
            <a:xfrm>
              <a:off x="8147991" y="4212808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52"/>
            <p:cNvSpPr/>
            <p:nvPr/>
          </p:nvSpPr>
          <p:spPr>
            <a:xfrm>
              <a:off x="8146839" y="4212808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52"/>
            <p:cNvSpPr/>
            <p:nvPr/>
          </p:nvSpPr>
          <p:spPr>
            <a:xfrm>
              <a:off x="8143322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52"/>
            <p:cNvSpPr/>
            <p:nvPr/>
          </p:nvSpPr>
          <p:spPr>
            <a:xfrm>
              <a:off x="8118456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52"/>
            <p:cNvSpPr/>
            <p:nvPr/>
          </p:nvSpPr>
          <p:spPr>
            <a:xfrm>
              <a:off x="890193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52"/>
            <p:cNvSpPr/>
            <p:nvPr/>
          </p:nvSpPr>
          <p:spPr>
            <a:xfrm>
              <a:off x="896417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52"/>
            <p:cNvSpPr/>
            <p:nvPr/>
          </p:nvSpPr>
          <p:spPr>
            <a:xfrm>
              <a:off x="963704" y="4346604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52"/>
            <p:cNvSpPr/>
            <p:nvPr/>
          </p:nvSpPr>
          <p:spPr>
            <a:xfrm>
              <a:off x="1021654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52"/>
            <p:cNvSpPr/>
            <p:nvPr/>
          </p:nvSpPr>
          <p:spPr>
            <a:xfrm>
              <a:off x="781700" y="4446943"/>
              <a:ext cx="257476" cy="129158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52"/>
            <p:cNvSpPr/>
            <p:nvPr/>
          </p:nvSpPr>
          <p:spPr>
            <a:xfrm>
              <a:off x="1106058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52"/>
            <p:cNvSpPr/>
            <p:nvPr/>
          </p:nvSpPr>
          <p:spPr>
            <a:xfrm>
              <a:off x="1243744" y="4483138"/>
              <a:ext cx="41642" cy="54091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52"/>
            <p:cNvSpPr/>
            <p:nvPr/>
          </p:nvSpPr>
          <p:spPr>
            <a:xfrm>
              <a:off x="757953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52"/>
            <p:cNvSpPr/>
            <p:nvPr/>
          </p:nvSpPr>
          <p:spPr>
            <a:xfrm>
              <a:off x="852068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52"/>
            <p:cNvSpPr/>
            <p:nvPr/>
          </p:nvSpPr>
          <p:spPr>
            <a:xfrm>
              <a:off x="831869" y="4367238"/>
              <a:ext cx="38530" cy="40459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52"/>
            <p:cNvSpPr/>
            <p:nvPr/>
          </p:nvSpPr>
          <p:spPr>
            <a:xfrm>
              <a:off x="892527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52"/>
            <p:cNvSpPr/>
            <p:nvPr/>
          </p:nvSpPr>
          <p:spPr>
            <a:xfrm>
              <a:off x="1057040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52"/>
            <p:cNvSpPr/>
            <p:nvPr/>
          </p:nvSpPr>
          <p:spPr>
            <a:xfrm>
              <a:off x="881261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52"/>
            <p:cNvSpPr/>
            <p:nvPr/>
          </p:nvSpPr>
          <p:spPr>
            <a:xfrm>
              <a:off x="854402" y="4546535"/>
              <a:ext cx="41268" cy="38903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52"/>
            <p:cNvSpPr/>
            <p:nvPr/>
          </p:nvSpPr>
          <p:spPr>
            <a:xfrm>
              <a:off x="799564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52"/>
            <p:cNvSpPr/>
            <p:nvPr/>
          </p:nvSpPr>
          <p:spPr>
            <a:xfrm>
              <a:off x="800342" y="4477287"/>
              <a:ext cx="87952" cy="29193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52"/>
            <p:cNvSpPr/>
            <p:nvPr/>
          </p:nvSpPr>
          <p:spPr>
            <a:xfrm>
              <a:off x="9905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52"/>
            <p:cNvSpPr/>
            <p:nvPr/>
          </p:nvSpPr>
          <p:spPr>
            <a:xfrm>
              <a:off x="983934" y="4495961"/>
              <a:ext cx="19856" cy="67691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52"/>
            <p:cNvSpPr/>
            <p:nvPr/>
          </p:nvSpPr>
          <p:spPr>
            <a:xfrm>
              <a:off x="1323076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52"/>
            <p:cNvSpPr/>
            <p:nvPr/>
          </p:nvSpPr>
          <p:spPr>
            <a:xfrm>
              <a:off x="1323076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52"/>
            <p:cNvSpPr/>
            <p:nvPr/>
          </p:nvSpPr>
          <p:spPr>
            <a:xfrm>
              <a:off x="574393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52"/>
            <p:cNvSpPr/>
            <p:nvPr/>
          </p:nvSpPr>
          <p:spPr>
            <a:xfrm>
              <a:off x="794896" y="4070859"/>
              <a:ext cx="151349" cy="225234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52"/>
            <p:cNvSpPr/>
            <p:nvPr/>
          </p:nvSpPr>
          <p:spPr>
            <a:xfrm>
              <a:off x="768068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52"/>
            <p:cNvSpPr/>
            <p:nvPr/>
          </p:nvSpPr>
          <p:spPr>
            <a:xfrm>
              <a:off x="856363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52"/>
            <p:cNvSpPr/>
            <p:nvPr/>
          </p:nvSpPr>
          <p:spPr>
            <a:xfrm>
              <a:off x="634677" y="4153302"/>
              <a:ext cx="129158" cy="257134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52"/>
            <p:cNvSpPr/>
            <p:nvPr/>
          </p:nvSpPr>
          <p:spPr>
            <a:xfrm>
              <a:off x="640901" y="3975966"/>
              <a:ext cx="101148" cy="110485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52"/>
            <p:cNvSpPr/>
            <p:nvPr/>
          </p:nvSpPr>
          <p:spPr>
            <a:xfrm>
              <a:off x="673549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52"/>
            <p:cNvSpPr/>
            <p:nvPr/>
          </p:nvSpPr>
          <p:spPr>
            <a:xfrm>
              <a:off x="698073" y="4394844"/>
              <a:ext cx="40086" cy="39712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52"/>
            <p:cNvSpPr/>
            <p:nvPr/>
          </p:nvSpPr>
          <p:spPr>
            <a:xfrm>
              <a:off x="677066" y="4243557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52"/>
            <p:cNvSpPr/>
            <p:nvPr/>
          </p:nvSpPr>
          <p:spPr>
            <a:xfrm>
              <a:off x="803081" y="4322111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52"/>
            <p:cNvSpPr/>
            <p:nvPr/>
          </p:nvSpPr>
          <p:spPr>
            <a:xfrm>
              <a:off x="824462" y="4292544"/>
              <a:ext cx="12107" cy="7438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52"/>
            <p:cNvSpPr/>
            <p:nvPr/>
          </p:nvSpPr>
          <p:spPr>
            <a:xfrm>
              <a:off x="787520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52"/>
            <p:cNvSpPr/>
            <p:nvPr/>
          </p:nvSpPr>
          <p:spPr>
            <a:xfrm>
              <a:off x="625714" y="4115986"/>
              <a:ext cx="34670" cy="195263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52"/>
            <p:cNvSpPr/>
            <p:nvPr/>
          </p:nvSpPr>
          <p:spPr>
            <a:xfrm>
              <a:off x="625714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52"/>
            <p:cNvSpPr/>
            <p:nvPr/>
          </p:nvSpPr>
          <p:spPr>
            <a:xfrm>
              <a:off x="69729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52"/>
            <p:cNvSpPr/>
            <p:nvPr/>
          </p:nvSpPr>
          <p:spPr>
            <a:xfrm>
              <a:off x="70467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52"/>
            <p:cNvSpPr/>
            <p:nvPr/>
          </p:nvSpPr>
          <p:spPr>
            <a:xfrm>
              <a:off x="644387" y="4179756"/>
              <a:ext cx="70835" cy="22595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52"/>
            <p:cNvSpPr/>
            <p:nvPr/>
          </p:nvSpPr>
          <p:spPr>
            <a:xfrm>
              <a:off x="644792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52"/>
            <p:cNvSpPr/>
            <p:nvPr/>
          </p:nvSpPr>
          <p:spPr>
            <a:xfrm>
              <a:off x="721011" y="3766325"/>
              <a:ext cx="33083" cy="103109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52"/>
            <p:cNvSpPr/>
            <p:nvPr/>
          </p:nvSpPr>
          <p:spPr>
            <a:xfrm>
              <a:off x="726831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52"/>
            <p:cNvSpPr/>
            <p:nvPr/>
          </p:nvSpPr>
          <p:spPr>
            <a:xfrm>
              <a:off x="949699" y="4248226"/>
              <a:ext cx="10551" cy="10146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52"/>
            <p:cNvSpPr/>
            <p:nvPr/>
          </p:nvSpPr>
          <p:spPr>
            <a:xfrm>
              <a:off x="957106" y="4239667"/>
              <a:ext cx="73511" cy="1870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52"/>
            <p:cNvSpPr/>
            <p:nvPr/>
          </p:nvSpPr>
          <p:spPr>
            <a:xfrm>
              <a:off x="999090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52"/>
            <p:cNvSpPr/>
            <p:nvPr/>
          </p:nvSpPr>
          <p:spPr>
            <a:xfrm>
              <a:off x="94892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52"/>
            <p:cNvSpPr/>
            <p:nvPr/>
          </p:nvSpPr>
          <p:spPr>
            <a:xfrm>
              <a:off x="962148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52"/>
            <p:cNvSpPr/>
            <p:nvPr/>
          </p:nvSpPr>
          <p:spPr>
            <a:xfrm>
              <a:off x="975748" y="4212808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52"/>
            <p:cNvSpPr/>
            <p:nvPr/>
          </p:nvSpPr>
          <p:spPr>
            <a:xfrm>
              <a:off x="985085" y="4212808"/>
              <a:ext cx="19887" cy="24556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52"/>
            <p:cNvSpPr/>
            <p:nvPr/>
          </p:nvSpPr>
          <p:spPr>
            <a:xfrm>
              <a:off x="987046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52"/>
            <p:cNvSpPr/>
            <p:nvPr/>
          </p:nvSpPr>
          <p:spPr>
            <a:xfrm>
              <a:off x="997939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52"/>
            <p:cNvSpPr/>
            <p:nvPr/>
          </p:nvSpPr>
          <p:spPr>
            <a:xfrm>
              <a:off x="829308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52"/>
            <p:cNvSpPr/>
            <p:nvPr/>
          </p:nvSpPr>
          <p:spPr>
            <a:xfrm>
              <a:off x="8324580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52"/>
            <p:cNvSpPr/>
            <p:nvPr/>
          </p:nvSpPr>
          <p:spPr>
            <a:xfrm>
              <a:off x="8352186" y="2070616"/>
              <a:ext cx="105816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52"/>
            <p:cNvSpPr/>
            <p:nvPr/>
          </p:nvSpPr>
          <p:spPr>
            <a:xfrm>
              <a:off x="8373193" y="1993214"/>
              <a:ext cx="16744" cy="68874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2"/>
            <p:cNvSpPr/>
            <p:nvPr/>
          </p:nvSpPr>
          <p:spPr>
            <a:xfrm>
              <a:off x="8307463" y="2299304"/>
              <a:ext cx="120600" cy="102300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2"/>
            <p:cNvSpPr/>
            <p:nvPr/>
          </p:nvSpPr>
          <p:spPr>
            <a:xfrm>
              <a:off x="8254959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2"/>
            <p:cNvSpPr/>
            <p:nvPr/>
          </p:nvSpPr>
          <p:spPr>
            <a:xfrm>
              <a:off x="824058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2"/>
            <p:cNvSpPr/>
            <p:nvPr/>
          </p:nvSpPr>
          <p:spPr>
            <a:xfrm>
              <a:off x="8237841" y="2387194"/>
              <a:ext cx="20261" cy="22968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2"/>
            <p:cNvSpPr/>
            <p:nvPr/>
          </p:nvSpPr>
          <p:spPr>
            <a:xfrm>
              <a:off x="8460710" y="2105224"/>
              <a:ext cx="4295" cy="3517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2"/>
            <p:cNvSpPr/>
            <p:nvPr/>
          </p:nvSpPr>
          <p:spPr>
            <a:xfrm>
              <a:off x="8388350" y="1944196"/>
              <a:ext cx="22221" cy="52535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2"/>
            <p:cNvSpPr/>
            <p:nvPr/>
          </p:nvSpPr>
          <p:spPr>
            <a:xfrm>
              <a:off x="8382903" y="1943822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2"/>
            <p:cNvSpPr/>
            <p:nvPr/>
          </p:nvSpPr>
          <p:spPr>
            <a:xfrm>
              <a:off x="8340515" y="2030156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2"/>
            <p:cNvSpPr/>
            <p:nvPr/>
          </p:nvSpPr>
          <p:spPr>
            <a:xfrm>
              <a:off x="8340515" y="2029752"/>
              <a:ext cx="36600" cy="41673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2"/>
            <p:cNvSpPr/>
            <p:nvPr/>
          </p:nvSpPr>
          <p:spPr>
            <a:xfrm>
              <a:off x="8260405" y="2406645"/>
              <a:ext cx="107777" cy="4824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2"/>
            <p:cNvSpPr/>
            <p:nvPr/>
          </p:nvSpPr>
          <p:spPr>
            <a:xfrm>
              <a:off x="8242914" y="2445517"/>
              <a:ext cx="20230" cy="22221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2"/>
            <p:cNvSpPr/>
            <p:nvPr/>
          </p:nvSpPr>
          <p:spPr>
            <a:xfrm>
              <a:off x="8280635" y="2360366"/>
              <a:ext cx="101926" cy="381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2"/>
            <p:cNvSpPr/>
            <p:nvPr/>
          </p:nvSpPr>
          <p:spPr>
            <a:xfrm>
              <a:off x="8268559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2"/>
            <p:cNvSpPr/>
            <p:nvPr/>
          </p:nvSpPr>
          <p:spPr>
            <a:xfrm>
              <a:off x="8411318" y="1849303"/>
              <a:ext cx="74694" cy="295602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2"/>
            <p:cNvSpPr/>
            <p:nvPr/>
          </p:nvSpPr>
          <p:spPr>
            <a:xfrm>
              <a:off x="835648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2"/>
            <p:cNvSpPr/>
            <p:nvPr/>
          </p:nvSpPr>
          <p:spPr>
            <a:xfrm>
              <a:off x="8410136" y="2147613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2"/>
            <p:cNvSpPr/>
            <p:nvPr/>
          </p:nvSpPr>
          <p:spPr>
            <a:xfrm>
              <a:off x="8442036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2"/>
            <p:cNvSpPr/>
            <p:nvPr/>
          </p:nvSpPr>
          <p:spPr>
            <a:xfrm>
              <a:off x="8270520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2"/>
            <p:cNvSpPr/>
            <p:nvPr/>
          </p:nvSpPr>
          <p:spPr>
            <a:xfrm>
              <a:off x="8385642" y="2201672"/>
              <a:ext cx="18705" cy="3853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2"/>
            <p:cNvSpPr/>
            <p:nvPr/>
          </p:nvSpPr>
          <p:spPr>
            <a:xfrm>
              <a:off x="8377862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2"/>
            <p:cNvSpPr/>
            <p:nvPr/>
          </p:nvSpPr>
          <p:spPr>
            <a:xfrm>
              <a:off x="8381347" y="1781643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2"/>
            <p:cNvSpPr/>
            <p:nvPr/>
          </p:nvSpPr>
          <p:spPr>
            <a:xfrm>
              <a:off x="8334695" y="1789797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2"/>
            <p:cNvSpPr/>
            <p:nvPr/>
          </p:nvSpPr>
          <p:spPr>
            <a:xfrm>
              <a:off x="8347922" y="1833742"/>
              <a:ext cx="58355" cy="44754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2"/>
            <p:cNvSpPr/>
            <p:nvPr/>
          </p:nvSpPr>
          <p:spPr>
            <a:xfrm>
              <a:off x="8363078" y="1819737"/>
              <a:ext cx="38156" cy="21412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2"/>
            <p:cNvSpPr/>
            <p:nvPr/>
          </p:nvSpPr>
          <p:spPr>
            <a:xfrm>
              <a:off x="8325358" y="2125827"/>
              <a:ext cx="89104" cy="68501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2"/>
            <p:cNvSpPr/>
            <p:nvPr/>
          </p:nvSpPr>
          <p:spPr>
            <a:xfrm>
              <a:off x="8293084" y="2552081"/>
              <a:ext cx="130310" cy="138900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2"/>
            <p:cNvSpPr/>
            <p:nvPr/>
          </p:nvSpPr>
          <p:spPr>
            <a:xfrm>
              <a:off x="8324580" y="2684320"/>
              <a:ext cx="182440" cy="328311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2"/>
            <p:cNvSpPr/>
            <p:nvPr/>
          </p:nvSpPr>
          <p:spPr>
            <a:xfrm>
              <a:off x="8352590" y="2928196"/>
              <a:ext cx="105038" cy="125642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2"/>
            <p:cNvSpPr/>
            <p:nvPr/>
          </p:nvSpPr>
          <p:spPr>
            <a:xfrm>
              <a:off x="8372820" y="3062365"/>
              <a:ext cx="17117" cy="68874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52"/>
            <p:cNvSpPr/>
            <p:nvPr/>
          </p:nvSpPr>
          <p:spPr>
            <a:xfrm>
              <a:off x="8307867" y="2723628"/>
              <a:ext cx="120195" cy="101522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52"/>
            <p:cNvSpPr/>
            <p:nvPr/>
          </p:nvSpPr>
          <p:spPr>
            <a:xfrm>
              <a:off x="8254585" y="2706106"/>
              <a:ext cx="137686" cy="2841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2"/>
            <p:cNvSpPr/>
            <p:nvPr/>
          </p:nvSpPr>
          <p:spPr>
            <a:xfrm>
              <a:off x="824058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2"/>
            <p:cNvSpPr/>
            <p:nvPr/>
          </p:nvSpPr>
          <p:spPr>
            <a:xfrm>
              <a:off x="8237468" y="2714291"/>
              <a:ext cx="21412" cy="27637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2"/>
            <p:cNvSpPr/>
            <p:nvPr/>
          </p:nvSpPr>
          <p:spPr>
            <a:xfrm>
              <a:off x="8460710" y="3015308"/>
              <a:ext cx="4295" cy="3548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52"/>
            <p:cNvSpPr/>
            <p:nvPr/>
          </p:nvSpPr>
          <p:spPr>
            <a:xfrm>
              <a:off x="8388754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52"/>
            <p:cNvSpPr/>
            <p:nvPr/>
          </p:nvSpPr>
          <p:spPr>
            <a:xfrm>
              <a:off x="8382903" y="3128096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52"/>
            <p:cNvSpPr/>
            <p:nvPr/>
          </p:nvSpPr>
          <p:spPr>
            <a:xfrm>
              <a:off x="8340515" y="3053028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52"/>
            <p:cNvSpPr/>
            <p:nvPr/>
          </p:nvSpPr>
          <p:spPr>
            <a:xfrm>
              <a:off x="8340919" y="3053433"/>
              <a:ext cx="36195" cy="41237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52"/>
            <p:cNvSpPr/>
            <p:nvPr/>
          </p:nvSpPr>
          <p:spPr>
            <a:xfrm>
              <a:off x="8260405" y="2669537"/>
              <a:ext cx="107777" cy="47898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52"/>
            <p:cNvSpPr/>
            <p:nvPr/>
          </p:nvSpPr>
          <p:spPr>
            <a:xfrm>
              <a:off x="8242510" y="2656714"/>
              <a:ext cx="20634" cy="22190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52"/>
            <p:cNvSpPr/>
            <p:nvPr/>
          </p:nvSpPr>
          <p:spPr>
            <a:xfrm>
              <a:off x="8280635" y="2725962"/>
              <a:ext cx="101926" cy="37752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52"/>
            <p:cNvSpPr/>
            <p:nvPr/>
          </p:nvSpPr>
          <p:spPr>
            <a:xfrm>
              <a:off x="8268559" y="2759388"/>
              <a:ext cx="18331" cy="1637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52"/>
            <p:cNvSpPr/>
            <p:nvPr/>
          </p:nvSpPr>
          <p:spPr>
            <a:xfrm>
              <a:off x="8411318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52"/>
            <p:cNvSpPr/>
            <p:nvPr/>
          </p:nvSpPr>
          <p:spPr>
            <a:xfrm>
              <a:off x="8356480" y="2632221"/>
              <a:ext cx="61467" cy="39308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52"/>
            <p:cNvSpPr/>
            <p:nvPr/>
          </p:nvSpPr>
          <p:spPr>
            <a:xfrm>
              <a:off x="8410136" y="2899034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52"/>
            <p:cNvSpPr/>
            <p:nvPr/>
          </p:nvSpPr>
          <p:spPr>
            <a:xfrm>
              <a:off x="8442036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52"/>
            <p:cNvSpPr/>
            <p:nvPr/>
          </p:nvSpPr>
          <p:spPr>
            <a:xfrm>
              <a:off x="8270894" y="2598764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52"/>
            <p:cNvSpPr/>
            <p:nvPr/>
          </p:nvSpPr>
          <p:spPr>
            <a:xfrm>
              <a:off x="8385642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52"/>
            <p:cNvSpPr/>
            <p:nvPr/>
          </p:nvSpPr>
          <p:spPr>
            <a:xfrm>
              <a:off x="8377862" y="2883846"/>
              <a:ext cx="27263" cy="42420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52"/>
            <p:cNvSpPr/>
            <p:nvPr/>
          </p:nvSpPr>
          <p:spPr>
            <a:xfrm>
              <a:off x="8381347" y="3178265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52"/>
            <p:cNvSpPr/>
            <p:nvPr/>
          </p:nvSpPr>
          <p:spPr>
            <a:xfrm>
              <a:off x="8334695" y="3258001"/>
              <a:ext cx="80918" cy="76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52"/>
            <p:cNvSpPr/>
            <p:nvPr/>
          </p:nvSpPr>
          <p:spPr>
            <a:xfrm>
              <a:off x="8347922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52"/>
            <p:cNvSpPr/>
            <p:nvPr/>
          </p:nvSpPr>
          <p:spPr>
            <a:xfrm>
              <a:off x="8363078" y="3283273"/>
              <a:ext cx="38530" cy="21817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52"/>
            <p:cNvSpPr/>
            <p:nvPr/>
          </p:nvSpPr>
          <p:spPr>
            <a:xfrm>
              <a:off x="8325358" y="2929752"/>
              <a:ext cx="89104" cy="68874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52"/>
            <p:cNvSpPr/>
            <p:nvPr/>
          </p:nvSpPr>
          <p:spPr>
            <a:xfrm>
              <a:off x="8299308" y="2532256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52"/>
            <p:cNvSpPr/>
            <p:nvPr/>
          </p:nvSpPr>
          <p:spPr>
            <a:xfrm>
              <a:off x="8295014" y="2531477"/>
              <a:ext cx="7438" cy="21039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52"/>
            <p:cNvSpPr/>
            <p:nvPr/>
          </p:nvSpPr>
          <p:spPr>
            <a:xfrm>
              <a:off x="8314870" y="2555193"/>
              <a:ext cx="9337" cy="11702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52"/>
            <p:cNvSpPr/>
            <p:nvPr/>
          </p:nvSpPr>
          <p:spPr>
            <a:xfrm>
              <a:off x="8298126" y="2564156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52"/>
            <p:cNvSpPr/>
            <p:nvPr/>
          </p:nvSpPr>
          <p:spPr>
            <a:xfrm>
              <a:off x="8292679" y="2558710"/>
              <a:ext cx="12480" cy="29971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52"/>
            <p:cNvSpPr/>
            <p:nvPr/>
          </p:nvSpPr>
          <p:spPr>
            <a:xfrm>
              <a:off x="8295418" y="2545483"/>
              <a:ext cx="10146" cy="17522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52"/>
            <p:cNvSpPr/>
            <p:nvPr/>
          </p:nvSpPr>
          <p:spPr>
            <a:xfrm>
              <a:off x="8277896" y="2552081"/>
              <a:ext cx="15592" cy="17927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52"/>
            <p:cNvSpPr/>
            <p:nvPr/>
          </p:nvSpPr>
          <p:spPr>
            <a:xfrm>
              <a:off x="701964" y="2552485"/>
              <a:ext cx="130310" cy="138495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52"/>
            <p:cNvSpPr/>
            <p:nvPr/>
          </p:nvSpPr>
          <p:spPr>
            <a:xfrm>
              <a:off x="617933" y="2684725"/>
              <a:ext cx="182845" cy="32828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52"/>
            <p:cNvSpPr/>
            <p:nvPr/>
          </p:nvSpPr>
          <p:spPr>
            <a:xfrm>
              <a:off x="667729" y="2928974"/>
              <a:ext cx="105817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52"/>
            <p:cNvSpPr/>
            <p:nvPr/>
          </p:nvSpPr>
          <p:spPr>
            <a:xfrm>
              <a:off x="735389" y="3062365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52"/>
            <p:cNvSpPr/>
            <p:nvPr/>
          </p:nvSpPr>
          <p:spPr>
            <a:xfrm>
              <a:off x="697669" y="2722850"/>
              <a:ext cx="120226" cy="102300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52"/>
            <p:cNvSpPr/>
            <p:nvPr/>
          </p:nvSpPr>
          <p:spPr>
            <a:xfrm>
              <a:off x="732682" y="2706106"/>
              <a:ext cx="137717" cy="2841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52"/>
            <p:cNvSpPr/>
            <p:nvPr/>
          </p:nvSpPr>
          <p:spPr>
            <a:xfrm>
              <a:off x="86959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52"/>
            <p:cNvSpPr/>
            <p:nvPr/>
          </p:nvSpPr>
          <p:spPr>
            <a:xfrm>
              <a:off x="867255" y="2714291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52"/>
            <p:cNvSpPr/>
            <p:nvPr/>
          </p:nvSpPr>
          <p:spPr>
            <a:xfrm>
              <a:off x="660726" y="3015308"/>
              <a:ext cx="3921" cy="3548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52"/>
            <p:cNvSpPr/>
            <p:nvPr/>
          </p:nvSpPr>
          <p:spPr>
            <a:xfrm>
              <a:off x="714786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52"/>
            <p:cNvSpPr/>
            <p:nvPr/>
          </p:nvSpPr>
          <p:spPr>
            <a:xfrm>
              <a:off x="717899" y="3128096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52"/>
            <p:cNvSpPr/>
            <p:nvPr/>
          </p:nvSpPr>
          <p:spPr>
            <a:xfrm>
              <a:off x="747465" y="3053028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2"/>
            <p:cNvSpPr/>
            <p:nvPr/>
          </p:nvSpPr>
          <p:spPr>
            <a:xfrm>
              <a:off x="748243" y="3053433"/>
              <a:ext cx="36569" cy="41237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2"/>
            <p:cNvSpPr/>
            <p:nvPr/>
          </p:nvSpPr>
          <p:spPr>
            <a:xfrm>
              <a:off x="757175" y="2669537"/>
              <a:ext cx="108151" cy="47898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2"/>
            <p:cNvSpPr/>
            <p:nvPr/>
          </p:nvSpPr>
          <p:spPr>
            <a:xfrm>
              <a:off x="862182" y="2656714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2"/>
            <p:cNvSpPr/>
            <p:nvPr/>
          </p:nvSpPr>
          <p:spPr>
            <a:xfrm>
              <a:off x="742797" y="2725962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2"/>
            <p:cNvSpPr/>
            <p:nvPr/>
          </p:nvSpPr>
          <p:spPr>
            <a:xfrm>
              <a:off x="838467" y="2759792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2"/>
            <p:cNvSpPr/>
            <p:nvPr/>
          </p:nvSpPr>
          <p:spPr>
            <a:xfrm>
              <a:off x="638941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2"/>
            <p:cNvSpPr/>
            <p:nvPr/>
          </p:nvSpPr>
          <p:spPr>
            <a:xfrm>
              <a:off x="707410" y="2631816"/>
              <a:ext cx="61467" cy="39712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2"/>
            <p:cNvSpPr/>
            <p:nvPr/>
          </p:nvSpPr>
          <p:spPr>
            <a:xfrm>
              <a:off x="675883" y="2899034"/>
              <a:ext cx="39339" cy="7818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2"/>
            <p:cNvSpPr/>
            <p:nvPr/>
          </p:nvSpPr>
          <p:spPr>
            <a:xfrm>
              <a:off x="656463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2"/>
            <p:cNvSpPr/>
            <p:nvPr/>
          </p:nvSpPr>
          <p:spPr>
            <a:xfrm>
              <a:off x="784812" y="2598764"/>
              <a:ext cx="70026" cy="101148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2"/>
            <p:cNvSpPr/>
            <p:nvPr/>
          </p:nvSpPr>
          <p:spPr>
            <a:xfrm>
              <a:off x="721011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2"/>
            <p:cNvSpPr/>
            <p:nvPr/>
          </p:nvSpPr>
          <p:spPr>
            <a:xfrm>
              <a:off x="720233" y="2883846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2"/>
            <p:cNvSpPr/>
            <p:nvPr/>
          </p:nvSpPr>
          <p:spPr>
            <a:xfrm>
              <a:off x="669659" y="3178265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2"/>
            <p:cNvSpPr/>
            <p:nvPr/>
          </p:nvSpPr>
          <p:spPr>
            <a:xfrm>
              <a:off x="709744" y="3258001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2"/>
            <p:cNvSpPr/>
            <p:nvPr/>
          </p:nvSpPr>
          <p:spPr>
            <a:xfrm>
              <a:off x="719455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2"/>
            <p:cNvSpPr/>
            <p:nvPr/>
          </p:nvSpPr>
          <p:spPr>
            <a:xfrm>
              <a:off x="724123" y="3283273"/>
              <a:ext cx="38530" cy="21443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2"/>
            <p:cNvSpPr/>
            <p:nvPr/>
          </p:nvSpPr>
          <p:spPr>
            <a:xfrm>
              <a:off x="710896" y="2929752"/>
              <a:ext cx="89477" cy="68874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2"/>
            <p:cNvSpPr/>
            <p:nvPr/>
          </p:nvSpPr>
          <p:spPr>
            <a:xfrm>
              <a:off x="70196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2"/>
            <p:cNvSpPr/>
            <p:nvPr/>
          </p:nvSpPr>
          <p:spPr>
            <a:xfrm>
              <a:off x="618338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2"/>
            <p:cNvSpPr/>
            <p:nvPr/>
          </p:nvSpPr>
          <p:spPr>
            <a:xfrm>
              <a:off x="667324" y="2070616"/>
              <a:ext cx="105443" cy="125642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2"/>
            <p:cNvSpPr/>
            <p:nvPr/>
          </p:nvSpPr>
          <p:spPr>
            <a:xfrm>
              <a:off x="735389" y="1993214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2"/>
            <p:cNvSpPr/>
            <p:nvPr/>
          </p:nvSpPr>
          <p:spPr>
            <a:xfrm>
              <a:off x="697295" y="2299304"/>
              <a:ext cx="120600" cy="101522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2"/>
            <p:cNvSpPr/>
            <p:nvPr/>
          </p:nvSpPr>
          <p:spPr>
            <a:xfrm>
              <a:off x="733055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2"/>
            <p:cNvSpPr/>
            <p:nvPr/>
          </p:nvSpPr>
          <p:spPr>
            <a:xfrm>
              <a:off x="86959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2"/>
            <p:cNvSpPr/>
            <p:nvPr/>
          </p:nvSpPr>
          <p:spPr>
            <a:xfrm>
              <a:off x="866073" y="2382525"/>
              <a:ext cx="21443" cy="27637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2"/>
            <p:cNvSpPr/>
            <p:nvPr/>
          </p:nvSpPr>
          <p:spPr>
            <a:xfrm>
              <a:off x="660726" y="2105597"/>
              <a:ext cx="3921" cy="3921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2"/>
            <p:cNvSpPr/>
            <p:nvPr/>
          </p:nvSpPr>
          <p:spPr>
            <a:xfrm>
              <a:off x="714786" y="1944196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2"/>
            <p:cNvSpPr/>
            <p:nvPr/>
          </p:nvSpPr>
          <p:spPr>
            <a:xfrm>
              <a:off x="717899" y="1943822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2"/>
            <p:cNvSpPr/>
            <p:nvPr/>
          </p:nvSpPr>
          <p:spPr>
            <a:xfrm>
              <a:off x="747465" y="2030156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2"/>
            <p:cNvSpPr/>
            <p:nvPr/>
          </p:nvSpPr>
          <p:spPr>
            <a:xfrm>
              <a:off x="748243" y="2029752"/>
              <a:ext cx="36195" cy="41673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52"/>
            <p:cNvSpPr/>
            <p:nvPr/>
          </p:nvSpPr>
          <p:spPr>
            <a:xfrm>
              <a:off x="757175" y="2407019"/>
              <a:ext cx="108151" cy="47866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52"/>
            <p:cNvSpPr/>
            <p:nvPr/>
          </p:nvSpPr>
          <p:spPr>
            <a:xfrm>
              <a:off x="862182" y="2445517"/>
              <a:ext cx="20665" cy="22221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52"/>
            <p:cNvSpPr/>
            <p:nvPr/>
          </p:nvSpPr>
          <p:spPr>
            <a:xfrm>
              <a:off x="742797" y="2360366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52"/>
            <p:cNvSpPr/>
            <p:nvPr/>
          </p:nvSpPr>
          <p:spPr>
            <a:xfrm>
              <a:off x="838467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52"/>
            <p:cNvSpPr/>
            <p:nvPr/>
          </p:nvSpPr>
          <p:spPr>
            <a:xfrm>
              <a:off x="638941" y="1849303"/>
              <a:ext cx="75099" cy="295602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52"/>
            <p:cNvSpPr/>
            <p:nvPr/>
          </p:nvSpPr>
          <p:spPr>
            <a:xfrm>
              <a:off x="70741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52"/>
            <p:cNvSpPr/>
            <p:nvPr/>
          </p:nvSpPr>
          <p:spPr>
            <a:xfrm>
              <a:off x="675883" y="2147613"/>
              <a:ext cx="39339" cy="77806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52"/>
            <p:cNvSpPr/>
            <p:nvPr/>
          </p:nvSpPr>
          <p:spPr>
            <a:xfrm>
              <a:off x="656463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52"/>
            <p:cNvSpPr/>
            <p:nvPr/>
          </p:nvSpPr>
          <p:spPr>
            <a:xfrm>
              <a:off x="784407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52"/>
            <p:cNvSpPr/>
            <p:nvPr/>
          </p:nvSpPr>
          <p:spPr>
            <a:xfrm>
              <a:off x="720637" y="2201672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52"/>
            <p:cNvSpPr/>
            <p:nvPr/>
          </p:nvSpPr>
          <p:spPr>
            <a:xfrm>
              <a:off x="720233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52"/>
            <p:cNvSpPr/>
            <p:nvPr/>
          </p:nvSpPr>
          <p:spPr>
            <a:xfrm>
              <a:off x="669659" y="1781643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52"/>
            <p:cNvSpPr/>
            <p:nvPr/>
          </p:nvSpPr>
          <p:spPr>
            <a:xfrm>
              <a:off x="709744" y="1790171"/>
              <a:ext cx="80918" cy="76281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52"/>
            <p:cNvSpPr/>
            <p:nvPr/>
          </p:nvSpPr>
          <p:spPr>
            <a:xfrm>
              <a:off x="719455" y="1833742"/>
              <a:ext cx="58386" cy="44754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52"/>
            <p:cNvSpPr/>
            <p:nvPr/>
          </p:nvSpPr>
          <p:spPr>
            <a:xfrm>
              <a:off x="724123" y="1819364"/>
              <a:ext cx="38530" cy="21786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52"/>
            <p:cNvSpPr/>
            <p:nvPr/>
          </p:nvSpPr>
          <p:spPr>
            <a:xfrm>
              <a:off x="711301" y="2125827"/>
              <a:ext cx="89073" cy="68874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52"/>
            <p:cNvSpPr/>
            <p:nvPr/>
          </p:nvSpPr>
          <p:spPr>
            <a:xfrm>
              <a:off x="806971" y="2567268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52"/>
            <p:cNvSpPr/>
            <p:nvPr/>
          </p:nvSpPr>
          <p:spPr>
            <a:xfrm>
              <a:off x="823310" y="2571532"/>
              <a:ext cx="7407" cy="21039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52"/>
            <p:cNvSpPr/>
            <p:nvPr/>
          </p:nvSpPr>
          <p:spPr>
            <a:xfrm>
              <a:off x="801120" y="2557527"/>
              <a:ext cx="9368" cy="11702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52"/>
            <p:cNvSpPr/>
            <p:nvPr/>
          </p:nvSpPr>
          <p:spPr>
            <a:xfrm>
              <a:off x="808123" y="2534994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52"/>
            <p:cNvSpPr/>
            <p:nvPr/>
          </p:nvSpPr>
          <p:spPr>
            <a:xfrm>
              <a:off x="820198" y="2535368"/>
              <a:ext cx="12854" cy="30376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52"/>
            <p:cNvSpPr/>
            <p:nvPr/>
          </p:nvSpPr>
          <p:spPr>
            <a:xfrm>
              <a:off x="819794" y="2561417"/>
              <a:ext cx="10146" cy="17553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52"/>
            <p:cNvSpPr/>
            <p:nvPr/>
          </p:nvSpPr>
          <p:spPr>
            <a:xfrm>
              <a:off x="831869" y="2554415"/>
              <a:ext cx="15561" cy="17927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9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9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9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3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3" grpId="0" animBg="1"/>
      <p:bldP spid="3952" grpId="0" animBg="1"/>
      <p:bldP spid="3954" grpId="0" animBg="1"/>
      <p:bldP spid="3955" grpId="0" animBg="1"/>
      <p:bldP spid="3956" grpId="0" animBg="1"/>
      <p:bldP spid="39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9" name="Google Shape;4469;p6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Drei Mythen – und was die Quellen sagen</a:t>
            </a:r>
            <a:endParaRPr/>
          </a:p>
        </p:txBody>
      </p:sp>
      <p:graphicFrame>
        <p:nvGraphicFramePr>
          <p:cNvPr id="4470" name="Google Shape;4470;p63"/>
          <p:cNvGraphicFramePr/>
          <p:nvPr/>
        </p:nvGraphicFramePr>
        <p:xfrm>
          <a:off x="713225" y="1362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Edison liess 1903 den Elefanten Topsy töten [23]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über zehn Jahre nach dem Stromkrieg, ohne Edisons Beteiligung [25]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71" name="Google Shape;4471;p63"/>
          <p:cNvGraphicFramePr/>
          <p:nvPr/>
        </p:nvGraphicFramePr>
        <p:xfrm>
          <a:off x="713225" y="2526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Der Stromkrieg war ein Duell «Tesla gegen Edison»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Gestritten haben vor allem Unternehmen und Investoren [2]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72" name="Google Shape;4472;p63"/>
          <p:cNvGraphicFramePr/>
          <p:nvPr/>
        </p:nvGraphicFramePr>
        <p:xfrm>
          <a:off x="713225" y="3689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Tesla zerriss seinen Vertrag mit Westinghouse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Belegt sind nur Lizenzverzicht (1891) und Patentverkauf [4]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Fazit: der erste grosse Standardkrieg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Ironie der Geschichte: Mit Stromrichtern kehrt der Gleichstrom zurück. Die erste kommerzielle Hochspannungs-Gleichstrom-Übertragung (Gotland, 1954) baute ASEA – heute wie die BBC aus Baden Teil von ABB [30].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Gewonnen hat das System, das sich billiger skalieren liess – nicht die bessere Propaganda. Mitgewonnen hat der finanzstarke Grosskonzern: GE und Westinghouse wurden zum Muster des US-Industriekapitalismus [29].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2" grpId="0" animBg="1"/>
      <p:bldP spid="23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38"/>
          <p:cNvSpPr txBox="1">
            <a:spLocks noGrp="1"/>
          </p:cNvSpPr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Diskussion</a:t>
            </a:r>
            <a:endParaRPr/>
          </a:p>
        </p:txBody>
      </p:sp>
      <p:sp>
        <p:nvSpPr>
          <p:cNvPr id="1874" name="Google Shape;1874;p38"/>
          <p:cNvSpPr txBox="1">
            <a:spLocks noGrp="1"/>
          </p:cNvSpPr>
          <p:nvPr>
            <p:ph type="title" idx="2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?</a:t>
            </a:r>
            <a:endParaRPr/>
          </a:p>
        </p:txBody>
      </p:sp>
      <p:sp>
        <p:nvSpPr>
          <p:cNvPr id="1875" name="Google Shape;1875;p38"/>
          <p:cNvSpPr txBox="1">
            <a:spLocks noGrp="1"/>
          </p:cNvSpPr>
          <p:nvPr>
            <p:ph type="subTitle" idx="1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Handout · Fragen und Gruppen 1–3</a:t>
            </a:r>
            <a:endParaRPr/>
          </a:p>
        </p:txBody>
      </p:sp>
      <p:grpSp>
        <p:nvGrpSpPr>
          <p:cNvPr id="1876" name="Google Shape;1876;p38"/>
          <p:cNvGrpSpPr/>
          <p:nvPr/>
        </p:nvGrpSpPr>
        <p:grpSpPr>
          <a:xfrm>
            <a:off x="2361225" y="3355496"/>
            <a:ext cx="4421400" cy="589250"/>
            <a:chOff x="2361225" y="3521900"/>
            <a:chExt cx="4421400" cy="589250"/>
          </a:xfrm>
        </p:grpSpPr>
        <p:cxnSp>
          <p:nvCxnSpPr>
            <p:cNvPr id="1877" name="Google Shape;1877;p3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8" name="Google Shape;1878;p3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79" name="Google Shape;1879;p38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1880" name="Google Shape;1880;p38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8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8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8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8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8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8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8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8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8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8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8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8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8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8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8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8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8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8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8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8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8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8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8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8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8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8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8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8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8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8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8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8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8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8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8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8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8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8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8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8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8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8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8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8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8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8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8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8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8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8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8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8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8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8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8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8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8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8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8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8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8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8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8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8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8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8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8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8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8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8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8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8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8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8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8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8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8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8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8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8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8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8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8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8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8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8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8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8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8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8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8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8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8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8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8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8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8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8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8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8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8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8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8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8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8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8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8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8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8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8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8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8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8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8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8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8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8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8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8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8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8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8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8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8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8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8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8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8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8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8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8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8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8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8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8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8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8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8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8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8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8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8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8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8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8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8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8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8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8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8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8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8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8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8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8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8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8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8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8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8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8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8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8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8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8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8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8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8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8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8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8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8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8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8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8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8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8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8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8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8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8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8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8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8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8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8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8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8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8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8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8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8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8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8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8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8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8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8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8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8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8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8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8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8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8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8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8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8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8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8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8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8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8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8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8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8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8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8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8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8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8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8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8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8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8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8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8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8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8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8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8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8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8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8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8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8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8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8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8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8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8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8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8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8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8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8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8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8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8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8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8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8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8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8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8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8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8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8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8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8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8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8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8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8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8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8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8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8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8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8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8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8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8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8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8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8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8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8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8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8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8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8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8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8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8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8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8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8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8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8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8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8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8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8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8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8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8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8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8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8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8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8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8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8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8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8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8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8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8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8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8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8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8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8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8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8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8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8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8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8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8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8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8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8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8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8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8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8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8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8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8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8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8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8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8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8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8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8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8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8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8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8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8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8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8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8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8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8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8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8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8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8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8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8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8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8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8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8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8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8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8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8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8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8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8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8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8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8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8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8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8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8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8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8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8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8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8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8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8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8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8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8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8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8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8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8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8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8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8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8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8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8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8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8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8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8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8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8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8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8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8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8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8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8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8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1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8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" grpId="0" animBg="1"/>
      <p:bldP spid="1873" grpId="0" animBg="1"/>
      <p:bldP spid="187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Handout S. 1: Strom im Alltag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a) Gleichstrom: Akkus und Batterien (Handy, Laptop, E-Auto), Solarzellen. Wechselstrom: alles direkt an der Steckdose (Kühlschrank, Waschmaschine).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b) Ladestecker für E-Autos in den USA (Tesla gegen CCS), USB-C gegen Lightning; früher VHS gegen Betamax, Blu-ray gegen HD DVD.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a) Welche Geräte in deinem Alltag laufen mit Gleichstrom, welche mit Wechselstrom?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b) Kennst du ein aktuelles Beispiel, bei dem sich Firmen um einen technischen Standard streiten?</a:t>
            </a:r>
            <a:endParaRPr/>
          </a:p>
        </p:txBody>
      </p:sp>
      <p:sp>
        <p:nvSpPr>
          <p:cNvPr id="2343" name="Label links"/>
          <p:cNvSpPr txBox="1"/>
          <p:nvPr/>
        </p:nvSpPr>
        <p:spPr>
          <a:xfrm>
            <a:off x="1143000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Fragen</a:t>
            </a:r>
          </a:p>
        </p:txBody>
      </p:sp>
      <p:sp>
        <p:nvSpPr>
          <p:cNvPr id="2344" name="Label rechts"/>
          <p:cNvSpPr txBox="1"/>
          <p:nvPr/>
        </p:nvSpPr>
        <p:spPr>
          <a:xfrm>
            <a:off x="4828032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Antworten</a:t>
            </a:r>
          </a:p>
        </p:txBody>
      </p:sp>
      <p:cxnSp>
        <p:nvCxnSpPr>
          <p:cNvPr id="2345" name="Connector 2344"/>
          <p:cNvCxnSpPr/>
          <p:nvPr/>
        </p:nvCxnSpPr>
        <p:spPr>
          <a:xfrm>
            <a:off x="4572000" y="1645920"/>
            <a:ext cx="0" cy="2423160"/>
          </a:xfrm>
          <a:prstGeom prst="line">
            <a:avLst/>
          </a:prstGeom>
          <a:ln w="12700">
            <a:solidFill>
              <a:srgbClr val="0A1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Handout S. 2: Bedeutung für die USA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a) Elektromotoren trieben die Fabriken an: 1899 knapp 5 %, 1929 rund 78 % der Antriebsleistung [19]. Mehr Produktivität, neue Industrien.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b) Ruhm reicht nicht: Kosten und Kapital entschieden. J. P. Morgan machte 1892 aus Edisons Firma GE – typisch für das Gilded Age.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a) Warum war billiger Strom für den Aufstieg der USA so wichtig?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b) Edison war der berühmtere Erfinder – trotzdem verlor er. Was sagt das über die Rolle von Geld und Firmen aus?</a:t>
            </a:r>
            <a:endParaRPr/>
          </a:p>
        </p:txBody>
      </p:sp>
      <p:sp>
        <p:nvSpPr>
          <p:cNvPr id="2343" name="Label links"/>
          <p:cNvSpPr txBox="1"/>
          <p:nvPr/>
        </p:nvSpPr>
        <p:spPr>
          <a:xfrm>
            <a:off x="1143000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Fragen</a:t>
            </a:r>
          </a:p>
        </p:txBody>
      </p:sp>
      <p:sp>
        <p:nvSpPr>
          <p:cNvPr id="2344" name="Label rechts"/>
          <p:cNvSpPr txBox="1"/>
          <p:nvPr/>
        </p:nvSpPr>
        <p:spPr>
          <a:xfrm>
            <a:off x="4828032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Antworten</a:t>
            </a:r>
          </a:p>
        </p:txBody>
      </p:sp>
      <p:cxnSp>
        <p:nvCxnSpPr>
          <p:cNvPr id="2345" name="Connector 2344"/>
          <p:cNvCxnSpPr/>
          <p:nvPr/>
        </p:nvCxnSpPr>
        <p:spPr>
          <a:xfrm>
            <a:off x="4572000" y="1645920"/>
            <a:ext cx="0" cy="2423160"/>
          </a:xfrm>
          <a:prstGeom prst="line">
            <a:avLst/>
          </a:prstGeom>
          <a:ln w="12700">
            <a:solidFill>
              <a:srgbClr val="0A1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4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Handout S. 3: Diskussion in Gruppen</a:t>
            </a:r>
            <a:endParaRPr/>
          </a:p>
        </p:txBody>
      </p:sp>
      <p:sp>
        <p:nvSpPr>
          <p:cNvPr id="2379" name="Google Shape;2379;p42"/>
          <p:cNvSpPr txBox="1">
            <a:spLocks noGrp="1"/>
          </p:cNvSpPr>
          <p:nvPr>
            <p:ph type="subTitle" idx="1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Angst als Werbung: Wo arbeiten Werbung oder Kampagnen heute mit Angst?</a:t>
            </a:r>
            <a:endParaRPr/>
          </a:p>
        </p:txBody>
      </p:sp>
      <p:sp>
        <p:nvSpPr>
          <p:cNvPr id="2380" name="Google Shape;2380;p42"/>
          <p:cNvSpPr txBox="1">
            <a:spLocks noGrp="1"/>
          </p:cNvSpPr>
          <p:nvPr>
            <p:ph type="subTitle" idx="2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Elefant Topsy: Warum halten sich falsche Geschichten so lange?</a:t>
            </a:r>
            <a:endParaRPr/>
          </a:p>
        </p:txBody>
      </p:sp>
      <p:sp>
        <p:nvSpPr>
          <p:cNvPr id="2381" name="Google Shape;2381;p42"/>
          <p:cNvSpPr txBox="1">
            <a:spLocks noGrp="1"/>
          </p:cNvSpPr>
          <p:nvPr>
            <p:ph type="subTitle" idx="3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Standardkriege: Wer gewinnt – die bessere Technik oder die stärkere Firma?</a:t>
            </a:r>
            <a:endParaRPr/>
          </a:p>
        </p:txBody>
      </p:sp>
      <p:sp>
        <p:nvSpPr>
          <p:cNvPr id="2382" name="Google Shape;2382;p42"/>
          <p:cNvSpPr txBox="1">
            <a:spLocks noGrp="1"/>
          </p:cNvSpPr>
          <p:nvPr>
            <p:ph type="subTitle" idx="4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1</a:t>
            </a:r>
            <a:endParaRPr/>
          </a:p>
        </p:txBody>
      </p:sp>
      <p:sp>
        <p:nvSpPr>
          <p:cNvPr id="2383" name="Google Shape;2383;p42"/>
          <p:cNvSpPr txBox="1">
            <a:spLocks noGrp="1"/>
          </p:cNvSpPr>
          <p:nvPr>
            <p:ph type="subTitle" idx="5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2</a:t>
            </a:r>
            <a:endParaRPr/>
          </a:p>
        </p:txBody>
      </p:sp>
      <p:sp>
        <p:nvSpPr>
          <p:cNvPr id="2384" name="Google Shape;2384;p42"/>
          <p:cNvSpPr txBox="1">
            <a:spLocks noGrp="1"/>
          </p:cNvSpPr>
          <p:nvPr>
            <p:ph type="subTitle" idx="6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3</a:t>
            </a:r>
            <a:endParaRPr/>
          </a:p>
        </p:txBody>
      </p:sp>
      <p:grpSp>
        <p:nvGrpSpPr>
          <p:cNvPr id="2385" name="Google Shape;2385;p42"/>
          <p:cNvGrpSpPr/>
          <p:nvPr/>
        </p:nvGrpSpPr>
        <p:grpSpPr>
          <a:xfrm>
            <a:off x="1652989" y="1824750"/>
            <a:ext cx="744564" cy="624959"/>
            <a:chOff x="2361225" y="3521900"/>
            <a:chExt cx="4421400" cy="589250"/>
          </a:xfrm>
        </p:grpSpPr>
        <p:cxnSp>
          <p:nvCxnSpPr>
            <p:cNvPr id="2386" name="Google Shape;2386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7" name="Google Shape;2387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88" name="Google Shape;2388;p42"/>
          <p:cNvGrpSpPr/>
          <p:nvPr/>
        </p:nvGrpSpPr>
        <p:grpSpPr>
          <a:xfrm>
            <a:off x="4199714" y="1824750"/>
            <a:ext cx="744564" cy="624959"/>
            <a:chOff x="2361225" y="3521900"/>
            <a:chExt cx="4421400" cy="589250"/>
          </a:xfrm>
        </p:grpSpPr>
        <p:cxnSp>
          <p:nvCxnSpPr>
            <p:cNvPr id="2389" name="Google Shape;2389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0" name="Google Shape;2390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1" name="Google Shape;2391;p42"/>
          <p:cNvGrpSpPr/>
          <p:nvPr/>
        </p:nvGrpSpPr>
        <p:grpSpPr>
          <a:xfrm>
            <a:off x="6746439" y="1824750"/>
            <a:ext cx="744564" cy="624959"/>
            <a:chOff x="2361225" y="3521900"/>
            <a:chExt cx="4421400" cy="589250"/>
          </a:xfrm>
        </p:grpSpPr>
        <p:cxnSp>
          <p:nvCxnSpPr>
            <p:cNvPr id="2392" name="Google Shape;2392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3" name="Google Shape;2393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4" name="Google Shape;2394;p42"/>
          <p:cNvGrpSpPr/>
          <p:nvPr/>
        </p:nvGrpSpPr>
        <p:grpSpPr>
          <a:xfrm>
            <a:off x="1852843" y="1984131"/>
            <a:ext cx="340186" cy="318904"/>
            <a:chOff x="3865000" y="847675"/>
            <a:chExt cx="483150" cy="452925"/>
          </a:xfrm>
        </p:grpSpPr>
        <p:sp>
          <p:nvSpPr>
            <p:cNvPr id="2395" name="Google Shape;2395;p42"/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6" name="Google Shape;2396;p42"/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7" name="Google Shape;2397;p42"/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8" name="Google Shape;2398;p42"/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99" name="Google Shape;2399;p42"/>
          <p:cNvSpPr/>
          <p:nvPr/>
        </p:nvSpPr>
        <p:spPr>
          <a:xfrm>
            <a:off x="4401877" y="1973492"/>
            <a:ext cx="340239" cy="340168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400" name="Google Shape;2400;p42"/>
          <p:cNvGrpSpPr/>
          <p:nvPr/>
        </p:nvGrpSpPr>
        <p:grpSpPr>
          <a:xfrm>
            <a:off x="6950973" y="2050591"/>
            <a:ext cx="335504" cy="185953"/>
            <a:chOff x="896050" y="2725450"/>
            <a:chExt cx="476500" cy="264100"/>
          </a:xfrm>
        </p:grpSpPr>
        <p:sp>
          <p:nvSpPr>
            <p:cNvPr id="2401" name="Google Shape;2401;p42"/>
            <p:cNvSpPr/>
            <p:nvPr/>
          </p:nvSpPr>
          <p:spPr>
            <a:xfrm>
              <a:off x="896050" y="2725450"/>
              <a:ext cx="476500" cy="264100"/>
            </a:xfrm>
            <a:custGeom>
              <a:avLst/>
              <a:gdLst/>
              <a:ahLst/>
              <a:cxnLst/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2" name="Google Shape;2402;p42"/>
            <p:cNvSpPr/>
            <p:nvPr/>
          </p:nvSpPr>
          <p:spPr>
            <a:xfrm>
              <a:off x="951625" y="2774675"/>
              <a:ext cx="365450" cy="165650"/>
            </a:xfrm>
            <a:custGeom>
              <a:avLst/>
              <a:gdLst/>
              <a:ahLst/>
              <a:cxnLst/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3" name="Google Shape;2403;p42"/>
            <p:cNvSpPr/>
            <p:nvPr/>
          </p:nvSpPr>
          <p:spPr>
            <a:xfrm>
              <a:off x="1088625" y="2815075"/>
              <a:ext cx="88200" cy="84850"/>
            </a:xfrm>
            <a:custGeom>
              <a:avLst/>
              <a:gdLst/>
              <a:ahLst/>
              <a:cxnLst/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2" grpId="0" animBg="1"/>
      <p:bldP spid="2379" grpId="0" animBg="1"/>
      <p:bldP spid="2383" grpId="0" animBg="1"/>
      <p:bldP spid="2380" grpId="0" animBg="1"/>
      <p:bldP spid="2384" grpId="0" animBg="1"/>
      <p:bldP spid="23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1: Angst als Werbung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Beispiele: Werbung gegen Konkurrenzprodukte, Angstkampagnen im Wahlkampf, Debatten über Handystrahlung (5G).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Angst wirkt kurzfristig, setzt sich aber selten gegen klaren Nutzen und tiefere Kosten durch.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Genau so scheiterte Edisons Kampagne [10].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Edison tötete Tiere, um Wechselstrom gefährlich wirken zu lassen. Wo arbeiten Werbung oder Kampagnen heute mit Angst?</a:t>
            </a:r>
            <a:endParaRPr/>
          </a:p>
        </p:txBody>
      </p:sp>
      <p:sp>
        <p:nvSpPr>
          <p:cNvPr id="2343" name="Label links"/>
          <p:cNvSpPr txBox="1"/>
          <p:nvPr/>
        </p:nvSpPr>
        <p:spPr>
          <a:xfrm>
            <a:off x="1143000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Auftrag</a:t>
            </a:r>
          </a:p>
        </p:txBody>
      </p:sp>
      <p:sp>
        <p:nvSpPr>
          <p:cNvPr id="2344" name="Label rechts"/>
          <p:cNvSpPr txBox="1"/>
          <p:nvPr/>
        </p:nvSpPr>
        <p:spPr>
          <a:xfrm>
            <a:off x="4828032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Lösung</a:t>
            </a:r>
          </a:p>
        </p:txBody>
      </p:sp>
      <p:cxnSp>
        <p:nvCxnSpPr>
          <p:cNvPr id="2345" name="Connector 2344"/>
          <p:cNvCxnSpPr/>
          <p:nvPr/>
        </p:nvCxnSpPr>
        <p:spPr>
          <a:xfrm>
            <a:off x="4572000" y="1645920"/>
            <a:ext cx="0" cy="2423160"/>
          </a:xfrm>
          <a:prstGeom prst="line">
            <a:avLst/>
          </a:prstGeom>
          <a:ln w="12700">
            <a:solidFill>
              <a:srgbClr val="0A1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2: Der Elefant Topsy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Die Geschichte hat einen klaren Bösewicht und bleibt hängen.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Edisons Filmfirma filmte die Tötung 1903. Das wirkt wie ein Beweis, ist aber keiner [25].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Websites und Firmen übernehmen sie ungeprüft. Lehre: Primärquellen prüfen.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Ein ABB-Artikel behauptet, Edison habe einen Elefanten töten lassen. Warum halten sich solche Geschichten so lange?</a:t>
            </a:r>
            <a:endParaRPr/>
          </a:p>
        </p:txBody>
      </p:sp>
      <p:sp>
        <p:nvSpPr>
          <p:cNvPr id="2343" name="Label links"/>
          <p:cNvSpPr txBox="1"/>
          <p:nvPr/>
        </p:nvSpPr>
        <p:spPr>
          <a:xfrm>
            <a:off x="1143000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Auftrag</a:t>
            </a:r>
          </a:p>
        </p:txBody>
      </p:sp>
      <p:sp>
        <p:nvSpPr>
          <p:cNvPr id="2344" name="Label rechts"/>
          <p:cNvSpPr txBox="1"/>
          <p:nvPr/>
        </p:nvSpPr>
        <p:spPr>
          <a:xfrm>
            <a:off x="4828032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Lösung</a:t>
            </a:r>
          </a:p>
        </p:txBody>
      </p:sp>
      <p:cxnSp>
        <p:nvCxnSpPr>
          <p:cNvPr id="2345" name="Connector 2344"/>
          <p:cNvCxnSpPr/>
          <p:nvPr/>
        </p:nvCxnSpPr>
        <p:spPr>
          <a:xfrm>
            <a:off x="4572000" y="1645920"/>
            <a:ext cx="0" cy="2423160"/>
          </a:xfrm>
          <a:prstGeom prst="line">
            <a:avLst/>
          </a:prstGeom>
          <a:ln w="12700">
            <a:solidFill>
              <a:srgbClr val="0A1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Gruppe 3: Standardkriege heute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Beispiele: VHS gegen Betamax, Blu-ray gegen HD DVD, Ladestecker, iOS gegen Android.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Oft gewinnt, wer mehr Partner, tiefere Kosten und mehr Kapital 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Ein gesetzter Standard bleibt lange: Pfadabhängigkeit [15]. Beim Stromkrieg sprachen Technik und Kosten für den Wechselstrom.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965960"/>
            <a:ext cx="3174000" cy="2148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Welche Standardkriege kennt ihr heute? Wer gewinnt meistens – die bessere Technik oder die stärkere Firma?</a:t>
            </a:r>
            <a:endParaRPr/>
          </a:p>
        </p:txBody>
      </p:sp>
      <p:sp>
        <p:nvSpPr>
          <p:cNvPr id="2343" name="Label links"/>
          <p:cNvSpPr txBox="1"/>
          <p:nvPr/>
        </p:nvSpPr>
        <p:spPr>
          <a:xfrm>
            <a:off x="1143000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Auftrag</a:t>
            </a:r>
          </a:p>
        </p:txBody>
      </p:sp>
      <p:sp>
        <p:nvSpPr>
          <p:cNvPr id="2344" name="Label rechts"/>
          <p:cNvSpPr txBox="1"/>
          <p:nvPr/>
        </p:nvSpPr>
        <p:spPr>
          <a:xfrm>
            <a:off x="4828032" y="1572768"/>
            <a:ext cx="3172968" cy="329184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0A1A35"/>
                </a:solidFill>
                <a:latin typeface="Libre Baskerville"/>
              </a:rPr>
              <a:t>Lösung</a:t>
            </a:r>
          </a:p>
        </p:txBody>
      </p:sp>
      <p:cxnSp>
        <p:nvCxnSpPr>
          <p:cNvPr id="2345" name="Connector 2344"/>
          <p:cNvCxnSpPr/>
          <p:nvPr/>
        </p:nvCxnSpPr>
        <p:spPr>
          <a:xfrm>
            <a:off x="4572000" y="1645920"/>
            <a:ext cx="0" cy="2423160"/>
          </a:xfrm>
          <a:prstGeom prst="line">
            <a:avLst/>
          </a:prstGeom>
          <a:ln w="12700">
            <a:solidFill>
              <a:srgbClr val="0A1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" name="Google Shape;4515;p68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Danke!</a:t>
            </a:r>
            <a:endParaRPr/>
          </a:p>
        </p:txBody>
      </p:sp>
      <p:sp>
        <p:nvSpPr>
          <p:cNvPr id="4516" name="Google Shape;4516;p68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Fragen?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Simon Bruder · Modul «Weltmacht USA» (FHNW)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Dozent: Stephan Schwarz · 10.12.2026</a:t>
            </a:r>
            <a:endParaRPr/>
          </a:p>
        </p:txBody>
      </p:sp>
      <p:sp>
        <p:nvSpPr>
          <p:cNvPr id="4517" name="Google Shape;4517;p68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Please keep this slide for attribution</a:t>
            </a:r>
            <a:endParaRPr sz="1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4518" name="Google Shape;4518;p68"/>
          <p:cNvGrpSpPr/>
          <p:nvPr/>
        </p:nvGrpSpPr>
        <p:grpSpPr>
          <a:xfrm>
            <a:off x="565056" y="519563"/>
            <a:ext cx="8012737" cy="4104778"/>
            <a:chOff x="565056" y="519563"/>
            <a:chExt cx="8012737" cy="4104778"/>
          </a:xfrm>
        </p:grpSpPr>
        <p:sp>
          <p:nvSpPr>
            <p:cNvPr id="4519" name="Google Shape;4519;p68"/>
            <p:cNvSpPr/>
            <p:nvPr/>
          </p:nvSpPr>
          <p:spPr>
            <a:xfrm>
              <a:off x="881261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68"/>
            <p:cNvSpPr/>
            <p:nvPr/>
          </p:nvSpPr>
          <p:spPr>
            <a:xfrm>
              <a:off x="887080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68"/>
            <p:cNvSpPr/>
            <p:nvPr/>
          </p:nvSpPr>
          <p:spPr>
            <a:xfrm>
              <a:off x="954772" y="700790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68"/>
            <p:cNvSpPr/>
            <p:nvPr/>
          </p:nvSpPr>
          <p:spPr>
            <a:xfrm>
              <a:off x="1012317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68"/>
            <p:cNvSpPr/>
            <p:nvPr/>
          </p:nvSpPr>
          <p:spPr>
            <a:xfrm>
              <a:off x="772736" y="567399"/>
              <a:ext cx="257508" cy="129532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68"/>
            <p:cNvSpPr/>
            <p:nvPr/>
          </p:nvSpPr>
          <p:spPr>
            <a:xfrm>
              <a:off x="1096722" y="573623"/>
              <a:ext cx="110485" cy="99592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68"/>
            <p:cNvSpPr/>
            <p:nvPr/>
          </p:nvSpPr>
          <p:spPr>
            <a:xfrm>
              <a:off x="1234781" y="606271"/>
              <a:ext cx="41642" cy="5449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68"/>
            <p:cNvSpPr/>
            <p:nvPr/>
          </p:nvSpPr>
          <p:spPr>
            <a:xfrm>
              <a:off x="748616" y="63116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68"/>
            <p:cNvSpPr/>
            <p:nvPr/>
          </p:nvSpPr>
          <p:spPr>
            <a:xfrm>
              <a:off x="843540" y="609788"/>
              <a:ext cx="96853" cy="140829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68"/>
            <p:cNvSpPr/>
            <p:nvPr/>
          </p:nvSpPr>
          <p:spPr>
            <a:xfrm>
              <a:off x="822906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68"/>
            <p:cNvSpPr/>
            <p:nvPr/>
          </p:nvSpPr>
          <p:spPr>
            <a:xfrm>
              <a:off x="883595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68"/>
            <p:cNvSpPr/>
            <p:nvPr/>
          </p:nvSpPr>
          <p:spPr>
            <a:xfrm>
              <a:off x="1048108" y="720241"/>
              <a:ext cx="12076" cy="859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68"/>
            <p:cNvSpPr/>
            <p:nvPr/>
          </p:nvSpPr>
          <p:spPr>
            <a:xfrm>
              <a:off x="871924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68"/>
            <p:cNvSpPr/>
            <p:nvPr/>
          </p:nvSpPr>
          <p:spPr>
            <a:xfrm>
              <a:off x="845470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68"/>
            <p:cNvSpPr/>
            <p:nvPr/>
          </p:nvSpPr>
          <p:spPr>
            <a:xfrm>
              <a:off x="790227" y="630017"/>
              <a:ext cx="91064" cy="28041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68"/>
            <p:cNvSpPr/>
            <p:nvPr/>
          </p:nvSpPr>
          <p:spPr>
            <a:xfrm>
              <a:off x="791410" y="637020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68"/>
            <p:cNvSpPr/>
            <p:nvPr/>
          </p:nvSpPr>
          <p:spPr>
            <a:xfrm>
              <a:off x="980821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68"/>
            <p:cNvSpPr/>
            <p:nvPr/>
          </p:nvSpPr>
          <p:spPr>
            <a:xfrm>
              <a:off x="974597" y="579848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68"/>
            <p:cNvSpPr/>
            <p:nvPr/>
          </p:nvSpPr>
          <p:spPr>
            <a:xfrm>
              <a:off x="1313739" y="653733"/>
              <a:ext cx="103482" cy="33488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68"/>
            <p:cNvSpPr/>
            <p:nvPr/>
          </p:nvSpPr>
          <p:spPr>
            <a:xfrm>
              <a:off x="1314143" y="659552"/>
              <a:ext cx="125237" cy="38561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68"/>
            <p:cNvSpPr/>
            <p:nvPr/>
          </p:nvSpPr>
          <p:spPr>
            <a:xfrm>
              <a:off x="565056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68"/>
            <p:cNvSpPr/>
            <p:nvPr/>
          </p:nvSpPr>
          <p:spPr>
            <a:xfrm>
              <a:off x="785963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68"/>
            <p:cNvSpPr/>
            <p:nvPr/>
          </p:nvSpPr>
          <p:spPr>
            <a:xfrm>
              <a:off x="759136" y="915099"/>
              <a:ext cx="96075" cy="91033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68"/>
            <p:cNvSpPr/>
            <p:nvPr/>
          </p:nvSpPr>
          <p:spPr>
            <a:xfrm>
              <a:off x="847399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68"/>
            <p:cNvSpPr/>
            <p:nvPr/>
          </p:nvSpPr>
          <p:spPr>
            <a:xfrm>
              <a:off x="625340" y="733064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68"/>
            <p:cNvSpPr/>
            <p:nvPr/>
          </p:nvSpPr>
          <p:spPr>
            <a:xfrm>
              <a:off x="631565" y="1057049"/>
              <a:ext cx="101522" cy="110111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68"/>
            <p:cNvSpPr/>
            <p:nvPr/>
          </p:nvSpPr>
          <p:spPr>
            <a:xfrm>
              <a:off x="664243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68"/>
            <p:cNvSpPr/>
            <p:nvPr/>
          </p:nvSpPr>
          <p:spPr>
            <a:xfrm>
              <a:off x="689110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68"/>
            <p:cNvSpPr/>
            <p:nvPr/>
          </p:nvSpPr>
          <p:spPr>
            <a:xfrm>
              <a:off x="668103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68"/>
            <p:cNvSpPr/>
            <p:nvPr/>
          </p:nvSpPr>
          <p:spPr>
            <a:xfrm>
              <a:off x="794118" y="782860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68"/>
            <p:cNvSpPr/>
            <p:nvPr/>
          </p:nvSpPr>
          <p:spPr>
            <a:xfrm>
              <a:off x="815125" y="843518"/>
              <a:ext cx="12480" cy="7438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68"/>
            <p:cNvSpPr/>
            <p:nvPr/>
          </p:nvSpPr>
          <p:spPr>
            <a:xfrm>
              <a:off x="778183" y="1008062"/>
              <a:ext cx="8963" cy="12449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68"/>
            <p:cNvSpPr/>
            <p:nvPr/>
          </p:nvSpPr>
          <p:spPr>
            <a:xfrm>
              <a:off x="616782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68"/>
            <p:cNvSpPr/>
            <p:nvPr/>
          </p:nvSpPr>
          <p:spPr>
            <a:xfrm>
              <a:off x="616782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68"/>
            <p:cNvSpPr/>
            <p:nvPr/>
          </p:nvSpPr>
          <p:spPr>
            <a:xfrm>
              <a:off x="688332" y="750586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68"/>
            <p:cNvSpPr/>
            <p:nvPr/>
          </p:nvSpPr>
          <p:spPr>
            <a:xfrm>
              <a:off x="695335" y="751737"/>
              <a:ext cx="29597" cy="87921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68"/>
            <p:cNvSpPr/>
            <p:nvPr/>
          </p:nvSpPr>
          <p:spPr>
            <a:xfrm>
              <a:off x="635455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68"/>
            <p:cNvSpPr/>
            <p:nvPr/>
          </p:nvSpPr>
          <p:spPr>
            <a:xfrm>
              <a:off x="635828" y="928700"/>
              <a:ext cx="69652" cy="26081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68"/>
            <p:cNvSpPr/>
            <p:nvPr/>
          </p:nvSpPr>
          <p:spPr>
            <a:xfrm>
              <a:off x="712079" y="1274066"/>
              <a:ext cx="33457" cy="103109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68"/>
            <p:cNvSpPr/>
            <p:nvPr/>
          </p:nvSpPr>
          <p:spPr>
            <a:xfrm>
              <a:off x="717899" y="1274066"/>
              <a:ext cx="38530" cy="125673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68"/>
            <p:cNvSpPr/>
            <p:nvPr/>
          </p:nvSpPr>
          <p:spPr>
            <a:xfrm>
              <a:off x="940362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68"/>
            <p:cNvSpPr/>
            <p:nvPr/>
          </p:nvSpPr>
          <p:spPr>
            <a:xfrm>
              <a:off x="948547" y="885159"/>
              <a:ext cx="73138" cy="18674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68"/>
            <p:cNvSpPr/>
            <p:nvPr/>
          </p:nvSpPr>
          <p:spPr>
            <a:xfrm>
              <a:off x="990158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68"/>
            <p:cNvSpPr/>
            <p:nvPr/>
          </p:nvSpPr>
          <p:spPr>
            <a:xfrm>
              <a:off x="939989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68"/>
            <p:cNvSpPr/>
            <p:nvPr/>
          </p:nvSpPr>
          <p:spPr>
            <a:xfrm>
              <a:off x="952811" y="918585"/>
              <a:ext cx="21412" cy="43198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68"/>
            <p:cNvSpPr/>
            <p:nvPr/>
          </p:nvSpPr>
          <p:spPr>
            <a:xfrm>
              <a:off x="966412" y="916655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68"/>
            <p:cNvSpPr/>
            <p:nvPr/>
          </p:nvSpPr>
          <p:spPr>
            <a:xfrm>
              <a:off x="975748" y="906136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68"/>
            <p:cNvSpPr/>
            <p:nvPr/>
          </p:nvSpPr>
          <p:spPr>
            <a:xfrm>
              <a:off x="978083" y="906541"/>
              <a:ext cx="21443" cy="859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68"/>
            <p:cNvSpPr/>
            <p:nvPr/>
          </p:nvSpPr>
          <p:spPr>
            <a:xfrm>
              <a:off x="988976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68"/>
            <p:cNvSpPr/>
            <p:nvPr/>
          </p:nvSpPr>
          <p:spPr>
            <a:xfrm>
              <a:off x="7566560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68"/>
            <p:cNvSpPr/>
            <p:nvPr/>
          </p:nvSpPr>
          <p:spPr>
            <a:xfrm>
              <a:off x="8021602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68"/>
            <p:cNvSpPr/>
            <p:nvPr/>
          </p:nvSpPr>
          <p:spPr>
            <a:xfrm>
              <a:off x="8087707" y="700790"/>
              <a:ext cx="91438" cy="96106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68"/>
            <p:cNvSpPr/>
            <p:nvPr/>
          </p:nvSpPr>
          <p:spPr>
            <a:xfrm>
              <a:off x="8121568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68"/>
            <p:cNvSpPr/>
            <p:nvPr/>
          </p:nvSpPr>
          <p:spPr>
            <a:xfrm>
              <a:off x="8104046" y="567399"/>
              <a:ext cx="257134" cy="129532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68"/>
            <p:cNvSpPr/>
            <p:nvPr/>
          </p:nvSpPr>
          <p:spPr>
            <a:xfrm>
              <a:off x="7927083" y="573623"/>
              <a:ext cx="110111" cy="99592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68"/>
            <p:cNvSpPr/>
            <p:nvPr/>
          </p:nvSpPr>
          <p:spPr>
            <a:xfrm>
              <a:off x="7857867" y="606271"/>
              <a:ext cx="41237" cy="5449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68"/>
            <p:cNvSpPr/>
            <p:nvPr/>
          </p:nvSpPr>
          <p:spPr>
            <a:xfrm>
              <a:off x="8345588" y="631169"/>
              <a:ext cx="39681" cy="39712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68"/>
            <p:cNvSpPr/>
            <p:nvPr/>
          </p:nvSpPr>
          <p:spPr>
            <a:xfrm>
              <a:off x="8193897" y="60978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68"/>
            <p:cNvSpPr/>
            <p:nvPr/>
          </p:nvSpPr>
          <p:spPr>
            <a:xfrm>
              <a:off x="8272854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68"/>
            <p:cNvSpPr/>
            <p:nvPr/>
          </p:nvSpPr>
          <p:spPr>
            <a:xfrm>
              <a:off x="8243288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68"/>
            <p:cNvSpPr/>
            <p:nvPr/>
          </p:nvSpPr>
          <p:spPr>
            <a:xfrm>
              <a:off x="8073733" y="720241"/>
              <a:ext cx="12449" cy="859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68"/>
            <p:cNvSpPr/>
            <p:nvPr/>
          </p:nvSpPr>
          <p:spPr>
            <a:xfrm>
              <a:off x="8066730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68"/>
            <p:cNvSpPr/>
            <p:nvPr/>
          </p:nvSpPr>
          <p:spPr>
            <a:xfrm>
              <a:off x="8247178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68"/>
            <p:cNvSpPr/>
            <p:nvPr/>
          </p:nvSpPr>
          <p:spPr>
            <a:xfrm>
              <a:off x="8253029" y="630017"/>
              <a:ext cx="90629" cy="28041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68"/>
            <p:cNvSpPr/>
            <p:nvPr/>
          </p:nvSpPr>
          <p:spPr>
            <a:xfrm>
              <a:off x="8254959" y="637020"/>
              <a:ext cx="87548" cy="29193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68"/>
            <p:cNvSpPr/>
            <p:nvPr/>
          </p:nvSpPr>
          <p:spPr>
            <a:xfrm>
              <a:off x="8130500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68"/>
            <p:cNvSpPr/>
            <p:nvPr/>
          </p:nvSpPr>
          <p:spPr>
            <a:xfrm>
              <a:off x="8139432" y="579848"/>
              <a:ext cx="19887" cy="67691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68"/>
            <p:cNvSpPr/>
            <p:nvPr/>
          </p:nvSpPr>
          <p:spPr>
            <a:xfrm>
              <a:off x="7716695" y="653733"/>
              <a:ext cx="103078" cy="33488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68"/>
            <p:cNvSpPr/>
            <p:nvPr/>
          </p:nvSpPr>
          <p:spPr>
            <a:xfrm>
              <a:off x="7694505" y="65955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68"/>
            <p:cNvSpPr/>
            <p:nvPr/>
          </p:nvSpPr>
          <p:spPr>
            <a:xfrm>
              <a:off x="8319912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68"/>
            <p:cNvSpPr/>
            <p:nvPr/>
          </p:nvSpPr>
          <p:spPr>
            <a:xfrm>
              <a:off x="8196635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68"/>
            <p:cNvSpPr/>
            <p:nvPr/>
          </p:nvSpPr>
          <p:spPr>
            <a:xfrm>
              <a:off x="8278674" y="915099"/>
              <a:ext cx="96106" cy="91033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68"/>
            <p:cNvSpPr/>
            <p:nvPr/>
          </p:nvSpPr>
          <p:spPr>
            <a:xfrm>
              <a:off x="8286455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68"/>
            <p:cNvSpPr/>
            <p:nvPr/>
          </p:nvSpPr>
          <p:spPr>
            <a:xfrm>
              <a:off x="8379013" y="733064"/>
              <a:ext cx="129563" cy="257134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68"/>
            <p:cNvSpPr/>
            <p:nvPr/>
          </p:nvSpPr>
          <p:spPr>
            <a:xfrm>
              <a:off x="8400799" y="1057049"/>
              <a:ext cx="101553" cy="110111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68"/>
            <p:cNvSpPr/>
            <p:nvPr/>
          </p:nvSpPr>
          <p:spPr>
            <a:xfrm>
              <a:off x="8414804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68"/>
            <p:cNvSpPr/>
            <p:nvPr/>
          </p:nvSpPr>
          <p:spPr>
            <a:xfrm>
              <a:off x="8404689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68"/>
            <p:cNvSpPr/>
            <p:nvPr/>
          </p:nvSpPr>
          <p:spPr>
            <a:xfrm>
              <a:off x="8325358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68"/>
            <p:cNvSpPr/>
            <p:nvPr/>
          </p:nvSpPr>
          <p:spPr>
            <a:xfrm>
              <a:off x="8299308" y="782860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68"/>
            <p:cNvSpPr/>
            <p:nvPr/>
          </p:nvSpPr>
          <p:spPr>
            <a:xfrm>
              <a:off x="8306311" y="843518"/>
              <a:ext cx="12449" cy="7438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68"/>
            <p:cNvSpPr/>
            <p:nvPr/>
          </p:nvSpPr>
          <p:spPr>
            <a:xfrm>
              <a:off x="8346739" y="1008062"/>
              <a:ext cx="8994" cy="12449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68"/>
            <p:cNvSpPr/>
            <p:nvPr/>
          </p:nvSpPr>
          <p:spPr>
            <a:xfrm>
              <a:off x="8482495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68"/>
            <p:cNvSpPr/>
            <p:nvPr/>
          </p:nvSpPr>
          <p:spPr>
            <a:xfrm>
              <a:off x="8478605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68"/>
            <p:cNvSpPr/>
            <p:nvPr/>
          </p:nvSpPr>
          <p:spPr>
            <a:xfrm>
              <a:off x="8417543" y="750586"/>
              <a:ext cx="28010" cy="90629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68"/>
            <p:cNvSpPr/>
            <p:nvPr/>
          </p:nvSpPr>
          <p:spPr>
            <a:xfrm>
              <a:off x="8408984" y="751737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68"/>
            <p:cNvSpPr/>
            <p:nvPr/>
          </p:nvSpPr>
          <p:spPr>
            <a:xfrm>
              <a:off x="8427658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68"/>
            <p:cNvSpPr/>
            <p:nvPr/>
          </p:nvSpPr>
          <p:spPr>
            <a:xfrm>
              <a:off x="8428031" y="928326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68"/>
            <p:cNvSpPr/>
            <p:nvPr/>
          </p:nvSpPr>
          <p:spPr>
            <a:xfrm>
              <a:off x="8388350" y="1274066"/>
              <a:ext cx="33488" cy="103109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68"/>
            <p:cNvSpPr/>
            <p:nvPr/>
          </p:nvSpPr>
          <p:spPr>
            <a:xfrm>
              <a:off x="8377457" y="1274066"/>
              <a:ext cx="38561" cy="125673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68"/>
            <p:cNvSpPr/>
            <p:nvPr/>
          </p:nvSpPr>
          <p:spPr>
            <a:xfrm>
              <a:off x="8183004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68"/>
            <p:cNvSpPr/>
            <p:nvPr/>
          </p:nvSpPr>
          <p:spPr>
            <a:xfrm>
              <a:off x="8112231" y="885159"/>
              <a:ext cx="73542" cy="18674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68"/>
            <p:cNvSpPr/>
            <p:nvPr/>
          </p:nvSpPr>
          <p:spPr>
            <a:xfrm>
              <a:off x="8112231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68"/>
            <p:cNvSpPr/>
            <p:nvPr/>
          </p:nvSpPr>
          <p:spPr>
            <a:xfrm>
              <a:off x="8160844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68"/>
            <p:cNvSpPr/>
            <p:nvPr/>
          </p:nvSpPr>
          <p:spPr>
            <a:xfrm>
              <a:off x="8159662" y="918585"/>
              <a:ext cx="21443" cy="43198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68"/>
            <p:cNvSpPr/>
            <p:nvPr/>
          </p:nvSpPr>
          <p:spPr>
            <a:xfrm>
              <a:off x="8139432" y="916655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68"/>
            <p:cNvSpPr/>
            <p:nvPr/>
          </p:nvSpPr>
          <p:spPr>
            <a:xfrm>
              <a:off x="8138281" y="906136"/>
              <a:ext cx="19483" cy="23778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68"/>
            <p:cNvSpPr/>
            <p:nvPr/>
          </p:nvSpPr>
          <p:spPr>
            <a:xfrm>
              <a:off x="8134390" y="906541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68"/>
            <p:cNvSpPr/>
            <p:nvPr/>
          </p:nvSpPr>
          <p:spPr>
            <a:xfrm>
              <a:off x="8109492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68"/>
            <p:cNvSpPr/>
            <p:nvPr/>
          </p:nvSpPr>
          <p:spPr>
            <a:xfrm>
              <a:off x="7575897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68"/>
            <p:cNvSpPr/>
            <p:nvPr/>
          </p:nvSpPr>
          <p:spPr>
            <a:xfrm>
              <a:off x="8030534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68"/>
            <p:cNvSpPr/>
            <p:nvPr/>
          </p:nvSpPr>
          <p:spPr>
            <a:xfrm>
              <a:off x="8097448" y="4346604"/>
              <a:ext cx="90660" cy="96106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68"/>
            <p:cNvSpPr/>
            <p:nvPr/>
          </p:nvSpPr>
          <p:spPr>
            <a:xfrm>
              <a:off x="8130500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68"/>
            <p:cNvSpPr/>
            <p:nvPr/>
          </p:nvSpPr>
          <p:spPr>
            <a:xfrm>
              <a:off x="8113383" y="4446943"/>
              <a:ext cx="257134" cy="129158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68"/>
            <p:cNvSpPr/>
            <p:nvPr/>
          </p:nvSpPr>
          <p:spPr>
            <a:xfrm>
              <a:off x="7936047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68"/>
            <p:cNvSpPr/>
            <p:nvPr/>
          </p:nvSpPr>
          <p:spPr>
            <a:xfrm>
              <a:off x="7866799" y="4483138"/>
              <a:ext cx="41268" cy="54091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68"/>
            <p:cNvSpPr/>
            <p:nvPr/>
          </p:nvSpPr>
          <p:spPr>
            <a:xfrm>
              <a:off x="8354520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68"/>
            <p:cNvSpPr/>
            <p:nvPr/>
          </p:nvSpPr>
          <p:spPr>
            <a:xfrm>
              <a:off x="8202829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68"/>
            <p:cNvSpPr/>
            <p:nvPr/>
          </p:nvSpPr>
          <p:spPr>
            <a:xfrm>
              <a:off x="8281786" y="4367238"/>
              <a:ext cx="38156" cy="40459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68"/>
            <p:cNvSpPr/>
            <p:nvPr/>
          </p:nvSpPr>
          <p:spPr>
            <a:xfrm>
              <a:off x="8252625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68"/>
            <p:cNvSpPr/>
            <p:nvPr/>
          </p:nvSpPr>
          <p:spPr>
            <a:xfrm>
              <a:off x="8082665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68"/>
            <p:cNvSpPr/>
            <p:nvPr/>
          </p:nvSpPr>
          <p:spPr>
            <a:xfrm>
              <a:off x="8075662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68"/>
            <p:cNvSpPr/>
            <p:nvPr/>
          </p:nvSpPr>
          <p:spPr>
            <a:xfrm>
              <a:off x="8256515" y="4546535"/>
              <a:ext cx="40864" cy="38903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68"/>
            <p:cNvSpPr/>
            <p:nvPr/>
          </p:nvSpPr>
          <p:spPr>
            <a:xfrm>
              <a:off x="8261961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68"/>
            <p:cNvSpPr/>
            <p:nvPr/>
          </p:nvSpPr>
          <p:spPr>
            <a:xfrm>
              <a:off x="8263518" y="4477287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68"/>
            <p:cNvSpPr/>
            <p:nvPr/>
          </p:nvSpPr>
          <p:spPr>
            <a:xfrm>
              <a:off x="81394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68"/>
            <p:cNvSpPr/>
            <p:nvPr/>
          </p:nvSpPr>
          <p:spPr>
            <a:xfrm>
              <a:off x="8148395" y="4495961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68"/>
            <p:cNvSpPr/>
            <p:nvPr/>
          </p:nvSpPr>
          <p:spPr>
            <a:xfrm>
              <a:off x="7726001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68"/>
            <p:cNvSpPr/>
            <p:nvPr/>
          </p:nvSpPr>
          <p:spPr>
            <a:xfrm>
              <a:off x="7703468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68"/>
            <p:cNvSpPr/>
            <p:nvPr/>
          </p:nvSpPr>
          <p:spPr>
            <a:xfrm>
              <a:off x="8329248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68"/>
            <p:cNvSpPr/>
            <p:nvPr/>
          </p:nvSpPr>
          <p:spPr>
            <a:xfrm>
              <a:off x="8205941" y="4070859"/>
              <a:ext cx="150944" cy="225234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68"/>
            <p:cNvSpPr/>
            <p:nvPr/>
          </p:nvSpPr>
          <p:spPr>
            <a:xfrm>
              <a:off x="8288011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68"/>
            <p:cNvSpPr/>
            <p:nvPr/>
          </p:nvSpPr>
          <p:spPr>
            <a:xfrm>
              <a:off x="8295418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68"/>
            <p:cNvSpPr/>
            <p:nvPr/>
          </p:nvSpPr>
          <p:spPr>
            <a:xfrm>
              <a:off x="8387976" y="4153302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68"/>
            <p:cNvSpPr/>
            <p:nvPr/>
          </p:nvSpPr>
          <p:spPr>
            <a:xfrm>
              <a:off x="8409762" y="3975966"/>
              <a:ext cx="101926" cy="110485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68"/>
            <p:cNvSpPr/>
            <p:nvPr/>
          </p:nvSpPr>
          <p:spPr>
            <a:xfrm>
              <a:off x="8424141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68"/>
            <p:cNvSpPr/>
            <p:nvPr/>
          </p:nvSpPr>
          <p:spPr>
            <a:xfrm>
              <a:off x="8414026" y="43948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68"/>
            <p:cNvSpPr/>
            <p:nvPr/>
          </p:nvSpPr>
          <p:spPr>
            <a:xfrm>
              <a:off x="8334290" y="4243557"/>
              <a:ext cx="140456" cy="9648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68"/>
            <p:cNvSpPr/>
            <p:nvPr/>
          </p:nvSpPr>
          <p:spPr>
            <a:xfrm>
              <a:off x="8308645" y="4322111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68"/>
            <p:cNvSpPr/>
            <p:nvPr/>
          </p:nvSpPr>
          <p:spPr>
            <a:xfrm>
              <a:off x="8315648" y="4292544"/>
              <a:ext cx="12076" cy="7438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68"/>
            <p:cNvSpPr/>
            <p:nvPr/>
          </p:nvSpPr>
          <p:spPr>
            <a:xfrm>
              <a:off x="8356076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68"/>
            <p:cNvSpPr/>
            <p:nvPr/>
          </p:nvSpPr>
          <p:spPr>
            <a:xfrm>
              <a:off x="8491832" y="4115986"/>
              <a:ext cx="34235" cy="195263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68"/>
            <p:cNvSpPr/>
            <p:nvPr/>
          </p:nvSpPr>
          <p:spPr>
            <a:xfrm>
              <a:off x="8487537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68"/>
            <p:cNvSpPr/>
            <p:nvPr/>
          </p:nvSpPr>
          <p:spPr>
            <a:xfrm>
              <a:off x="842647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68"/>
            <p:cNvSpPr/>
            <p:nvPr/>
          </p:nvSpPr>
          <p:spPr>
            <a:xfrm>
              <a:off x="841832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68"/>
            <p:cNvSpPr/>
            <p:nvPr/>
          </p:nvSpPr>
          <p:spPr>
            <a:xfrm>
              <a:off x="8436963" y="4179756"/>
              <a:ext cx="70430" cy="22221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68"/>
            <p:cNvSpPr/>
            <p:nvPr/>
          </p:nvSpPr>
          <p:spPr>
            <a:xfrm>
              <a:off x="8437368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68"/>
            <p:cNvSpPr/>
            <p:nvPr/>
          </p:nvSpPr>
          <p:spPr>
            <a:xfrm>
              <a:off x="8397687" y="3766325"/>
              <a:ext cx="33114" cy="103109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68"/>
            <p:cNvSpPr/>
            <p:nvPr/>
          </p:nvSpPr>
          <p:spPr>
            <a:xfrm>
              <a:off x="8386794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68"/>
            <p:cNvSpPr/>
            <p:nvPr/>
          </p:nvSpPr>
          <p:spPr>
            <a:xfrm>
              <a:off x="8191967" y="4248226"/>
              <a:ext cx="10519" cy="10146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68"/>
            <p:cNvSpPr/>
            <p:nvPr/>
          </p:nvSpPr>
          <p:spPr>
            <a:xfrm>
              <a:off x="8121568" y="4239667"/>
              <a:ext cx="73138" cy="1870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68"/>
            <p:cNvSpPr/>
            <p:nvPr/>
          </p:nvSpPr>
          <p:spPr>
            <a:xfrm>
              <a:off x="8121163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68"/>
            <p:cNvSpPr/>
            <p:nvPr/>
          </p:nvSpPr>
          <p:spPr>
            <a:xfrm>
              <a:off x="817018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68"/>
            <p:cNvSpPr/>
            <p:nvPr/>
          </p:nvSpPr>
          <p:spPr>
            <a:xfrm>
              <a:off x="8168999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68"/>
            <p:cNvSpPr/>
            <p:nvPr/>
          </p:nvSpPr>
          <p:spPr>
            <a:xfrm>
              <a:off x="8147991" y="4212808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68"/>
            <p:cNvSpPr/>
            <p:nvPr/>
          </p:nvSpPr>
          <p:spPr>
            <a:xfrm>
              <a:off x="8146839" y="4212808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68"/>
            <p:cNvSpPr/>
            <p:nvPr/>
          </p:nvSpPr>
          <p:spPr>
            <a:xfrm>
              <a:off x="8143322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68"/>
            <p:cNvSpPr/>
            <p:nvPr/>
          </p:nvSpPr>
          <p:spPr>
            <a:xfrm>
              <a:off x="8118456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68"/>
            <p:cNvSpPr/>
            <p:nvPr/>
          </p:nvSpPr>
          <p:spPr>
            <a:xfrm>
              <a:off x="890193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68"/>
            <p:cNvSpPr/>
            <p:nvPr/>
          </p:nvSpPr>
          <p:spPr>
            <a:xfrm>
              <a:off x="896417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68"/>
            <p:cNvSpPr/>
            <p:nvPr/>
          </p:nvSpPr>
          <p:spPr>
            <a:xfrm>
              <a:off x="963704" y="4346604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68"/>
            <p:cNvSpPr/>
            <p:nvPr/>
          </p:nvSpPr>
          <p:spPr>
            <a:xfrm>
              <a:off x="1021654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68"/>
            <p:cNvSpPr/>
            <p:nvPr/>
          </p:nvSpPr>
          <p:spPr>
            <a:xfrm>
              <a:off x="781700" y="4446943"/>
              <a:ext cx="257476" cy="129158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68"/>
            <p:cNvSpPr/>
            <p:nvPr/>
          </p:nvSpPr>
          <p:spPr>
            <a:xfrm>
              <a:off x="1106058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68"/>
            <p:cNvSpPr/>
            <p:nvPr/>
          </p:nvSpPr>
          <p:spPr>
            <a:xfrm>
              <a:off x="1243744" y="4483138"/>
              <a:ext cx="41642" cy="54091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68"/>
            <p:cNvSpPr/>
            <p:nvPr/>
          </p:nvSpPr>
          <p:spPr>
            <a:xfrm>
              <a:off x="757953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68"/>
            <p:cNvSpPr/>
            <p:nvPr/>
          </p:nvSpPr>
          <p:spPr>
            <a:xfrm>
              <a:off x="852068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68"/>
            <p:cNvSpPr/>
            <p:nvPr/>
          </p:nvSpPr>
          <p:spPr>
            <a:xfrm>
              <a:off x="831869" y="4367238"/>
              <a:ext cx="38530" cy="40459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68"/>
            <p:cNvSpPr/>
            <p:nvPr/>
          </p:nvSpPr>
          <p:spPr>
            <a:xfrm>
              <a:off x="892527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68"/>
            <p:cNvSpPr/>
            <p:nvPr/>
          </p:nvSpPr>
          <p:spPr>
            <a:xfrm>
              <a:off x="1057040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68"/>
            <p:cNvSpPr/>
            <p:nvPr/>
          </p:nvSpPr>
          <p:spPr>
            <a:xfrm>
              <a:off x="881261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68"/>
            <p:cNvSpPr/>
            <p:nvPr/>
          </p:nvSpPr>
          <p:spPr>
            <a:xfrm>
              <a:off x="854402" y="4546535"/>
              <a:ext cx="41268" cy="38903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68"/>
            <p:cNvSpPr/>
            <p:nvPr/>
          </p:nvSpPr>
          <p:spPr>
            <a:xfrm>
              <a:off x="799564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68"/>
            <p:cNvSpPr/>
            <p:nvPr/>
          </p:nvSpPr>
          <p:spPr>
            <a:xfrm>
              <a:off x="800342" y="4477287"/>
              <a:ext cx="87952" cy="29193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68"/>
            <p:cNvSpPr/>
            <p:nvPr/>
          </p:nvSpPr>
          <p:spPr>
            <a:xfrm>
              <a:off x="9905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68"/>
            <p:cNvSpPr/>
            <p:nvPr/>
          </p:nvSpPr>
          <p:spPr>
            <a:xfrm>
              <a:off x="983934" y="4495961"/>
              <a:ext cx="19856" cy="67691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68"/>
            <p:cNvSpPr/>
            <p:nvPr/>
          </p:nvSpPr>
          <p:spPr>
            <a:xfrm>
              <a:off x="1323076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68"/>
            <p:cNvSpPr/>
            <p:nvPr/>
          </p:nvSpPr>
          <p:spPr>
            <a:xfrm>
              <a:off x="1323076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68"/>
            <p:cNvSpPr/>
            <p:nvPr/>
          </p:nvSpPr>
          <p:spPr>
            <a:xfrm>
              <a:off x="574393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68"/>
            <p:cNvSpPr/>
            <p:nvPr/>
          </p:nvSpPr>
          <p:spPr>
            <a:xfrm>
              <a:off x="794896" y="4070859"/>
              <a:ext cx="151349" cy="225234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68"/>
            <p:cNvSpPr/>
            <p:nvPr/>
          </p:nvSpPr>
          <p:spPr>
            <a:xfrm>
              <a:off x="768068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68"/>
            <p:cNvSpPr/>
            <p:nvPr/>
          </p:nvSpPr>
          <p:spPr>
            <a:xfrm>
              <a:off x="856363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68"/>
            <p:cNvSpPr/>
            <p:nvPr/>
          </p:nvSpPr>
          <p:spPr>
            <a:xfrm>
              <a:off x="634677" y="4153302"/>
              <a:ext cx="129158" cy="257134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68"/>
            <p:cNvSpPr/>
            <p:nvPr/>
          </p:nvSpPr>
          <p:spPr>
            <a:xfrm>
              <a:off x="640901" y="3975966"/>
              <a:ext cx="101148" cy="110485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68"/>
            <p:cNvSpPr/>
            <p:nvPr/>
          </p:nvSpPr>
          <p:spPr>
            <a:xfrm>
              <a:off x="673549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68"/>
            <p:cNvSpPr/>
            <p:nvPr/>
          </p:nvSpPr>
          <p:spPr>
            <a:xfrm>
              <a:off x="698073" y="4394844"/>
              <a:ext cx="40086" cy="39712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68"/>
            <p:cNvSpPr/>
            <p:nvPr/>
          </p:nvSpPr>
          <p:spPr>
            <a:xfrm>
              <a:off x="677066" y="4243557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68"/>
            <p:cNvSpPr/>
            <p:nvPr/>
          </p:nvSpPr>
          <p:spPr>
            <a:xfrm>
              <a:off x="803081" y="4322111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68"/>
            <p:cNvSpPr/>
            <p:nvPr/>
          </p:nvSpPr>
          <p:spPr>
            <a:xfrm>
              <a:off x="824462" y="4292544"/>
              <a:ext cx="12107" cy="7438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68"/>
            <p:cNvSpPr/>
            <p:nvPr/>
          </p:nvSpPr>
          <p:spPr>
            <a:xfrm>
              <a:off x="787520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68"/>
            <p:cNvSpPr/>
            <p:nvPr/>
          </p:nvSpPr>
          <p:spPr>
            <a:xfrm>
              <a:off x="625714" y="4115986"/>
              <a:ext cx="34670" cy="195263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68"/>
            <p:cNvSpPr/>
            <p:nvPr/>
          </p:nvSpPr>
          <p:spPr>
            <a:xfrm>
              <a:off x="625714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68"/>
            <p:cNvSpPr/>
            <p:nvPr/>
          </p:nvSpPr>
          <p:spPr>
            <a:xfrm>
              <a:off x="69729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68"/>
            <p:cNvSpPr/>
            <p:nvPr/>
          </p:nvSpPr>
          <p:spPr>
            <a:xfrm>
              <a:off x="70467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68"/>
            <p:cNvSpPr/>
            <p:nvPr/>
          </p:nvSpPr>
          <p:spPr>
            <a:xfrm>
              <a:off x="644387" y="4179756"/>
              <a:ext cx="70835" cy="22595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68"/>
            <p:cNvSpPr/>
            <p:nvPr/>
          </p:nvSpPr>
          <p:spPr>
            <a:xfrm>
              <a:off x="644792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68"/>
            <p:cNvSpPr/>
            <p:nvPr/>
          </p:nvSpPr>
          <p:spPr>
            <a:xfrm>
              <a:off x="721011" y="3766325"/>
              <a:ext cx="33083" cy="103109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68"/>
            <p:cNvSpPr/>
            <p:nvPr/>
          </p:nvSpPr>
          <p:spPr>
            <a:xfrm>
              <a:off x="726831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68"/>
            <p:cNvSpPr/>
            <p:nvPr/>
          </p:nvSpPr>
          <p:spPr>
            <a:xfrm>
              <a:off x="949699" y="4248226"/>
              <a:ext cx="10551" cy="10146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68"/>
            <p:cNvSpPr/>
            <p:nvPr/>
          </p:nvSpPr>
          <p:spPr>
            <a:xfrm>
              <a:off x="957106" y="4239667"/>
              <a:ext cx="73511" cy="1870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68"/>
            <p:cNvSpPr/>
            <p:nvPr/>
          </p:nvSpPr>
          <p:spPr>
            <a:xfrm>
              <a:off x="999090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68"/>
            <p:cNvSpPr/>
            <p:nvPr/>
          </p:nvSpPr>
          <p:spPr>
            <a:xfrm>
              <a:off x="94892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68"/>
            <p:cNvSpPr/>
            <p:nvPr/>
          </p:nvSpPr>
          <p:spPr>
            <a:xfrm>
              <a:off x="962148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68"/>
            <p:cNvSpPr/>
            <p:nvPr/>
          </p:nvSpPr>
          <p:spPr>
            <a:xfrm>
              <a:off x="975748" y="4212808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68"/>
            <p:cNvSpPr/>
            <p:nvPr/>
          </p:nvSpPr>
          <p:spPr>
            <a:xfrm>
              <a:off x="985085" y="4212808"/>
              <a:ext cx="19887" cy="24556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68"/>
            <p:cNvSpPr/>
            <p:nvPr/>
          </p:nvSpPr>
          <p:spPr>
            <a:xfrm>
              <a:off x="987046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68"/>
            <p:cNvSpPr/>
            <p:nvPr/>
          </p:nvSpPr>
          <p:spPr>
            <a:xfrm>
              <a:off x="997939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68"/>
            <p:cNvSpPr/>
            <p:nvPr/>
          </p:nvSpPr>
          <p:spPr>
            <a:xfrm>
              <a:off x="829308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68"/>
            <p:cNvSpPr/>
            <p:nvPr/>
          </p:nvSpPr>
          <p:spPr>
            <a:xfrm>
              <a:off x="8324580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68"/>
            <p:cNvSpPr/>
            <p:nvPr/>
          </p:nvSpPr>
          <p:spPr>
            <a:xfrm>
              <a:off x="8352186" y="2070616"/>
              <a:ext cx="105816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68"/>
            <p:cNvSpPr/>
            <p:nvPr/>
          </p:nvSpPr>
          <p:spPr>
            <a:xfrm>
              <a:off x="8373193" y="1993214"/>
              <a:ext cx="16744" cy="68874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68"/>
            <p:cNvSpPr/>
            <p:nvPr/>
          </p:nvSpPr>
          <p:spPr>
            <a:xfrm>
              <a:off x="8307463" y="2299304"/>
              <a:ext cx="120600" cy="102300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68"/>
            <p:cNvSpPr/>
            <p:nvPr/>
          </p:nvSpPr>
          <p:spPr>
            <a:xfrm>
              <a:off x="8254959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68"/>
            <p:cNvSpPr/>
            <p:nvPr/>
          </p:nvSpPr>
          <p:spPr>
            <a:xfrm>
              <a:off x="824058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68"/>
            <p:cNvSpPr/>
            <p:nvPr/>
          </p:nvSpPr>
          <p:spPr>
            <a:xfrm>
              <a:off x="8237841" y="2387194"/>
              <a:ext cx="20261" cy="22968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68"/>
            <p:cNvSpPr/>
            <p:nvPr/>
          </p:nvSpPr>
          <p:spPr>
            <a:xfrm>
              <a:off x="8460710" y="2105224"/>
              <a:ext cx="4295" cy="3517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68"/>
            <p:cNvSpPr/>
            <p:nvPr/>
          </p:nvSpPr>
          <p:spPr>
            <a:xfrm>
              <a:off x="8388350" y="1944196"/>
              <a:ext cx="22221" cy="52535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68"/>
            <p:cNvSpPr/>
            <p:nvPr/>
          </p:nvSpPr>
          <p:spPr>
            <a:xfrm>
              <a:off x="8382903" y="1943822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68"/>
            <p:cNvSpPr/>
            <p:nvPr/>
          </p:nvSpPr>
          <p:spPr>
            <a:xfrm>
              <a:off x="8340515" y="2030156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68"/>
            <p:cNvSpPr/>
            <p:nvPr/>
          </p:nvSpPr>
          <p:spPr>
            <a:xfrm>
              <a:off x="8340515" y="2029752"/>
              <a:ext cx="36600" cy="41673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68"/>
            <p:cNvSpPr/>
            <p:nvPr/>
          </p:nvSpPr>
          <p:spPr>
            <a:xfrm>
              <a:off x="8260405" y="2406645"/>
              <a:ext cx="107777" cy="4824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68"/>
            <p:cNvSpPr/>
            <p:nvPr/>
          </p:nvSpPr>
          <p:spPr>
            <a:xfrm>
              <a:off x="8242914" y="2445517"/>
              <a:ext cx="20230" cy="22221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68"/>
            <p:cNvSpPr/>
            <p:nvPr/>
          </p:nvSpPr>
          <p:spPr>
            <a:xfrm>
              <a:off x="8280635" y="2360366"/>
              <a:ext cx="101926" cy="381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68"/>
            <p:cNvSpPr/>
            <p:nvPr/>
          </p:nvSpPr>
          <p:spPr>
            <a:xfrm>
              <a:off x="8268559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68"/>
            <p:cNvSpPr/>
            <p:nvPr/>
          </p:nvSpPr>
          <p:spPr>
            <a:xfrm>
              <a:off x="8411318" y="1849303"/>
              <a:ext cx="74694" cy="295602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68"/>
            <p:cNvSpPr/>
            <p:nvPr/>
          </p:nvSpPr>
          <p:spPr>
            <a:xfrm>
              <a:off x="835648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68"/>
            <p:cNvSpPr/>
            <p:nvPr/>
          </p:nvSpPr>
          <p:spPr>
            <a:xfrm>
              <a:off x="8410136" y="2147613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68"/>
            <p:cNvSpPr/>
            <p:nvPr/>
          </p:nvSpPr>
          <p:spPr>
            <a:xfrm>
              <a:off x="8442036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68"/>
            <p:cNvSpPr/>
            <p:nvPr/>
          </p:nvSpPr>
          <p:spPr>
            <a:xfrm>
              <a:off x="8270520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68"/>
            <p:cNvSpPr/>
            <p:nvPr/>
          </p:nvSpPr>
          <p:spPr>
            <a:xfrm>
              <a:off x="8385642" y="2201672"/>
              <a:ext cx="18705" cy="3853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68"/>
            <p:cNvSpPr/>
            <p:nvPr/>
          </p:nvSpPr>
          <p:spPr>
            <a:xfrm>
              <a:off x="8377862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68"/>
            <p:cNvSpPr/>
            <p:nvPr/>
          </p:nvSpPr>
          <p:spPr>
            <a:xfrm>
              <a:off x="8381347" y="1781643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68"/>
            <p:cNvSpPr/>
            <p:nvPr/>
          </p:nvSpPr>
          <p:spPr>
            <a:xfrm>
              <a:off x="8334695" y="1789797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68"/>
            <p:cNvSpPr/>
            <p:nvPr/>
          </p:nvSpPr>
          <p:spPr>
            <a:xfrm>
              <a:off x="8347922" y="1833742"/>
              <a:ext cx="58355" cy="44754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68"/>
            <p:cNvSpPr/>
            <p:nvPr/>
          </p:nvSpPr>
          <p:spPr>
            <a:xfrm>
              <a:off x="8363078" y="1819737"/>
              <a:ext cx="38156" cy="21412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68"/>
            <p:cNvSpPr/>
            <p:nvPr/>
          </p:nvSpPr>
          <p:spPr>
            <a:xfrm>
              <a:off x="8325358" y="2125827"/>
              <a:ext cx="89104" cy="68501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68"/>
            <p:cNvSpPr/>
            <p:nvPr/>
          </p:nvSpPr>
          <p:spPr>
            <a:xfrm>
              <a:off x="8293084" y="2552081"/>
              <a:ext cx="130310" cy="138900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68"/>
            <p:cNvSpPr/>
            <p:nvPr/>
          </p:nvSpPr>
          <p:spPr>
            <a:xfrm>
              <a:off x="8324580" y="2684320"/>
              <a:ext cx="182440" cy="328311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68"/>
            <p:cNvSpPr/>
            <p:nvPr/>
          </p:nvSpPr>
          <p:spPr>
            <a:xfrm>
              <a:off x="8352590" y="2928196"/>
              <a:ext cx="105038" cy="125642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68"/>
            <p:cNvSpPr/>
            <p:nvPr/>
          </p:nvSpPr>
          <p:spPr>
            <a:xfrm>
              <a:off x="8372820" y="3062365"/>
              <a:ext cx="17117" cy="68874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68"/>
            <p:cNvSpPr/>
            <p:nvPr/>
          </p:nvSpPr>
          <p:spPr>
            <a:xfrm>
              <a:off x="8307867" y="2723628"/>
              <a:ext cx="120195" cy="101522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68"/>
            <p:cNvSpPr/>
            <p:nvPr/>
          </p:nvSpPr>
          <p:spPr>
            <a:xfrm>
              <a:off x="8254585" y="2706106"/>
              <a:ext cx="137686" cy="2841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68"/>
            <p:cNvSpPr/>
            <p:nvPr/>
          </p:nvSpPr>
          <p:spPr>
            <a:xfrm>
              <a:off x="824058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68"/>
            <p:cNvSpPr/>
            <p:nvPr/>
          </p:nvSpPr>
          <p:spPr>
            <a:xfrm>
              <a:off x="8237468" y="2714291"/>
              <a:ext cx="21412" cy="27637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68"/>
            <p:cNvSpPr/>
            <p:nvPr/>
          </p:nvSpPr>
          <p:spPr>
            <a:xfrm>
              <a:off x="8460710" y="3015308"/>
              <a:ext cx="4295" cy="3548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68"/>
            <p:cNvSpPr/>
            <p:nvPr/>
          </p:nvSpPr>
          <p:spPr>
            <a:xfrm>
              <a:off x="8388754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68"/>
            <p:cNvSpPr/>
            <p:nvPr/>
          </p:nvSpPr>
          <p:spPr>
            <a:xfrm>
              <a:off x="8382903" y="3128096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68"/>
            <p:cNvSpPr/>
            <p:nvPr/>
          </p:nvSpPr>
          <p:spPr>
            <a:xfrm>
              <a:off x="8340515" y="3053028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68"/>
            <p:cNvSpPr/>
            <p:nvPr/>
          </p:nvSpPr>
          <p:spPr>
            <a:xfrm>
              <a:off x="8340919" y="3053433"/>
              <a:ext cx="36195" cy="41237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68"/>
            <p:cNvSpPr/>
            <p:nvPr/>
          </p:nvSpPr>
          <p:spPr>
            <a:xfrm>
              <a:off x="8260405" y="2669537"/>
              <a:ext cx="107777" cy="47898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68"/>
            <p:cNvSpPr/>
            <p:nvPr/>
          </p:nvSpPr>
          <p:spPr>
            <a:xfrm>
              <a:off x="8242510" y="2656714"/>
              <a:ext cx="20634" cy="22190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68"/>
            <p:cNvSpPr/>
            <p:nvPr/>
          </p:nvSpPr>
          <p:spPr>
            <a:xfrm>
              <a:off x="8280635" y="2725962"/>
              <a:ext cx="101926" cy="37752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68"/>
            <p:cNvSpPr/>
            <p:nvPr/>
          </p:nvSpPr>
          <p:spPr>
            <a:xfrm>
              <a:off x="8268559" y="2759388"/>
              <a:ext cx="18331" cy="1637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68"/>
            <p:cNvSpPr/>
            <p:nvPr/>
          </p:nvSpPr>
          <p:spPr>
            <a:xfrm>
              <a:off x="8411318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68"/>
            <p:cNvSpPr/>
            <p:nvPr/>
          </p:nvSpPr>
          <p:spPr>
            <a:xfrm>
              <a:off x="8356480" y="2632221"/>
              <a:ext cx="61467" cy="39308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68"/>
            <p:cNvSpPr/>
            <p:nvPr/>
          </p:nvSpPr>
          <p:spPr>
            <a:xfrm>
              <a:off x="8410136" y="2899034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68"/>
            <p:cNvSpPr/>
            <p:nvPr/>
          </p:nvSpPr>
          <p:spPr>
            <a:xfrm>
              <a:off x="8442036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68"/>
            <p:cNvSpPr/>
            <p:nvPr/>
          </p:nvSpPr>
          <p:spPr>
            <a:xfrm>
              <a:off x="8270894" y="2598764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68"/>
            <p:cNvSpPr/>
            <p:nvPr/>
          </p:nvSpPr>
          <p:spPr>
            <a:xfrm>
              <a:off x="8385642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68"/>
            <p:cNvSpPr/>
            <p:nvPr/>
          </p:nvSpPr>
          <p:spPr>
            <a:xfrm>
              <a:off x="8377862" y="2883846"/>
              <a:ext cx="27263" cy="42420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68"/>
            <p:cNvSpPr/>
            <p:nvPr/>
          </p:nvSpPr>
          <p:spPr>
            <a:xfrm>
              <a:off x="8381347" y="3178265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68"/>
            <p:cNvSpPr/>
            <p:nvPr/>
          </p:nvSpPr>
          <p:spPr>
            <a:xfrm>
              <a:off x="8334695" y="3258001"/>
              <a:ext cx="80918" cy="76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68"/>
            <p:cNvSpPr/>
            <p:nvPr/>
          </p:nvSpPr>
          <p:spPr>
            <a:xfrm>
              <a:off x="8347922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68"/>
            <p:cNvSpPr/>
            <p:nvPr/>
          </p:nvSpPr>
          <p:spPr>
            <a:xfrm>
              <a:off x="8363078" y="3283273"/>
              <a:ext cx="38530" cy="21817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68"/>
            <p:cNvSpPr/>
            <p:nvPr/>
          </p:nvSpPr>
          <p:spPr>
            <a:xfrm>
              <a:off x="8325358" y="2929752"/>
              <a:ext cx="89104" cy="68874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68"/>
            <p:cNvSpPr/>
            <p:nvPr/>
          </p:nvSpPr>
          <p:spPr>
            <a:xfrm>
              <a:off x="8299308" y="2532256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68"/>
            <p:cNvSpPr/>
            <p:nvPr/>
          </p:nvSpPr>
          <p:spPr>
            <a:xfrm>
              <a:off x="8295014" y="2531477"/>
              <a:ext cx="7438" cy="21039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68"/>
            <p:cNvSpPr/>
            <p:nvPr/>
          </p:nvSpPr>
          <p:spPr>
            <a:xfrm>
              <a:off x="8314870" y="2555193"/>
              <a:ext cx="9337" cy="11702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68"/>
            <p:cNvSpPr/>
            <p:nvPr/>
          </p:nvSpPr>
          <p:spPr>
            <a:xfrm>
              <a:off x="8298126" y="2564156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68"/>
            <p:cNvSpPr/>
            <p:nvPr/>
          </p:nvSpPr>
          <p:spPr>
            <a:xfrm>
              <a:off x="8292679" y="2558710"/>
              <a:ext cx="12480" cy="29971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68"/>
            <p:cNvSpPr/>
            <p:nvPr/>
          </p:nvSpPr>
          <p:spPr>
            <a:xfrm>
              <a:off x="8295418" y="2545483"/>
              <a:ext cx="10146" cy="17522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68"/>
            <p:cNvSpPr/>
            <p:nvPr/>
          </p:nvSpPr>
          <p:spPr>
            <a:xfrm>
              <a:off x="8277896" y="2552081"/>
              <a:ext cx="15592" cy="17927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68"/>
            <p:cNvSpPr/>
            <p:nvPr/>
          </p:nvSpPr>
          <p:spPr>
            <a:xfrm>
              <a:off x="701964" y="2552485"/>
              <a:ext cx="130310" cy="138495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68"/>
            <p:cNvSpPr/>
            <p:nvPr/>
          </p:nvSpPr>
          <p:spPr>
            <a:xfrm>
              <a:off x="617933" y="2684725"/>
              <a:ext cx="182845" cy="32828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68"/>
            <p:cNvSpPr/>
            <p:nvPr/>
          </p:nvSpPr>
          <p:spPr>
            <a:xfrm>
              <a:off x="667729" y="2928974"/>
              <a:ext cx="105817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68"/>
            <p:cNvSpPr/>
            <p:nvPr/>
          </p:nvSpPr>
          <p:spPr>
            <a:xfrm>
              <a:off x="735389" y="3062365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68"/>
            <p:cNvSpPr/>
            <p:nvPr/>
          </p:nvSpPr>
          <p:spPr>
            <a:xfrm>
              <a:off x="697669" y="2722850"/>
              <a:ext cx="120226" cy="102300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68"/>
            <p:cNvSpPr/>
            <p:nvPr/>
          </p:nvSpPr>
          <p:spPr>
            <a:xfrm>
              <a:off x="732682" y="2706106"/>
              <a:ext cx="137717" cy="2841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68"/>
            <p:cNvSpPr/>
            <p:nvPr/>
          </p:nvSpPr>
          <p:spPr>
            <a:xfrm>
              <a:off x="86959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68"/>
            <p:cNvSpPr/>
            <p:nvPr/>
          </p:nvSpPr>
          <p:spPr>
            <a:xfrm>
              <a:off x="867255" y="2714291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68"/>
            <p:cNvSpPr/>
            <p:nvPr/>
          </p:nvSpPr>
          <p:spPr>
            <a:xfrm>
              <a:off x="660726" y="3015308"/>
              <a:ext cx="3921" cy="3548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68"/>
            <p:cNvSpPr/>
            <p:nvPr/>
          </p:nvSpPr>
          <p:spPr>
            <a:xfrm>
              <a:off x="714786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68"/>
            <p:cNvSpPr/>
            <p:nvPr/>
          </p:nvSpPr>
          <p:spPr>
            <a:xfrm>
              <a:off x="717899" y="3128096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68"/>
            <p:cNvSpPr/>
            <p:nvPr/>
          </p:nvSpPr>
          <p:spPr>
            <a:xfrm>
              <a:off x="747465" y="3053028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68"/>
            <p:cNvSpPr/>
            <p:nvPr/>
          </p:nvSpPr>
          <p:spPr>
            <a:xfrm>
              <a:off x="748243" y="3053433"/>
              <a:ext cx="36569" cy="41237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68"/>
            <p:cNvSpPr/>
            <p:nvPr/>
          </p:nvSpPr>
          <p:spPr>
            <a:xfrm>
              <a:off x="757175" y="2669537"/>
              <a:ext cx="108151" cy="47898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68"/>
            <p:cNvSpPr/>
            <p:nvPr/>
          </p:nvSpPr>
          <p:spPr>
            <a:xfrm>
              <a:off x="862182" y="2656714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68"/>
            <p:cNvSpPr/>
            <p:nvPr/>
          </p:nvSpPr>
          <p:spPr>
            <a:xfrm>
              <a:off x="742797" y="2725962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68"/>
            <p:cNvSpPr/>
            <p:nvPr/>
          </p:nvSpPr>
          <p:spPr>
            <a:xfrm>
              <a:off x="838467" y="2759792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68"/>
            <p:cNvSpPr/>
            <p:nvPr/>
          </p:nvSpPr>
          <p:spPr>
            <a:xfrm>
              <a:off x="638941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68"/>
            <p:cNvSpPr/>
            <p:nvPr/>
          </p:nvSpPr>
          <p:spPr>
            <a:xfrm>
              <a:off x="707410" y="2631816"/>
              <a:ext cx="61467" cy="39712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68"/>
            <p:cNvSpPr/>
            <p:nvPr/>
          </p:nvSpPr>
          <p:spPr>
            <a:xfrm>
              <a:off x="675883" y="2899034"/>
              <a:ext cx="39339" cy="7818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68"/>
            <p:cNvSpPr/>
            <p:nvPr/>
          </p:nvSpPr>
          <p:spPr>
            <a:xfrm>
              <a:off x="656463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68"/>
            <p:cNvSpPr/>
            <p:nvPr/>
          </p:nvSpPr>
          <p:spPr>
            <a:xfrm>
              <a:off x="784812" y="2598764"/>
              <a:ext cx="70026" cy="101148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68"/>
            <p:cNvSpPr/>
            <p:nvPr/>
          </p:nvSpPr>
          <p:spPr>
            <a:xfrm>
              <a:off x="721011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68"/>
            <p:cNvSpPr/>
            <p:nvPr/>
          </p:nvSpPr>
          <p:spPr>
            <a:xfrm>
              <a:off x="720233" y="2883846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68"/>
            <p:cNvSpPr/>
            <p:nvPr/>
          </p:nvSpPr>
          <p:spPr>
            <a:xfrm>
              <a:off x="669659" y="3178265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68"/>
            <p:cNvSpPr/>
            <p:nvPr/>
          </p:nvSpPr>
          <p:spPr>
            <a:xfrm>
              <a:off x="709744" y="3258001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68"/>
            <p:cNvSpPr/>
            <p:nvPr/>
          </p:nvSpPr>
          <p:spPr>
            <a:xfrm>
              <a:off x="719455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68"/>
            <p:cNvSpPr/>
            <p:nvPr/>
          </p:nvSpPr>
          <p:spPr>
            <a:xfrm>
              <a:off x="724123" y="3283273"/>
              <a:ext cx="38530" cy="21443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68"/>
            <p:cNvSpPr/>
            <p:nvPr/>
          </p:nvSpPr>
          <p:spPr>
            <a:xfrm>
              <a:off x="710896" y="2929752"/>
              <a:ext cx="89477" cy="68874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68"/>
            <p:cNvSpPr/>
            <p:nvPr/>
          </p:nvSpPr>
          <p:spPr>
            <a:xfrm>
              <a:off x="70196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68"/>
            <p:cNvSpPr/>
            <p:nvPr/>
          </p:nvSpPr>
          <p:spPr>
            <a:xfrm>
              <a:off x="618338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68"/>
            <p:cNvSpPr/>
            <p:nvPr/>
          </p:nvSpPr>
          <p:spPr>
            <a:xfrm>
              <a:off x="667324" y="2070616"/>
              <a:ext cx="105443" cy="125642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68"/>
            <p:cNvSpPr/>
            <p:nvPr/>
          </p:nvSpPr>
          <p:spPr>
            <a:xfrm>
              <a:off x="735389" y="1993214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68"/>
            <p:cNvSpPr/>
            <p:nvPr/>
          </p:nvSpPr>
          <p:spPr>
            <a:xfrm>
              <a:off x="697295" y="2299304"/>
              <a:ext cx="120600" cy="101522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68"/>
            <p:cNvSpPr/>
            <p:nvPr/>
          </p:nvSpPr>
          <p:spPr>
            <a:xfrm>
              <a:off x="733055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68"/>
            <p:cNvSpPr/>
            <p:nvPr/>
          </p:nvSpPr>
          <p:spPr>
            <a:xfrm>
              <a:off x="86959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68"/>
            <p:cNvSpPr/>
            <p:nvPr/>
          </p:nvSpPr>
          <p:spPr>
            <a:xfrm>
              <a:off x="866073" y="2382525"/>
              <a:ext cx="21443" cy="27637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68"/>
            <p:cNvSpPr/>
            <p:nvPr/>
          </p:nvSpPr>
          <p:spPr>
            <a:xfrm>
              <a:off x="660726" y="2105597"/>
              <a:ext cx="3921" cy="3921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68"/>
            <p:cNvSpPr/>
            <p:nvPr/>
          </p:nvSpPr>
          <p:spPr>
            <a:xfrm>
              <a:off x="714786" y="1944196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68"/>
            <p:cNvSpPr/>
            <p:nvPr/>
          </p:nvSpPr>
          <p:spPr>
            <a:xfrm>
              <a:off x="717899" y="1943822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68"/>
            <p:cNvSpPr/>
            <p:nvPr/>
          </p:nvSpPr>
          <p:spPr>
            <a:xfrm>
              <a:off x="747465" y="2030156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68"/>
            <p:cNvSpPr/>
            <p:nvPr/>
          </p:nvSpPr>
          <p:spPr>
            <a:xfrm>
              <a:off x="748243" y="2029752"/>
              <a:ext cx="36195" cy="41673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68"/>
            <p:cNvSpPr/>
            <p:nvPr/>
          </p:nvSpPr>
          <p:spPr>
            <a:xfrm>
              <a:off x="757175" y="2407019"/>
              <a:ext cx="108151" cy="47866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68"/>
            <p:cNvSpPr/>
            <p:nvPr/>
          </p:nvSpPr>
          <p:spPr>
            <a:xfrm>
              <a:off x="862182" y="2445517"/>
              <a:ext cx="20665" cy="22221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68"/>
            <p:cNvSpPr/>
            <p:nvPr/>
          </p:nvSpPr>
          <p:spPr>
            <a:xfrm>
              <a:off x="742797" y="2360366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68"/>
            <p:cNvSpPr/>
            <p:nvPr/>
          </p:nvSpPr>
          <p:spPr>
            <a:xfrm>
              <a:off x="838467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68"/>
            <p:cNvSpPr/>
            <p:nvPr/>
          </p:nvSpPr>
          <p:spPr>
            <a:xfrm>
              <a:off x="638941" y="1849303"/>
              <a:ext cx="75099" cy="295602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68"/>
            <p:cNvSpPr/>
            <p:nvPr/>
          </p:nvSpPr>
          <p:spPr>
            <a:xfrm>
              <a:off x="70741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68"/>
            <p:cNvSpPr/>
            <p:nvPr/>
          </p:nvSpPr>
          <p:spPr>
            <a:xfrm>
              <a:off x="675883" y="2147613"/>
              <a:ext cx="39339" cy="77806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68"/>
            <p:cNvSpPr/>
            <p:nvPr/>
          </p:nvSpPr>
          <p:spPr>
            <a:xfrm>
              <a:off x="656463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68"/>
            <p:cNvSpPr/>
            <p:nvPr/>
          </p:nvSpPr>
          <p:spPr>
            <a:xfrm>
              <a:off x="784407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68"/>
            <p:cNvSpPr/>
            <p:nvPr/>
          </p:nvSpPr>
          <p:spPr>
            <a:xfrm>
              <a:off x="720637" y="2201672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68"/>
            <p:cNvSpPr/>
            <p:nvPr/>
          </p:nvSpPr>
          <p:spPr>
            <a:xfrm>
              <a:off x="720233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68"/>
            <p:cNvSpPr/>
            <p:nvPr/>
          </p:nvSpPr>
          <p:spPr>
            <a:xfrm>
              <a:off x="669659" y="1781643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68"/>
            <p:cNvSpPr/>
            <p:nvPr/>
          </p:nvSpPr>
          <p:spPr>
            <a:xfrm>
              <a:off x="709744" y="1790171"/>
              <a:ext cx="80918" cy="76281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68"/>
            <p:cNvSpPr/>
            <p:nvPr/>
          </p:nvSpPr>
          <p:spPr>
            <a:xfrm>
              <a:off x="719455" y="1833742"/>
              <a:ext cx="58386" cy="44754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68"/>
            <p:cNvSpPr/>
            <p:nvPr/>
          </p:nvSpPr>
          <p:spPr>
            <a:xfrm>
              <a:off x="724123" y="1819364"/>
              <a:ext cx="38530" cy="21786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68"/>
            <p:cNvSpPr/>
            <p:nvPr/>
          </p:nvSpPr>
          <p:spPr>
            <a:xfrm>
              <a:off x="711301" y="2125827"/>
              <a:ext cx="89073" cy="68874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68"/>
            <p:cNvSpPr/>
            <p:nvPr/>
          </p:nvSpPr>
          <p:spPr>
            <a:xfrm>
              <a:off x="806971" y="2567268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68"/>
            <p:cNvSpPr/>
            <p:nvPr/>
          </p:nvSpPr>
          <p:spPr>
            <a:xfrm>
              <a:off x="823310" y="2571532"/>
              <a:ext cx="7407" cy="21039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68"/>
            <p:cNvSpPr/>
            <p:nvPr/>
          </p:nvSpPr>
          <p:spPr>
            <a:xfrm>
              <a:off x="801120" y="2557527"/>
              <a:ext cx="9368" cy="11702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68"/>
            <p:cNvSpPr/>
            <p:nvPr/>
          </p:nvSpPr>
          <p:spPr>
            <a:xfrm>
              <a:off x="808123" y="2534994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68"/>
            <p:cNvSpPr/>
            <p:nvPr/>
          </p:nvSpPr>
          <p:spPr>
            <a:xfrm>
              <a:off x="820198" y="2535368"/>
              <a:ext cx="12854" cy="30376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68"/>
            <p:cNvSpPr/>
            <p:nvPr/>
          </p:nvSpPr>
          <p:spPr>
            <a:xfrm>
              <a:off x="819794" y="2561417"/>
              <a:ext cx="10146" cy="17553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68"/>
            <p:cNvSpPr/>
            <p:nvPr/>
          </p:nvSpPr>
          <p:spPr>
            <a:xfrm>
              <a:off x="831869" y="2554415"/>
              <a:ext cx="15561" cy="17927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4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" grpId="0" animBg="1"/>
      <p:bldP spid="45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Quellen (Auswahl, IEEE)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600200"/>
            <a:ext cx="31740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[15] P. A. David, “Heroes, herds and hysteresis in technological history,” Ind. Corp. Change, vol. 1, no. 1, 1992.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[18] P. Bairoch, “International industrialization levels from 1750 to 1980,” J. Eur. Econ. Hist., vol. 11, no. 2, 1982.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[19] W. D. Devine, Jr., “From shafts to wires,” J. Econ. Hist., vol. 43, no. 2, 1983.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[20] P. A. David, “The dynamo and the computer,” Am. Econ. Rev., vol. 80, no. 2, 1990.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[25] Thomas A. Edison Papers, “Myth buster: Topsy the elephant,” Rutgers Univ., online.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600200"/>
            <a:ext cx="31740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[2] Thomas A. Edison Papers, “The current wars,” Rutgers Univ., online.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[3] J. Jonnes, Empires of Light. New York: Random House, 2003.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[4] W. B. Carlson, Tesla: Inventor of the Electrical Age. Princeton Univ. Press, 2013.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[5] T. P. Hughes, “Harold P. Brown and the executioner’s current,” Bus. Hist. Rev., vol. 32, no. 2, 1958.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[10] B. M. Cole and D. Chandler, “A model of competitive impression management,” Adm. Sci. Q., vol. 64, no. 4, 2019.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construction Era and the Gilded Age - History - 11th Grade Blue Variant by Slidesgo">
  <a:themeElements>
    <a:clrScheme name="Simple Light">
      <a:dk1>
        <a:srgbClr val="0A1A35"/>
      </a:dk1>
      <a:lt1>
        <a:srgbClr val="C2CFDE"/>
      </a:lt1>
      <a:dk2>
        <a:srgbClr val="4E5B9B"/>
      </a:dk2>
      <a:lt2>
        <a:srgbClr val="111872"/>
      </a:lt2>
      <a:accent1>
        <a:srgbClr val="0A1C5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1A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1668</Words>
  <Application>Microsoft Office PowerPoint</Application>
  <PresentationFormat>On-screen Show (16:9)</PresentationFormat>
  <Paragraphs>285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Source Sans 3 Light</vt:lpstr>
      <vt:lpstr>Source Sans 3</vt:lpstr>
      <vt:lpstr>Nunito Light</vt:lpstr>
      <vt:lpstr>Anaheim</vt:lpstr>
      <vt:lpstr>Libre Baskerville</vt:lpstr>
      <vt:lpstr>Source Sans Pro</vt:lpstr>
      <vt:lpstr>Arial</vt:lpstr>
      <vt:lpstr>Reconstruction Era and the Gilded Age - History - 11th Grade Blue Variant by Slidesgo</vt:lpstr>
      <vt:lpstr>Reconstruction Era &amp; the Gilded Age - History -</vt:lpstr>
      <vt:lpstr>Contents of this template</vt:lpstr>
      <vt:lpstr>Table of contents</vt:lpstr>
      <vt:lpstr>- Whoa! -</vt:lpstr>
      <vt:lpstr>Introduction</vt:lpstr>
      <vt:lpstr>Introduction to Reconstruction Era &amp; the Gilded Age</vt:lpstr>
      <vt:lpstr>The Reconstruction Era (1865-1877)</vt:lpstr>
      <vt:lpstr>Context and background</vt:lpstr>
      <vt:lpstr>Lincoln's reconstruction plan</vt:lpstr>
      <vt:lpstr>Presidential reconstruction</vt:lpstr>
      <vt:lpstr>The Gilded Age (1877-1900)</vt:lpstr>
      <vt:lpstr>Technological innovations and inventions</vt:lpstr>
      <vt:lpstr>Awesome words</vt:lpstr>
      <vt:lpstr>—Someone Famous</vt:lpstr>
      <vt:lpstr>A picture is worth a thousand words</vt:lpstr>
      <vt:lpstr>A picture always reinforces  the concept</vt:lpstr>
      <vt:lpstr>Comparison</vt:lpstr>
      <vt:lpstr>98,300,000</vt:lpstr>
      <vt:lpstr>9h 55m 23s</vt:lpstr>
      <vt:lpstr>Workforce distribution in the Gilded Age</vt:lpstr>
      <vt:lpstr>Computer mockup</vt:lpstr>
      <vt:lpstr>Tablet mockup</vt:lpstr>
      <vt:lpstr>Phone mockup</vt:lpstr>
      <vt:lpstr>The Gilded Age: 1870-1900</vt:lpstr>
      <vt:lpstr>Reconstruction era &amp; Gilded Age timeline</vt:lpstr>
      <vt:lpstr>The key aspects</vt:lpstr>
      <vt:lpstr>Reconstruction amendments</vt:lpstr>
      <vt:lpstr>Immigration to the US, 1871 -1920</vt:lpstr>
      <vt:lpstr>American become urbanized</vt:lpstr>
      <vt:lpstr> Exercise 1: Answer this questions</vt:lpstr>
      <vt:lpstr> Exercise 2: True or False</vt:lpstr>
      <vt:lpstr> Exercise 3: Multiple choice</vt:lpstr>
      <vt:lpstr> Exercise 4: Fill in the blank</vt:lpstr>
      <vt:lpstr>Our team</vt:lpstr>
      <vt:lpstr>Thanks!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Bruder (s)</cp:lastModifiedBy>
  <cp:revision>1</cp:revision>
  <dcterms:modified xsi:type="dcterms:W3CDTF">2026-10-01T11:58:51Z</dcterms:modified>
</cp:coreProperties>
</file>