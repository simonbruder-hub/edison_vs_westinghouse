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F5D58"/>
                </a:solidFill>
                <a:latin typeface="Calibri"/>
              </a:defRPr>
            </a:pPr>
            <a:r>
              <a:rPr sz="1300" b="0" i="0" u="none" strike="noStrike">
                <a:solidFill>
                  <a:srgbClr val="5F5D58"/>
                </a:solidFill>
                <a:latin typeface="Calibri"/>
              </a:rPr>
              <a:t>Anteil an der Weltindustrieproduktion in %</a:t>
            </a:r>
          </a:p>
        </c:rich>
      </c:tx>
      <c:layout/>
      <c:overlay val="0"/>
    </c:title>
    <c:autoTitleDeleted val="0"/>
    <c:plotArea>
      <c:layout/>
      <c:lineChart>
        <c:varyColors val="0"/>
        <c:ser>
          <c:idx val="0"/>
          <c:order val="0"/>
          <c:tx>
            <c:strRef>
              <c:f>Sheet1!$B$1</c:f>
              <c:strCache>
                <c:ptCount val="1"/>
                <c:pt idx="0">
                  <c:v>USA</c:v>
                </c:pt>
              </c:strCache>
            </c:strRef>
          </c:tx>
          <c:spPr>
            <a:solidFill>
              <a:srgbClr val="0E7C9E"/>
            </a:solidFill>
            <a:ln w="38100" cap="flat">
              <a:solidFill>
                <a:srgbClr val="0E7C9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0E7C9E"/>
              </a:solidFill>
              <a:ln w="9525" cap="flat">
                <a:solidFill>
                  <a:srgbClr val="0E7C9E"/>
                </a:solidFill>
                <a:prstDash val="solid"/>
                <a:round/>
              </a:ln>
              <a:effectLst/>
            </c:spPr>
          </c:marker>
          <c:cat>
            <c:multiLvlStrRef>
              <c:f>Sheet1!$A$2:$A$5</c:f>
              <c:multiLvlStrCache>
                <c:ptCount val="4"/>
                <c:lvl>
                  <c:pt idx="0">
                    <c:v>1860</c:v>
                  </c:pt>
                  <c:pt idx="1">
                    <c:v>1880</c:v>
                  </c:pt>
                  <c:pt idx="2">
                    <c:v>1900</c:v>
                  </c:pt>
                  <c:pt idx="3">
                    <c:v>1913</c:v>
                  </c:pt>
                </c:lvl>
              </c:multiLvlStrCache>
            </c:multiLvlStrRef>
          </c:cat>
          <c:val>
            <c:numRef>
              <c:f>Sheet1!$B$2:$B$5</c:f>
              <c:numCache>
                <c:formatCode>General</c:formatCode>
                <c:ptCount val="4"/>
                <c:pt idx="0">
                  <c:v>7.2</c:v>
                </c:pt>
                <c:pt idx="1">
                  <c:v>14.7</c:v>
                </c:pt>
                <c:pt idx="2">
                  <c:v>23.6</c:v>
                </c:pt>
                <c:pt idx="3">
                  <c:v>32</c:v>
                </c:pt>
              </c:numCache>
            </c:numRef>
          </c:val>
          <c:smooth val="0"/>
        </c:ser>
        <c:ser>
          <c:idx val="1"/>
          <c:order val="1"/>
          <c:tx>
            <c:strRef>
              <c:f>Sheet1!$C$1</c:f>
              <c:strCache>
                <c:ptCount val="1"/>
                <c:pt idx="0">
                  <c:v>Grossbritannien</c:v>
                </c:pt>
              </c:strCache>
            </c:strRef>
          </c:tx>
          <c:spPr>
            <a:solidFill>
              <a:srgbClr val="C8641E"/>
            </a:solidFill>
            <a:ln w="38100" cap="flat">
              <a:solidFill>
                <a:srgbClr val="C8641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C8641E"/>
              </a:solidFill>
              <a:ln w="9525" cap="flat">
                <a:solidFill>
                  <a:srgbClr val="C8641E"/>
                </a:solidFill>
                <a:prstDash val="solid"/>
                <a:round/>
              </a:ln>
              <a:effectLst/>
            </c:spPr>
          </c:marker>
          <c:cat>
            <c:multiLvlStrRef>
              <c:f>Sheet1!$A$2:$A$5</c:f>
              <c:multiLvlStrCache>
                <c:ptCount val="4"/>
                <c:lvl>
                  <c:pt idx="0">
                    <c:v>1860</c:v>
                  </c:pt>
                  <c:pt idx="1">
                    <c:v>1880</c:v>
                  </c:pt>
                  <c:pt idx="2">
                    <c:v>1900</c:v>
                  </c:pt>
                  <c:pt idx="3">
                    <c:v>1913</c:v>
                  </c:pt>
                </c:lvl>
              </c:multiLvlStrCache>
            </c:multiLvlStrRef>
          </c:cat>
          <c:val>
            <c:numRef>
              <c:f>Sheet1!$C$2:$C$5</c:f>
              <c:numCache>
                <c:formatCode>General</c:formatCode>
                <c:ptCount val="4"/>
                <c:pt idx="0">
                  <c:v>19.9</c:v>
                </c:pt>
                <c:pt idx="1">
                  <c:v>22.9</c:v>
                </c:pt>
                <c:pt idx="2">
                  <c:v>18.5</c:v>
                </c:pt>
                <c:pt idx="3">
                  <c:v>13.6</c:v>
                </c:pt>
              </c:numCache>
            </c:numRef>
          </c:val>
          <c:smooth val="0"/>
        </c:ser>
        <c:ser>
          <c:idx val="2"/>
          <c:order val="2"/>
          <c:tx>
            <c:strRef>
              <c:f>Sheet1!$D$1</c:f>
              <c:strCache>
                <c:ptCount val="1"/>
                <c:pt idx="0">
                  <c:v>Deutschland</c:v>
                </c:pt>
              </c:strCache>
            </c:strRef>
          </c:tx>
          <c:spPr>
            <a:solidFill>
              <a:srgbClr val="7E5AA6"/>
            </a:solidFill>
            <a:ln w="38100" cap="flat">
              <a:solidFill>
                <a:srgbClr val="7E5A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7E5AA6"/>
              </a:solidFill>
              <a:ln w="9525" cap="flat">
                <a:solidFill>
                  <a:srgbClr val="7E5AA6"/>
                </a:solidFill>
                <a:prstDash val="solid"/>
                <a:round/>
              </a:ln>
              <a:effectLst/>
            </c:spPr>
          </c:marker>
          <c:cat>
            <c:multiLvlStrRef>
              <c:f>Sheet1!$A$2:$A$5</c:f>
              <c:multiLvlStrCache>
                <c:ptCount val="4"/>
                <c:lvl>
                  <c:pt idx="0">
                    <c:v>1860</c:v>
                  </c:pt>
                  <c:pt idx="1">
                    <c:v>1880</c:v>
                  </c:pt>
                  <c:pt idx="2">
                    <c:v>1900</c:v>
                  </c:pt>
                  <c:pt idx="3">
                    <c:v>1913</c:v>
                  </c:pt>
                </c:lvl>
              </c:multiLvlStrCache>
            </c:multiLvlStrRef>
          </c:cat>
          <c:val>
            <c:numRef>
              <c:f>Sheet1!$D$2:$D$5</c:f>
              <c:numCache>
                <c:formatCode>General</c:formatCode>
                <c:ptCount val="4"/>
                <c:pt idx="0">
                  <c:v>4.9</c:v>
                </c:pt>
                <c:pt idx="1">
                  <c:v>8.5</c:v>
                </c:pt>
                <c:pt idx="2">
                  <c:v>13.2</c:v>
                </c:pt>
                <c:pt idx="3">
                  <c:v>14.8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5D58"/>
                </a:solidFill>
                <a:latin typeface="Calibri"/>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9525" cap="flat">
              <a:solidFill>
                <a:srgbClr val="E6E4DF"/>
              </a:solidFill>
              <a:prstDash val="solid"/>
              <a:round/>
            </a:ln>
          </c:spPr>
        </c:majorGridlines>
        <c:numFmt formatCode="0&quot; %&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5D58"/>
                </a:solidFill>
                <a:latin typeface="Calibri"/>
              </a:defRPr>
            </a:pPr>
            <a:endParaRPr lang="en-US"/>
          </a:p>
        </c:txPr>
        <c:crossAx val="2094734554"/>
        <c:crosses val="autoZero"/>
        <c:crossBetween val="between"/>
        <c:majorUnit val="10"/>
      </c:valAx>
      <c:spPr>
        <a:noFill/>
        <a:ln>
          <a:noFill/>
        </a:ln>
        <a:effectLst/>
      </c:spPr>
    </c:plotArea>
    <c:legend>
      <c:legendPos val="t"/>
      <c:overlay val="0"/>
      <c:txPr>
        <a:bodyPr/>
        <a:lstStyle/>
        <a:p>
          <a:pPr>
            <a:defRPr sz="1200">
              <a:solidFill>
                <a:srgbClr val="1E1E1E"/>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[0:00–0:45] Einstieg
Auburn, New York, 6. August 1890: William Kemmler wird als erster Mensch auf dem elektrischen Stuhl hingerichtet. Der Generator stammt von Westinghouse – beschafft hatte ihn aber das Lager um Edison, um Wechselstrom als «Todesstrom» abzustempeln.
Leitfrage: Warum setzte sich in den USA trotzdem der Wechselstrom durch – und was zeigt der Konflikt über den Aufstieg der USA zur führenden Industriemacht?
These in einem Satz: Entschieden haben nicht Propaganda oder Genies, sondern Kosten, Kapital und Netzlogik.
Quellen: [6],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[0:45–1:45] Technik
Kernidee in einem Satz: Strom lässt sich nur mit hoher Spannung billig über weite Strecken schicken.
Der Verlust in der Leitung wächst mit dem Quadrat der Stromstärke. Verzehnfacht man die Spannung, braucht man für dieselbe Leistung nur ein Zehntel des Stroms – und hat nur noch ein Hundertstel des Verlusts.
Um 1890 liess sich nur Wechselstrom mit Transformatoren hoch- und heruntersetzen. Edisons Gleichstrom brauchte deshalb viele kleine Kraftwerke mitten in der Stadt und viel Kupfer.
Beispiel: Pearl Street versorgte 1882 rund 0,65 km²; 1896 floss Wechselstrom von den Niagarafällen über 30 km nach Buffalo.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[1:45–3:00] Akteure
Wichtig für die These: Im Kern stritten zwei Aktiengesellschaften mit ihren Investoren, nicht bloss zwei Erfinder.
Edison hatte viel Geld und Ruf in Gleichstrom-Kraftwerke gesteckt. Seine Warnungen vor Hochspannung waren aber nicht nur Taktik – er hielt sie auch für gefährlich.
Harold P. Brown war das öffentliche Gesicht der Kampagne gegen Wechselstrom; Edisons Labor half ihm im Hintergrund.
Westinghouse war Industrieller, kein Erfinder-Star: Er kaufte die nötigen Patente zu, darunter 1888 Teslas Motorpatente.
Tesla lieferte mit dem Wechselstrommotor das fehlende Stück, damit Wechselstrom auch in Fabriken nutzbar wurde.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[3:00–4:15] Verlauf, Teil 1
Phase 1: Offener Wettbewerb. 1882 startet Edisons Pearl Street Station, 1886 läuft in Great Barrington das erste Wechselstromnetz der USA mit Transformatoren, im selben Jahr gründet Westinghouse seine Elektrofirma.
Phase 2: Als Wechselstrom Kunden gewinnt, eskaliert es. 1888 warnt Edisons Firma mit der Broschüre «A Warning», Harold Brown tötet öffentlich Hunde mit Wechselstrom.
1889 führt New York den elektrischen Stuhl ein – bewusst mit einem Westinghouse-Generator. Edison und Westinghouse streiten sich zudem öffentlich in Artikeln der North American Review.
1890 die Hinrichtung von Kemmler: kein «sauberer» Tod, sondern ein Debakel – zurück zum Einstieg.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[4:15–5:30] Verlauf, Teil 2
Phase 3: Jetzt entscheiden Markt und Kapital.
1891 ist Westinghouse finanziell unter Druck; Tesla verzichtet auf seine Lizenzgebühren.
Der Wendepunkt ist 1892: Der Bankier J. P. Morgan fusioniert Edisons Firma mit Thomson-Houston zu General Electric. Edison verliert die Kontrolle – und GE setzt ebenfalls auf Wechselstrom. Damit ist der Systemstreit faktisch entschieden.
1893 beleuchtet Westinghouse die Weltausstellung in Chicago, 1896 fliesst Strom von den Niagarafällen nach Buffalo. Im selben Jahr teilen GE und Westinghouse ihre Patente – aus Rivalen wird ein Duopol.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[5:30–6:30] Warum Wechselstrom gewann
Erstens Kosten: Wenige grosse Kraftwerke und dünnere Leitungen waren billiger als viele kleine Gleichstromzentralen.
Zweitens: Die Angstkampagne scheiterte. Cole und Chandler (2019) beschreiben sie als «kompetitives Impression Management» – Edisons Lager wollte das Bild des Konkurrenzprodukts beschädigen, schaffte es aber nicht, Wechselstrom in der Öffentlichkeit dauerhaft mit dem Tod zu verknüpfen.
Drittens Europa und die Schweiz: 1891 übertragen AEG und die Maschinenfabrik Oerlikon Drehstrom über 175 km. Der Oerlikon-Ingenieur Charles Brown gründet im selben Jahr in Baden die BBC – heute ABB.
Und: Es war kein K.-o.-Sieg. Umformer verbanden alte und neue Netze; in Manhattan lief Gleichstrom bis 2007.
Deutung: Paul David nennt das Pfadabhängigkeit – ein Standard setzt sich in einem kurzen, offenen Zeitfenster durch und verfestigt sich dann.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[6:30–7:30] Bedeutung für die USA (1)
Hier der Bezug zum Modul «Weltmacht USA». Die Daten stammen von Paul Bairoch.
1880 lag Grossbritannien noch klar vorne. Zwischen 1880 und 1900 – also genau im Jahrzehnt des Stromkriegs – ziehen die USA vorbei. 1913 stellen sie knapp ein Drittel der Weltindustrieproduktion, mehr als Grossbritannien und Deutschland zusammen.
Vorsicht bei der Deutung: Der Stromkrieg hat das nicht allein verursacht. Aber billiger, übertragbarer Strom wurde zu einer Basistechnologie dieses Aufstiegs (Hughes).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[7:30–8:30] Bedeutung für die USA (2)
Fabriken: 1899 lieferten Elektromotoren knapp 5 Prozent der Antriebsleistung der US-Industrie, 1929 rund 78 Prozent (Devine).
Spannend ist die Verzögerung: Die Produktivität wuchs vor 1919 um 1,3 Prozent pro Jahr, danach um 3,1 Prozent. Paul David erklärt das so: Erst als Fabriken nicht mehr um eine zentrale Dampfmaschine, sondern um viele Elektromotoren herum gebaut wurden, zahlte sich die neue Technik aus.
Big Business: GE war 1896 einer der zwölf ersten Werte im Dow Jones. Mit Westinghouse bildete es ein Duopol mit Patentpool – typisch für das Gilded Age. An den Niagarafällen zog billige Wasserkraft zudem Aluminium- und Chemieindustrie an (Hughes, Networks of Power).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[8:30–9:30] Mythen und Quellenkritik
Zum Abschluss die Quellenkritik – das ist mir wichtig, weil viele populäre Darstellungen hier danebenliegen.
Erstens Topsy: Ein ABB-Beitrag behauptet, Edison habe zur Abschreckung einen Elefanten töten lassen. Die Edison Papers der Rutgers University zeigen: Das war 1903, über zehn Jahre nach dem Stromkrieg, und Edison war nicht beteiligt.
Zweitens «Tesla gegen Edison»: Filme machen daraus ein Duell der Genies; tatsächlich stritten Firmen und Investoren.
Drittens der zerrissene Vertrag: Dafür gibt es keinen Beleg – belegt ist nur der Verzicht auf Lizenzgebühren und der spätere Patentverkauf (Carlson).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[9:30–10:00] Fazit
Zurück zur Leitfrage: Wechselstrom gewann, weil er sich billiger skalieren liess und weil das grosse Kapital – J. P. Morgan und GE – am Ende darauf setzte. Die Angstkampagne hat daran nichts geändert.
Für die «Weltmacht USA» heisst das: Der Stromkrieg steht am Anfang eines Musters – Standardkriege, die mit Kapital entschieden werden, und Grosskonzerne, die danach den Markt aufteilen. McNichol nennt ihn deshalb den ersten Standardkrieg.
Und die Pointe: Heute kehrt der Gleichstrom für lange Strecken zurück – mit Hochspannungs-Gleichstrom-Übertragung, zuerst 1954 auf Gotland, gebaut von ASEA, heute wie die BBC aus Baden Teil von ABB.
Danke – Fragen?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Anhang – nur bei Nachfragen zeigen. Die Nummern entsprechen dem Literaturverzeichnis im Handout.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171C"/>
        </a:solidFill>
      </p:bgPr>
    </p:bg>
    <p:spTree>
      <p:nvGrpSpPr>
        <p:cNvPr id="1" name=""/>
        <p:cNvGrpSpPr/>
        <p:nvPr/>
      </p:nvGrpSpPr>
      <p:grpSpPr>
        <a:xfrm>
          <a:off x="0" y="0"/>
          <a:ext cx="0" cy="0"/>
          <a:chOff x="0" y="0"/>
          <a:chExt cx="0" cy="0"/>
        </a:xfrm>
      </p:grpSpPr>
      <p:sp>
        <p:nvSpPr>
          <p:cNvPr id="2" name="Shape 0"/>
          <p:cNvSpPr/>
          <p:nvPr/>
        </p:nvSpPr>
        <p:spPr>
          <a:xfrm>
            <a:off x="457200" y="411480"/>
            <a:ext cx="640080" cy="640080"/>
          </a:xfrm>
          <a:prstGeom prst="ellipse">
            <a:avLst/>
          </a:prstGeom>
          <a:solidFill>
            <a:srgbClr val="F2B33D"/>
          </a:solidFill>
          <a:ln w="12700">
            <a:solidFill>
              <a:srgbClr val="F2B33D"/>
            </a:solidFill>
            <a:prstDash val="solid"/>
          </a:ln>
        </p:spPr>
      </p:sp>
      <p:pic>
        <p:nvPicPr>
          <p:cNvPr id="3" name="Image 0" descr="preencoded.png">    </p:cNvPr>
          <p:cNvPicPr>
            <a:picLocks noChangeAspect="1"/>
          </p:cNvPicPr>
          <p:nvPr/>
        </p:nvPicPr>
        <p:blipFill>
          <a:blip r:embed="rId1"/>
          <a:stretch>
            <a:fillRect/>
          </a:stretch>
        </p:blipFill>
        <p:spPr>
          <a:xfrm>
            <a:off x="617220" y="571500"/>
            <a:ext cx="320040" cy="320040"/>
          </a:xfrm>
          <a:prstGeom prst="rect">
            <a:avLst/>
          </a:prstGeom>
        </p:spPr>
      </p:pic>
      <p:sp>
        <p:nvSpPr>
          <p:cNvPr id="4" name="Text 1"/>
          <p:cNvSpPr txBox="1"/>
          <p:nvPr/>
        </p:nvSpPr>
        <p:spPr>
          <a:xfrm>
            <a:off x="1280160" y="502920"/>
            <a:ext cx="6400800" cy="457200"/>
          </a:xfrm>
          <a:prstGeom prst="rect">
            <a:avLst/>
          </a:prstGeom>
          <a:noFill/>
          <a:ln/>
        </p:spPr>
        <p:txBody>
          <a:bodyPr wrap="square" lIns="0" tIns="0" rIns="0" bIns="0" rtlCol="0" anchor="ctr"/>
          <a:lstStyle/>
          <a:p>
            <a:pPr indent="0" marL="0">
              <a:buNone/>
            </a:pPr>
            <a:r>
              <a:rPr lang="en-US" sz="1300" dirty="0">
                <a:solidFill>
                  <a:srgbClr val="F2B33D"/>
                </a:solidFill>
                <a:latin typeface="Calibri" pitchFamily="34" charset="0"/>
                <a:ea typeface="Calibri" pitchFamily="34" charset="-122"/>
                <a:cs typeface="Calibri" pitchFamily="34" charset="-120"/>
              </a:rPr>
              <a:t>Referat · Modul «Weltmacht USA» · FHNW</a:t>
            </a:r>
            <a:endParaRPr lang="en-US" sz="1300" dirty="0"/>
          </a:p>
        </p:txBody>
      </p:sp>
      <p:sp>
        <p:nvSpPr>
          <p:cNvPr id="5" name="Text 2"/>
          <p:cNvSpPr txBox="1"/>
          <p:nvPr/>
        </p:nvSpPr>
        <p:spPr>
          <a:xfrm>
            <a:off x="457200" y="1234440"/>
            <a:ext cx="8229600" cy="868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Der Stromkrieg</a:t>
            </a:r>
            <a:endParaRPr lang="en-US" sz="4800" dirty="0"/>
          </a:p>
        </p:txBody>
      </p:sp>
      <p:sp>
        <p:nvSpPr>
          <p:cNvPr id="6" name="Text 3"/>
          <p:cNvSpPr txBox="1"/>
          <p:nvPr/>
        </p:nvSpPr>
        <p:spPr>
          <a:xfrm>
            <a:off x="457200" y="2103120"/>
            <a:ext cx="7863840" cy="640080"/>
          </a:xfrm>
          <a:prstGeom prst="rect">
            <a:avLst/>
          </a:prstGeom>
          <a:noFill/>
          <a:ln/>
        </p:spPr>
        <p:txBody>
          <a:bodyPr wrap="square" lIns="0" tIns="0" rIns="0" bIns="0" rtlCol="0" anchor="ctr"/>
          <a:lstStyle/>
          <a:p>
            <a:pPr indent="0" marL="0">
              <a:buNone/>
            </a:pPr>
            <a:r>
              <a:rPr lang="en-US" sz="1800" dirty="0">
                <a:solidFill>
                  <a:srgbClr val="C9CDD3"/>
                </a:solidFill>
                <a:latin typeface="Calibri" pitchFamily="34" charset="0"/>
                <a:ea typeface="Calibri" pitchFamily="34" charset="-122"/>
                <a:cs typeface="Calibri" pitchFamily="34" charset="-120"/>
              </a:rPr>
              <a:t>Edison vs. Westinghouse – der Kampf um Amerikas Stromnetz und die Rolle von Nikola Tesla</a:t>
            </a:r>
            <a:endParaRPr lang="en-US" sz="1800" dirty="0"/>
          </a:p>
        </p:txBody>
      </p:sp>
      <p:sp>
        <p:nvSpPr>
          <p:cNvPr id="7" name="Shape 4"/>
          <p:cNvSpPr/>
          <p:nvPr/>
        </p:nvSpPr>
        <p:spPr>
          <a:xfrm>
            <a:off x="457200" y="3017520"/>
            <a:ext cx="8229600" cy="1234440"/>
          </a:xfrm>
          <a:prstGeom prst="rect">
            <a:avLst/>
          </a:prstGeom>
          <a:solidFill>
            <a:srgbClr val="22252C"/>
          </a:solidFill>
          <a:ln w="12700">
            <a:solidFill>
              <a:srgbClr val="22252C"/>
            </a:solidFill>
            <a:prstDash val="solid"/>
          </a:ln>
        </p:spPr>
      </p:sp>
      <p:sp>
        <p:nvSpPr>
          <p:cNvPr id="8" name="Text 5"/>
          <p:cNvSpPr txBox="1"/>
          <p:nvPr/>
        </p:nvSpPr>
        <p:spPr>
          <a:xfrm>
            <a:off x="685800" y="3108960"/>
            <a:ext cx="7772400" cy="1051560"/>
          </a:xfrm>
          <a:prstGeom prst="rect">
            <a:avLst/>
          </a:prstGeom>
          <a:noFill/>
          <a:ln/>
        </p:spPr>
        <p:txBody>
          <a:bodyPr wrap="square" lIns="0" tIns="0" rIns="0" bIns="0" rtlCol="0" anchor="ctr"/>
          <a:lstStyle/>
          <a:p>
            <a:pPr indent="0" marL="0">
              <a:spcAft>
                <a:spcPts val="600"/>
              </a:spcAft>
              <a:buNone/>
            </a:pPr>
            <a:r>
              <a:rPr lang="en-US" sz="1700" b="1" dirty="0">
                <a:solidFill>
                  <a:srgbClr val="F2B33D"/>
                </a:solidFill>
                <a:latin typeface="Calibri" pitchFamily="34" charset="0"/>
                <a:ea typeface="Calibri" pitchFamily="34" charset="-122"/>
                <a:cs typeface="Calibri" pitchFamily="34" charset="-120"/>
              </a:rPr>
              <a:t>Auburn (New York), 6. August 1890: </a:t>
            </a:r>
            <a:pPr indent="0" marL="0">
              <a:spcAft>
                <a:spcPts val="600"/>
              </a:spcAft>
              <a:buNone/>
            </a:pPr>
            <a:r>
              <a:rPr lang="en-US" sz="1700" dirty="0">
                <a:solidFill>
                  <a:srgbClr val="FFFFFF"/>
                </a:solidFill>
                <a:latin typeface="Calibri" pitchFamily="34" charset="0"/>
                <a:ea typeface="Calibri" pitchFamily="34" charset="-122"/>
                <a:cs typeface="Calibri" pitchFamily="34" charset="-120"/>
              </a:rPr>
              <a:t>Die erste Hinrichtung mit Strom – betrieben von einem Westinghouse-Generator.</a:t>
            </a:r>
            <a:endParaRPr lang="en-US" sz="1700" dirty="0"/>
          </a:p>
          <a:p>
            <a:pPr indent="0" marL="0">
              <a:spcAft>
                <a:spcPts val="600"/>
              </a:spcAft>
              <a:buNone/>
            </a:pPr>
            <a:r>
              <a:rPr lang="en-US" sz="1700" i="1" dirty="0">
                <a:solidFill>
                  <a:srgbClr val="C9CDD3"/>
                </a:solidFill>
                <a:latin typeface="Calibri" pitchFamily="34" charset="0"/>
                <a:ea typeface="Calibri" pitchFamily="34" charset="-122"/>
                <a:cs typeface="Calibri" pitchFamily="34" charset="-120"/>
              </a:rPr>
              <a:t>Wie wird eine Hinrichtung zur Werbekampagne?</a:t>
            </a:r>
            <a:endParaRPr lang="en-US" sz="1700" dirty="0"/>
          </a:p>
        </p:txBody>
      </p:sp>
      <p:sp>
        <p:nvSpPr>
          <p:cNvPr id="9" name="Text 6"/>
          <p:cNvSpPr txBox="1"/>
          <p:nvPr/>
        </p:nvSpPr>
        <p:spPr>
          <a:xfrm>
            <a:off x="457200" y="4526280"/>
            <a:ext cx="6400800" cy="274320"/>
          </a:xfrm>
          <a:prstGeom prst="rect">
            <a:avLst/>
          </a:prstGeom>
          <a:noFill/>
          <a:ln/>
        </p:spPr>
        <p:txBody>
          <a:bodyPr wrap="square" lIns="0" tIns="0" rIns="0" bIns="0" rtlCol="0" anchor="ctr"/>
          <a:lstStyle/>
          <a:p>
            <a:pPr indent="0" marL="0">
              <a:buNone/>
            </a:pPr>
            <a:r>
              <a:rPr lang="en-US" sz="1100" dirty="0">
                <a:solidFill>
                  <a:srgbClr val="9AA0A8"/>
                </a:solidFill>
                <a:latin typeface="Calibri" pitchFamily="34" charset="0"/>
                <a:ea typeface="Calibri" pitchFamily="34" charset="-122"/>
                <a:cs typeface="Calibri" pitchFamily="34" charset="-120"/>
              </a:rPr>
              <a:t>Simon Bruder · 10. Dezember 2026 · Dozent: Stephan Schwarz</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85800"/>
          </a:xfrm>
          <a:prstGeom prst="rect">
            <a:avLst/>
          </a:prstGeom>
          <a:noFill/>
          <a:ln/>
        </p:spPr>
        <p:txBody>
          <a:bodyPr wrap="square" lIns="0" tIns="0" rIns="0" bIns="0" rtlCol="0" anchor="ctr"/>
          <a:lstStyle/>
          <a:p>
            <a:pPr indent="0" marL="0">
              <a:buNone/>
            </a:pPr>
            <a:r>
              <a:rPr lang="en-US" sz="2600" b="1" dirty="0">
                <a:solidFill>
                  <a:srgbClr val="1E1E1E"/>
                </a:solidFill>
                <a:latin typeface="Cambria" pitchFamily="34" charset="0"/>
                <a:ea typeface="Cambria" pitchFamily="34" charset="-122"/>
                <a:cs typeface="Cambria" pitchFamily="34" charset="-120"/>
              </a:rPr>
              <a:t>Hohe Spannung macht Strom transportierbar</a:t>
            </a:r>
            <a:endParaRPr lang="en-US" sz="2600" dirty="0"/>
          </a:p>
        </p:txBody>
      </p:sp>
      <p:sp>
        <p:nvSpPr>
          <p:cNvPr id="3" name="Shape 1"/>
          <p:cNvSpPr/>
          <p:nvPr/>
        </p:nvSpPr>
        <p:spPr>
          <a:xfrm>
            <a:off x="457200" y="1188720"/>
            <a:ext cx="3749040" cy="822960"/>
          </a:xfrm>
          <a:prstGeom prst="rect">
            <a:avLst/>
          </a:prstGeom>
          <a:solidFill>
            <a:srgbClr val="E6F1F5"/>
          </a:solidFill>
          <a:ln w="12700">
            <a:solidFill>
              <a:srgbClr val="E6F1F5"/>
            </a:solidFill>
            <a:prstDash val="solid"/>
          </a:ln>
        </p:spPr>
      </p:sp>
      <p:sp>
        <p:nvSpPr>
          <p:cNvPr id="4" name="Text 2"/>
          <p:cNvSpPr txBox="1"/>
          <p:nvPr/>
        </p:nvSpPr>
        <p:spPr>
          <a:xfrm>
            <a:off x="594360" y="1188720"/>
            <a:ext cx="3566160" cy="822960"/>
          </a:xfrm>
          <a:prstGeom prst="rect">
            <a:avLst/>
          </a:prstGeom>
          <a:noFill/>
          <a:ln/>
        </p:spPr>
        <p:txBody>
          <a:bodyPr wrap="square" lIns="0" tIns="0" rIns="0" bIns="0" rtlCol="0" anchor="ctr"/>
          <a:lstStyle/>
          <a:p>
            <a:pPr indent="0" marL="0">
              <a:buNone/>
            </a:pPr>
            <a:r>
              <a:rPr lang="en-US" sz="2200" b="1" dirty="0">
                <a:solidFill>
                  <a:srgbClr val="0E7C9E"/>
                </a:solidFill>
                <a:latin typeface="Cambria" pitchFamily="34" charset="0"/>
                <a:ea typeface="Cambria" pitchFamily="34" charset="-122"/>
                <a:cs typeface="Cambria" pitchFamily="34" charset="-120"/>
              </a:rPr>
              <a:t>Leitungsverlust = I</a:t>
            </a:r>
            <a:pPr indent="0" marL="0">
              <a:buNone/>
            </a:pPr>
            <a:r>
              <a:rPr lang="en-US" sz="2200" b="1" baseline="30000" dirty="0">
                <a:solidFill>
                  <a:srgbClr val="0E7C9E"/>
                </a:solidFill>
                <a:latin typeface="Cambria" pitchFamily="34" charset="0"/>
                <a:ea typeface="Cambria" pitchFamily="34" charset="-122"/>
                <a:cs typeface="Cambria" pitchFamily="34" charset="-120"/>
              </a:rPr>
              <a:t>2</a:t>
            </a:r>
            <a:pPr indent="0" marL="0">
              <a:buNone/>
            </a:pPr>
            <a:r>
              <a:rPr lang="en-US" sz="2200" b="1" dirty="0">
                <a:solidFill>
                  <a:srgbClr val="0E7C9E"/>
                </a:solidFill>
                <a:latin typeface="Cambria" pitchFamily="34" charset="0"/>
                <a:ea typeface="Cambria" pitchFamily="34" charset="-122"/>
                <a:cs typeface="Cambria" pitchFamily="34" charset="-120"/>
              </a:rPr>
              <a:t> · R</a:t>
            </a:r>
            <a:endParaRPr lang="en-US" sz="2200" dirty="0"/>
          </a:p>
        </p:txBody>
      </p:sp>
      <p:sp>
        <p:nvSpPr>
          <p:cNvPr id="5" name="Text 3"/>
          <p:cNvSpPr txBox="1"/>
          <p:nvPr/>
        </p:nvSpPr>
        <p:spPr>
          <a:xfrm>
            <a:off x="457200" y="2194560"/>
            <a:ext cx="3749040" cy="1463040"/>
          </a:xfrm>
          <a:prstGeom prst="rect">
            <a:avLst/>
          </a:prstGeom>
          <a:noFill/>
          <a:ln/>
        </p:spPr>
        <p:txBody>
          <a:bodyPr wrap="square" lIns="0" tIns="0" rIns="0" bIns="0" rtlCol="0" anchor="t"/>
          <a:lstStyle/>
          <a:p>
            <a:pPr indent="0" marL="0">
              <a:spcAft>
                <a:spcPts val="1000"/>
              </a:spcAft>
              <a:buNone/>
            </a:pPr>
            <a:r>
              <a:rPr lang="en-US" sz="1500" b="1" dirty="0">
                <a:solidFill>
                  <a:srgbClr val="C8641E"/>
                </a:solidFill>
                <a:latin typeface="Calibri" pitchFamily="34" charset="0"/>
                <a:ea typeface="Calibri" pitchFamily="34" charset="-122"/>
                <a:cs typeface="Calibri" pitchFamily="34" charset="-120"/>
              </a:rPr>
              <a:t>Gleichstrom (Edison): </a:t>
            </a:r>
            <a:pPr indent="0" marL="0">
              <a:spcAft>
                <a:spcPts val="1000"/>
              </a:spcAft>
              <a:buNone/>
            </a:pPr>
            <a:r>
              <a:rPr lang="en-US" sz="1500" dirty="0">
                <a:solidFill>
                  <a:srgbClr val="1E1E1E"/>
                </a:solidFill>
                <a:latin typeface="Calibri" pitchFamily="34" charset="0"/>
                <a:ea typeface="Calibri" pitchFamily="34" charset="-122"/>
                <a:cs typeface="Calibri" pitchFamily="34" charset="-120"/>
              </a:rPr>
              <a:t>rund 110 V, um 1890 nicht transformierbar – Reichweite ein Stadtquartier.</a:t>
            </a:r>
            <a:endParaRPr lang="en-US" sz="1500" dirty="0"/>
          </a:p>
          <a:p>
            <a:pPr indent="0" marL="0">
              <a:spcAft>
                <a:spcPts val="1000"/>
              </a:spcAft>
              <a:buNone/>
            </a:pPr>
            <a:r>
              <a:rPr lang="en-US" sz="1500" b="1" dirty="0">
                <a:solidFill>
                  <a:srgbClr val="0E7C9E"/>
                </a:solidFill>
                <a:latin typeface="Calibri" pitchFamily="34" charset="0"/>
                <a:ea typeface="Calibri" pitchFamily="34" charset="-122"/>
                <a:cs typeface="Calibri" pitchFamily="34" charset="-120"/>
              </a:rPr>
              <a:t>Wechselstrom (Westinghouse, Tesla): </a:t>
            </a:r>
            <a:pPr indent="0" marL="0">
              <a:spcAft>
                <a:spcPts val="1000"/>
              </a:spcAft>
              <a:buNone/>
            </a:pPr>
            <a:r>
              <a:rPr lang="en-US" sz="1500" dirty="0">
                <a:solidFill>
                  <a:srgbClr val="1E1E1E"/>
                </a:solidFill>
                <a:latin typeface="Calibri" pitchFamily="34" charset="0"/>
                <a:ea typeface="Calibri" pitchFamily="34" charset="-122"/>
                <a:cs typeface="Calibri" pitchFamily="34" charset="-120"/>
              </a:rPr>
              <a:t>Der Transformator setzt die Spannung im Netz hoch und beim Kunden herunter.</a:t>
            </a:r>
            <a:endParaRPr lang="en-US" sz="1500" dirty="0"/>
          </a:p>
        </p:txBody>
      </p:sp>
      <p:sp>
        <p:nvSpPr>
          <p:cNvPr id="6" name="Shape 4"/>
          <p:cNvSpPr/>
          <p:nvPr/>
        </p:nvSpPr>
        <p:spPr>
          <a:xfrm>
            <a:off x="4617720" y="1188720"/>
            <a:ext cx="1143000" cy="1325880"/>
          </a:xfrm>
          <a:prstGeom prst="roundRect">
            <a:avLst>
              <a:gd name="adj" fmla="val 6400"/>
            </a:avLst>
          </a:prstGeom>
          <a:solidFill>
            <a:srgbClr val="F3F5F6"/>
          </a:solidFill>
          <a:ln w="12700">
            <a:solidFill>
              <a:srgbClr val="F3F5F6"/>
            </a:solidFill>
            <a:prstDash val="solid"/>
          </a:ln>
        </p:spPr>
      </p:sp>
      <p:sp>
        <p:nvSpPr>
          <p:cNvPr id="7" name="Text 5"/>
          <p:cNvSpPr txBox="1"/>
          <p:nvPr/>
        </p:nvSpPr>
        <p:spPr>
          <a:xfrm>
            <a:off x="4617720" y="1280160"/>
            <a:ext cx="1143000" cy="685800"/>
          </a:xfrm>
          <a:prstGeom prst="rect">
            <a:avLst/>
          </a:prstGeom>
          <a:noFill/>
          <a:ln/>
        </p:spPr>
        <p:txBody>
          <a:bodyPr wrap="square" lIns="0" tIns="0" rIns="0" bIns="0" rtlCol="0" anchor="ctr"/>
          <a:lstStyle/>
          <a:p>
            <a:pPr algn="ctr" indent="0" marL="0">
              <a:buNone/>
            </a:pPr>
            <a:r>
              <a:rPr lang="en-US" sz="2800" b="1" dirty="0">
                <a:solidFill>
                  <a:srgbClr val="1E1E1E"/>
                </a:solidFill>
                <a:latin typeface="Cambria" pitchFamily="34" charset="0"/>
                <a:ea typeface="Cambria" pitchFamily="34" charset="-122"/>
                <a:cs typeface="Cambria" pitchFamily="34" charset="-120"/>
              </a:rPr>
              <a:t>10 ×</a:t>
            </a:r>
            <a:endParaRPr lang="en-US" sz="2800" dirty="0"/>
          </a:p>
        </p:txBody>
      </p:sp>
      <p:sp>
        <p:nvSpPr>
          <p:cNvPr id="8" name="Text 6"/>
          <p:cNvSpPr txBox="1"/>
          <p:nvPr/>
        </p:nvSpPr>
        <p:spPr>
          <a:xfrm>
            <a:off x="4617720" y="1965960"/>
            <a:ext cx="1143000" cy="411480"/>
          </a:xfrm>
          <a:prstGeom prst="rect">
            <a:avLst/>
          </a:prstGeom>
          <a:noFill/>
          <a:ln/>
        </p:spPr>
        <p:txBody>
          <a:bodyPr wrap="square" lIns="0" tIns="0" rIns="0" bIns="0" rtlCol="0" anchor="ctr"/>
          <a:lstStyle/>
          <a:p>
            <a:pPr algn="ctr" indent="0" marL="0">
              <a:buNone/>
            </a:pPr>
            <a:r>
              <a:rPr lang="en-US" sz="1300" dirty="0">
                <a:solidFill>
                  <a:srgbClr val="5F5D58"/>
                </a:solidFill>
                <a:latin typeface="Calibri" pitchFamily="34" charset="0"/>
                <a:ea typeface="Calibri" pitchFamily="34" charset="-122"/>
                <a:cs typeface="Calibri" pitchFamily="34" charset="-120"/>
              </a:rPr>
              <a:t>Spannung</a:t>
            </a:r>
            <a:endParaRPr lang="en-US" sz="1300" dirty="0"/>
          </a:p>
        </p:txBody>
      </p:sp>
      <p:sp>
        <p:nvSpPr>
          <p:cNvPr id="9" name="Shape 7"/>
          <p:cNvSpPr/>
          <p:nvPr/>
        </p:nvSpPr>
        <p:spPr>
          <a:xfrm>
            <a:off x="5815584" y="1737360"/>
            <a:ext cx="182880" cy="228600"/>
          </a:xfrm>
          <a:prstGeom prst="rightArrow">
            <a:avLst/>
          </a:prstGeom>
          <a:solidFill>
            <a:srgbClr val="C9D3D8"/>
          </a:solidFill>
          <a:ln w="12700">
            <a:solidFill>
              <a:srgbClr val="C9D3D8"/>
            </a:solidFill>
            <a:prstDash val="solid"/>
          </a:ln>
        </p:spPr>
      </p:sp>
      <p:sp>
        <p:nvSpPr>
          <p:cNvPr id="10" name="Shape 8"/>
          <p:cNvSpPr/>
          <p:nvPr/>
        </p:nvSpPr>
        <p:spPr>
          <a:xfrm>
            <a:off x="6035040" y="1188720"/>
            <a:ext cx="1143000" cy="1325880"/>
          </a:xfrm>
          <a:prstGeom prst="roundRect">
            <a:avLst>
              <a:gd name="adj" fmla="val 6400"/>
            </a:avLst>
          </a:prstGeom>
          <a:solidFill>
            <a:srgbClr val="F3F5F6"/>
          </a:solidFill>
          <a:ln w="12700">
            <a:solidFill>
              <a:srgbClr val="F3F5F6"/>
            </a:solidFill>
            <a:prstDash val="solid"/>
          </a:ln>
        </p:spPr>
      </p:sp>
      <p:sp>
        <p:nvSpPr>
          <p:cNvPr id="11" name="Text 9"/>
          <p:cNvSpPr txBox="1"/>
          <p:nvPr/>
        </p:nvSpPr>
        <p:spPr>
          <a:xfrm>
            <a:off x="6035040" y="1280160"/>
            <a:ext cx="1143000" cy="685800"/>
          </a:xfrm>
          <a:prstGeom prst="rect">
            <a:avLst/>
          </a:prstGeom>
          <a:noFill/>
          <a:ln/>
        </p:spPr>
        <p:txBody>
          <a:bodyPr wrap="square" lIns="0" tIns="0" rIns="0" bIns="0" rtlCol="0" anchor="ctr"/>
          <a:lstStyle/>
          <a:p>
            <a:pPr algn="ctr" indent="0" marL="0">
              <a:buNone/>
            </a:pPr>
            <a:r>
              <a:rPr lang="en-US" sz="2800" b="1" dirty="0">
                <a:solidFill>
                  <a:srgbClr val="1E1E1E"/>
                </a:solidFill>
                <a:latin typeface="Cambria" pitchFamily="34" charset="0"/>
                <a:ea typeface="Cambria" pitchFamily="34" charset="-122"/>
                <a:cs typeface="Cambria" pitchFamily="34" charset="-120"/>
              </a:rPr>
              <a:t>1/10</a:t>
            </a:r>
            <a:endParaRPr lang="en-US" sz="2800" dirty="0"/>
          </a:p>
        </p:txBody>
      </p:sp>
      <p:sp>
        <p:nvSpPr>
          <p:cNvPr id="12" name="Text 10"/>
          <p:cNvSpPr txBox="1"/>
          <p:nvPr/>
        </p:nvSpPr>
        <p:spPr>
          <a:xfrm>
            <a:off x="6035040" y="1965960"/>
            <a:ext cx="1143000" cy="411480"/>
          </a:xfrm>
          <a:prstGeom prst="rect">
            <a:avLst/>
          </a:prstGeom>
          <a:noFill/>
          <a:ln/>
        </p:spPr>
        <p:txBody>
          <a:bodyPr wrap="square" lIns="0" tIns="0" rIns="0" bIns="0" rtlCol="0" anchor="ctr"/>
          <a:lstStyle/>
          <a:p>
            <a:pPr algn="ctr" indent="0" marL="0">
              <a:buNone/>
            </a:pPr>
            <a:r>
              <a:rPr lang="en-US" sz="1300" dirty="0">
                <a:solidFill>
                  <a:srgbClr val="5F5D58"/>
                </a:solidFill>
                <a:latin typeface="Calibri" pitchFamily="34" charset="0"/>
                <a:ea typeface="Calibri" pitchFamily="34" charset="-122"/>
                <a:cs typeface="Calibri" pitchFamily="34" charset="-120"/>
              </a:rPr>
              <a:t>Strom</a:t>
            </a:r>
            <a:endParaRPr lang="en-US" sz="1300" dirty="0"/>
          </a:p>
        </p:txBody>
      </p:sp>
      <p:sp>
        <p:nvSpPr>
          <p:cNvPr id="13" name="Shape 11"/>
          <p:cNvSpPr/>
          <p:nvPr/>
        </p:nvSpPr>
        <p:spPr>
          <a:xfrm>
            <a:off x="7232904" y="1737360"/>
            <a:ext cx="182880" cy="228600"/>
          </a:xfrm>
          <a:prstGeom prst="rightArrow">
            <a:avLst/>
          </a:prstGeom>
          <a:solidFill>
            <a:srgbClr val="C9D3D8"/>
          </a:solidFill>
          <a:ln w="12700">
            <a:solidFill>
              <a:srgbClr val="C9D3D8"/>
            </a:solidFill>
            <a:prstDash val="solid"/>
          </a:ln>
        </p:spPr>
      </p:sp>
      <p:sp>
        <p:nvSpPr>
          <p:cNvPr id="14" name="Shape 12"/>
          <p:cNvSpPr/>
          <p:nvPr/>
        </p:nvSpPr>
        <p:spPr>
          <a:xfrm>
            <a:off x="7452360" y="1188720"/>
            <a:ext cx="1143000" cy="1325880"/>
          </a:xfrm>
          <a:prstGeom prst="roundRect">
            <a:avLst>
              <a:gd name="adj" fmla="val 6400"/>
            </a:avLst>
          </a:prstGeom>
          <a:solidFill>
            <a:srgbClr val="F3F5F6"/>
          </a:solidFill>
          <a:ln w="12700">
            <a:solidFill>
              <a:srgbClr val="F3F5F6"/>
            </a:solidFill>
            <a:prstDash val="solid"/>
          </a:ln>
        </p:spPr>
      </p:sp>
      <p:sp>
        <p:nvSpPr>
          <p:cNvPr id="15" name="Text 13"/>
          <p:cNvSpPr txBox="1"/>
          <p:nvPr/>
        </p:nvSpPr>
        <p:spPr>
          <a:xfrm>
            <a:off x="7452360" y="1280160"/>
            <a:ext cx="1143000" cy="685800"/>
          </a:xfrm>
          <a:prstGeom prst="rect">
            <a:avLst/>
          </a:prstGeom>
          <a:noFill/>
          <a:ln/>
        </p:spPr>
        <p:txBody>
          <a:bodyPr wrap="square" lIns="0" tIns="0" rIns="0" bIns="0" rtlCol="0" anchor="ctr"/>
          <a:lstStyle/>
          <a:p>
            <a:pPr algn="ctr" indent="0" marL="0">
              <a:buNone/>
            </a:pPr>
            <a:r>
              <a:rPr lang="en-US" sz="2800" b="1" dirty="0">
                <a:solidFill>
                  <a:srgbClr val="0E7C9E"/>
                </a:solidFill>
                <a:latin typeface="Cambria" pitchFamily="34" charset="0"/>
                <a:ea typeface="Cambria" pitchFamily="34" charset="-122"/>
                <a:cs typeface="Cambria" pitchFamily="34" charset="-120"/>
              </a:rPr>
              <a:t>1/100</a:t>
            </a:r>
            <a:endParaRPr lang="en-US" sz="2800" dirty="0"/>
          </a:p>
        </p:txBody>
      </p:sp>
      <p:sp>
        <p:nvSpPr>
          <p:cNvPr id="16" name="Text 14"/>
          <p:cNvSpPr txBox="1"/>
          <p:nvPr/>
        </p:nvSpPr>
        <p:spPr>
          <a:xfrm>
            <a:off x="7452360" y="1965960"/>
            <a:ext cx="1143000" cy="411480"/>
          </a:xfrm>
          <a:prstGeom prst="rect">
            <a:avLst/>
          </a:prstGeom>
          <a:noFill/>
          <a:ln/>
        </p:spPr>
        <p:txBody>
          <a:bodyPr wrap="square" lIns="0" tIns="0" rIns="0" bIns="0" rtlCol="0" anchor="ctr"/>
          <a:lstStyle/>
          <a:p>
            <a:pPr algn="ctr" indent="0" marL="0">
              <a:buNone/>
            </a:pPr>
            <a:r>
              <a:rPr lang="en-US" sz="1300" dirty="0">
                <a:solidFill>
                  <a:srgbClr val="5F5D58"/>
                </a:solidFill>
                <a:latin typeface="Calibri" pitchFamily="34" charset="0"/>
                <a:ea typeface="Calibri" pitchFamily="34" charset="-122"/>
                <a:cs typeface="Calibri" pitchFamily="34" charset="-120"/>
              </a:rPr>
              <a:t>Verlust</a:t>
            </a:r>
            <a:endParaRPr lang="en-US" sz="1300" dirty="0"/>
          </a:p>
        </p:txBody>
      </p:sp>
      <p:sp>
        <p:nvSpPr>
          <p:cNvPr id="17" name="Text 15"/>
          <p:cNvSpPr txBox="1"/>
          <p:nvPr/>
        </p:nvSpPr>
        <p:spPr>
          <a:xfrm>
            <a:off x="4617720" y="2606040"/>
            <a:ext cx="3977640" cy="274320"/>
          </a:xfrm>
          <a:prstGeom prst="rect">
            <a:avLst/>
          </a:prstGeom>
          <a:noFill/>
          <a:ln/>
        </p:spPr>
        <p:txBody>
          <a:bodyPr wrap="square" lIns="0" tIns="0" rIns="0" bIns="0" rtlCol="0" anchor="ctr"/>
          <a:lstStyle/>
          <a:p>
            <a:pPr indent="0" marL="0">
              <a:buNone/>
            </a:pPr>
            <a:r>
              <a:rPr lang="en-US" sz="1100" i="1" dirty="0">
                <a:solidFill>
                  <a:srgbClr val="5F5D58"/>
                </a:solidFill>
                <a:latin typeface="Calibri" pitchFamily="34" charset="0"/>
                <a:ea typeface="Calibri" pitchFamily="34" charset="-122"/>
                <a:cs typeface="Calibri" pitchFamily="34" charset="-120"/>
              </a:rPr>
              <a:t>bei gleicher übertragener Leistung</a:t>
            </a:r>
            <a:endParaRPr lang="en-US" sz="1100" dirty="0"/>
          </a:p>
        </p:txBody>
      </p:sp>
      <p:sp>
        <p:nvSpPr>
          <p:cNvPr id="18" name="Shape 16"/>
          <p:cNvSpPr/>
          <p:nvPr/>
        </p:nvSpPr>
        <p:spPr>
          <a:xfrm>
            <a:off x="4617720" y="3172968"/>
            <a:ext cx="320040" cy="320040"/>
          </a:xfrm>
          <a:prstGeom prst="ellipse">
            <a:avLst/>
          </a:prstGeom>
          <a:solidFill>
            <a:srgbClr val="C8641E"/>
          </a:solidFill>
          <a:ln w="12700">
            <a:solidFill>
              <a:srgbClr val="C8641E"/>
            </a:solidFill>
            <a:prstDash val="solid"/>
          </a:ln>
        </p:spPr>
      </p:sp>
      <p:sp>
        <p:nvSpPr>
          <p:cNvPr id="19" name="Text 17"/>
          <p:cNvSpPr txBox="1"/>
          <p:nvPr/>
        </p:nvSpPr>
        <p:spPr>
          <a:xfrm>
            <a:off x="5074920" y="3063240"/>
            <a:ext cx="3566160" cy="594360"/>
          </a:xfrm>
          <a:prstGeom prst="rect">
            <a:avLst/>
          </a:prstGeom>
          <a:noFill/>
          <a:ln/>
        </p:spPr>
        <p:txBody>
          <a:bodyPr wrap="square" lIns="0" tIns="0" rIns="0" bIns="0" rtlCol="0" anchor="ctr"/>
          <a:lstStyle/>
          <a:p>
            <a:pPr indent="0" marL="0">
              <a:buNone/>
            </a:pPr>
            <a:r>
              <a:rPr lang="en-US" sz="1400" b="1" dirty="0">
                <a:solidFill>
                  <a:srgbClr val="1E1E1E"/>
                </a:solidFill>
                <a:latin typeface="Calibri" pitchFamily="34" charset="0"/>
                <a:ea typeface="Calibri" pitchFamily="34" charset="-122"/>
                <a:cs typeface="Calibri" pitchFamily="34" charset="-120"/>
              </a:rPr>
              <a:t>Pearl Street 1882</a:t>
            </a:r>
            <a:endParaRPr lang="en-US" sz="1400" dirty="0"/>
          </a:p>
          <a:p>
            <a:pPr indent="0" marL="0">
              <a:buNone/>
            </a:pPr>
            <a:r>
              <a:rPr lang="en-US" sz="1400" dirty="0">
                <a:solidFill>
                  <a:srgbClr val="5F5D58"/>
                </a:solidFill>
                <a:latin typeface="Calibri" pitchFamily="34" charset="0"/>
                <a:ea typeface="Calibri" pitchFamily="34" charset="-122"/>
                <a:cs typeface="Calibri" pitchFamily="34" charset="-120"/>
              </a:rPr>
              <a:t>Versorgungsgebiet 0,65 km²</a:t>
            </a:r>
            <a:endParaRPr lang="en-US" sz="1400" dirty="0"/>
          </a:p>
        </p:txBody>
      </p:sp>
      <p:sp>
        <p:nvSpPr>
          <p:cNvPr id="20" name="Shape 18"/>
          <p:cNvSpPr/>
          <p:nvPr/>
        </p:nvSpPr>
        <p:spPr>
          <a:xfrm>
            <a:off x="4617720" y="3904488"/>
            <a:ext cx="320040" cy="320040"/>
          </a:xfrm>
          <a:prstGeom prst="ellipse">
            <a:avLst/>
          </a:prstGeom>
          <a:solidFill>
            <a:srgbClr val="0E7C9E"/>
          </a:solidFill>
          <a:ln w="12700">
            <a:solidFill>
              <a:srgbClr val="0E7C9E"/>
            </a:solidFill>
            <a:prstDash val="solid"/>
          </a:ln>
        </p:spPr>
      </p:sp>
      <p:sp>
        <p:nvSpPr>
          <p:cNvPr id="21" name="Text 19"/>
          <p:cNvSpPr txBox="1"/>
          <p:nvPr/>
        </p:nvSpPr>
        <p:spPr>
          <a:xfrm>
            <a:off x="5074920" y="3794760"/>
            <a:ext cx="3566160" cy="594360"/>
          </a:xfrm>
          <a:prstGeom prst="rect">
            <a:avLst/>
          </a:prstGeom>
          <a:noFill/>
          <a:ln/>
        </p:spPr>
        <p:txBody>
          <a:bodyPr wrap="square" lIns="0" tIns="0" rIns="0" bIns="0" rtlCol="0" anchor="ctr"/>
          <a:lstStyle/>
          <a:p>
            <a:pPr indent="0" marL="0">
              <a:buNone/>
            </a:pPr>
            <a:r>
              <a:rPr lang="en-US" sz="1400" b="1" dirty="0">
                <a:solidFill>
                  <a:srgbClr val="1E1E1E"/>
                </a:solidFill>
                <a:latin typeface="Calibri" pitchFamily="34" charset="0"/>
                <a:ea typeface="Calibri" pitchFamily="34" charset="-122"/>
                <a:cs typeface="Calibri" pitchFamily="34" charset="-120"/>
              </a:rPr>
              <a:t>Niagara–Buffalo 1896</a:t>
            </a:r>
            <a:endParaRPr lang="en-US" sz="1400" dirty="0"/>
          </a:p>
          <a:p>
            <a:pPr indent="0" marL="0">
              <a:buNone/>
            </a:pPr>
            <a:r>
              <a:rPr lang="en-US" sz="1400" dirty="0">
                <a:solidFill>
                  <a:srgbClr val="5F5D58"/>
                </a:solidFill>
                <a:latin typeface="Calibri" pitchFamily="34" charset="0"/>
                <a:ea typeface="Calibri" pitchFamily="34" charset="-122"/>
                <a:cs typeface="Calibri" pitchFamily="34" charset="-120"/>
              </a:rPr>
              <a:t>Fernleitung über 30 km</a:t>
            </a:r>
            <a:endParaRPr lang="en-US" sz="1400" dirty="0"/>
          </a:p>
        </p:txBody>
      </p:sp>
      <p:sp>
        <p:nvSpPr>
          <p:cNvPr id="22" name="Text 20"/>
          <p:cNvSpPr txBox="1"/>
          <p:nvPr/>
        </p:nvSpPr>
        <p:spPr>
          <a:xfrm>
            <a:off x="457200" y="4754880"/>
            <a:ext cx="6583680" cy="228600"/>
          </a:xfrm>
          <a:prstGeom prst="rect">
            <a:avLst/>
          </a:prstGeom>
          <a:noFill/>
          <a:ln/>
        </p:spPr>
        <p:txBody>
          <a:bodyPr wrap="square" lIns="0" tIns="0" rIns="0" bIns="0" rtlCol="0" anchor="ctr"/>
          <a:lstStyle/>
          <a:p>
            <a:pPr indent="0" marL="0">
              <a:buNone/>
            </a:pPr>
            <a:r>
              <a:rPr lang="en-US" sz="900" dirty="0">
                <a:solidFill>
                  <a:srgbClr val="5F5D58"/>
                </a:solidFill>
                <a:latin typeface="Calibri" pitchFamily="34" charset="0"/>
                <a:ea typeface="Calibri" pitchFamily="34" charset="-122"/>
                <a:cs typeface="Calibri" pitchFamily="34" charset="-120"/>
              </a:rPr>
              <a:t>Quellen: [1]–[3] (Nummern wie im Handout)</a:t>
            </a:r>
            <a:endParaRPr lang="en-US" sz="900" dirty="0"/>
          </a:p>
        </p:txBody>
      </p:sp>
      <p:sp>
        <p:nvSpPr>
          <p:cNvPr id="23" name="Text 21"/>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900" dirty="0">
                <a:solidFill>
                  <a:srgbClr val="5F5D5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85800"/>
          </a:xfrm>
          <a:prstGeom prst="rect">
            <a:avLst/>
          </a:prstGeom>
          <a:noFill/>
          <a:ln/>
        </p:spPr>
        <p:txBody>
          <a:bodyPr wrap="square" lIns="0" tIns="0" rIns="0" bIns="0" rtlCol="0" anchor="ctr"/>
          <a:lstStyle/>
          <a:p>
            <a:pPr indent="0" marL="0">
              <a:buNone/>
            </a:pPr>
            <a:r>
              <a:rPr lang="en-US" sz="2600" b="1" dirty="0">
                <a:solidFill>
                  <a:srgbClr val="1E1E1E"/>
                </a:solidFill>
                <a:latin typeface="Cambria" pitchFamily="34" charset="0"/>
                <a:ea typeface="Cambria" pitchFamily="34" charset="-122"/>
                <a:cs typeface="Cambria" pitchFamily="34" charset="-120"/>
              </a:rPr>
              <a:t>Firmen und Investoren – nicht zwei Genies</a:t>
            </a:r>
            <a:endParaRPr lang="en-US" sz="2600" dirty="0"/>
          </a:p>
        </p:txBody>
      </p:sp>
      <p:sp>
        <p:nvSpPr>
          <p:cNvPr id="3" name="Shape 1"/>
          <p:cNvSpPr/>
          <p:nvPr/>
        </p:nvSpPr>
        <p:spPr>
          <a:xfrm>
            <a:off x="457200" y="1188720"/>
            <a:ext cx="1920240" cy="3017520"/>
          </a:xfrm>
          <a:prstGeom prst="rect">
            <a:avLst/>
          </a:prstGeom>
          <a:solidFill>
            <a:srgbClr val="F3F5F6"/>
          </a:solidFill>
          <a:ln w="12700">
            <a:solidFill>
              <a:srgbClr val="F3F5F6"/>
            </a:solidFill>
            <a:prstDash val="solid"/>
          </a:ln>
        </p:spPr>
      </p:sp>
      <p:sp>
        <p:nvSpPr>
          <p:cNvPr id="4" name="Shape 2"/>
          <p:cNvSpPr/>
          <p:nvPr/>
        </p:nvSpPr>
        <p:spPr>
          <a:xfrm>
            <a:off x="640080" y="1371600"/>
            <a:ext cx="594360" cy="594360"/>
          </a:xfrm>
          <a:prstGeom prst="ellipse">
            <a:avLst/>
          </a:prstGeom>
          <a:solidFill>
            <a:srgbClr val="C8641E"/>
          </a:solidFill>
          <a:ln w="12700">
            <a:solidFill>
              <a:srgbClr val="C8641E"/>
            </a:solidFill>
            <a:prstDash val="solid"/>
          </a:ln>
        </p:spPr>
      </p:sp>
      <p:pic>
        <p:nvPicPr>
          <p:cNvPr id="5" name="Image 0" descr="preencoded.png">    </p:cNvPr>
          <p:cNvPicPr>
            <a:picLocks noChangeAspect="1"/>
          </p:cNvPicPr>
          <p:nvPr/>
        </p:nvPicPr>
        <p:blipFill>
          <a:blip r:embed="rId1"/>
          <a:stretch>
            <a:fillRect/>
          </a:stretch>
        </p:blipFill>
        <p:spPr>
          <a:xfrm>
            <a:off x="788670" y="1520190"/>
            <a:ext cx="297180" cy="297180"/>
          </a:xfrm>
          <a:prstGeom prst="rect">
            <a:avLst/>
          </a:prstGeom>
        </p:spPr>
      </p:pic>
      <p:sp>
        <p:nvSpPr>
          <p:cNvPr id="6" name="Text 3"/>
          <p:cNvSpPr txBox="1"/>
          <p:nvPr/>
        </p:nvSpPr>
        <p:spPr>
          <a:xfrm>
            <a:off x="640080" y="2103120"/>
            <a:ext cx="1600200" cy="502920"/>
          </a:xfrm>
          <a:prstGeom prst="rect">
            <a:avLst/>
          </a:prstGeom>
          <a:noFill/>
          <a:ln/>
        </p:spPr>
        <p:txBody>
          <a:bodyPr wrap="square" lIns="0" tIns="0" rIns="0" bIns="0" rtlCol="0" anchor="t"/>
          <a:lstStyle/>
          <a:p>
            <a:pPr indent="0" marL="0">
              <a:buNone/>
            </a:pPr>
            <a:r>
              <a:rPr lang="en-US" sz="1500" b="1" dirty="0">
                <a:solidFill>
                  <a:srgbClr val="1E1E1E"/>
                </a:solidFill>
                <a:latin typeface="Calibri" pitchFamily="34" charset="0"/>
                <a:ea typeface="Calibri" pitchFamily="34" charset="-122"/>
                <a:cs typeface="Calibri" pitchFamily="34" charset="-120"/>
              </a:rPr>
              <a:t>Thomas A. Edison</a:t>
            </a:r>
            <a:endParaRPr lang="en-US" sz="1500" dirty="0"/>
          </a:p>
        </p:txBody>
      </p:sp>
      <p:sp>
        <p:nvSpPr>
          <p:cNvPr id="7" name="Text 4"/>
          <p:cNvSpPr txBox="1"/>
          <p:nvPr/>
        </p:nvSpPr>
        <p:spPr>
          <a:xfrm>
            <a:off x="640080" y="2578608"/>
            <a:ext cx="1600200" cy="274320"/>
          </a:xfrm>
          <a:prstGeom prst="rect">
            <a:avLst/>
          </a:prstGeom>
          <a:noFill/>
          <a:ln/>
        </p:spPr>
        <p:txBody>
          <a:bodyPr wrap="square" lIns="0" tIns="0" rIns="0" bIns="0" rtlCol="0" anchor="ctr"/>
          <a:lstStyle/>
          <a:p>
            <a:pPr indent="0" marL="0">
              <a:buNone/>
            </a:pPr>
            <a:r>
              <a:rPr lang="en-US" sz="1100" dirty="0">
                <a:solidFill>
                  <a:srgbClr val="5F5D58"/>
                </a:solidFill>
                <a:latin typeface="Calibri" pitchFamily="34" charset="0"/>
                <a:ea typeface="Calibri" pitchFamily="34" charset="-122"/>
                <a:cs typeface="Calibri" pitchFamily="34" charset="-120"/>
              </a:rPr>
              <a:t>1847–1931</a:t>
            </a:r>
            <a:endParaRPr lang="en-US" sz="1100" dirty="0"/>
          </a:p>
        </p:txBody>
      </p:sp>
      <p:sp>
        <p:nvSpPr>
          <p:cNvPr id="8" name="Text 5"/>
          <p:cNvSpPr txBox="1"/>
          <p:nvPr/>
        </p:nvSpPr>
        <p:spPr>
          <a:xfrm>
            <a:off x="640080" y="2880360"/>
            <a:ext cx="1600200" cy="1234440"/>
          </a:xfrm>
          <a:prstGeom prst="rect">
            <a:avLst/>
          </a:prstGeom>
          <a:noFill/>
          <a:ln/>
        </p:spPr>
        <p:txBody>
          <a:bodyPr wrap="square" lIns="0" tIns="0" rIns="0" bIns="0" rtlCol="0" anchor="t"/>
          <a:lstStyle/>
          <a:p>
            <a:pPr indent="0" marL="0">
              <a:buNone/>
            </a:pPr>
            <a:r>
              <a:rPr lang="en-US" sz="1200" dirty="0">
                <a:solidFill>
                  <a:srgbClr val="1E1E1E"/>
                </a:solidFill>
                <a:latin typeface="Calibri" pitchFamily="34" charset="0"/>
                <a:ea typeface="Calibri" pitchFamily="34" charset="-122"/>
                <a:cs typeface="Calibri" pitchFamily="34" charset="-120"/>
              </a:rPr>
              <a:t>Erfinder-Unternehmer (Glühlampe). Verteidigt seine Gleichstrom-Investitionen – fürchtet aber auch ehrlich die Hochspannung.</a:t>
            </a:r>
            <a:endParaRPr lang="en-US" sz="1200" dirty="0"/>
          </a:p>
        </p:txBody>
      </p:sp>
      <p:sp>
        <p:nvSpPr>
          <p:cNvPr id="9" name="Shape 6"/>
          <p:cNvSpPr/>
          <p:nvPr/>
        </p:nvSpPr>
        <p:spPr>
          <a:xfrm>
            <a:off x="2560320" y="1188720"/>
            <a:ext cx="1920240" cy="3017520"/>
          </a:xfrm>
          <a:prstGeom prst="rect">
            <a:avLst/>
          </a:prstGeom>
          <a:solidFill>
            <a:srgbClr val="F3F5F6"/>
          </a:solidFill>
          <a:ln w="12700">
            <a:solidFill>
              <a:srgbClr val="F3F5F6"/>
            </a:solidFill>
            <a:prstDash val="solid"/>
          </a:ln>
        </p:spPr>
      </p:sp>
      <p:sp>
        <p:nvSpPr>
          <p:cNvPr id="10" name="Shape 7"/>
          <p:cNvSpPr/>
          <p:nvPr/>
        </p:nvSpPr>
        <p:spPr>
          <a:xfrm>
            <a:off x="2743200" y="1371600"/>
            <a:ext cx="594360" cy="594360"/>
          </a:xfrm>
          <a:prstGeom prst="ellipse">
            <a:avLst/>
          </a:prstGeom>
          <a:solidFill>
            <a:srgbClr val="C8641E"/>
          </a:solidFill>
          <a:ln w="12700">
            <a:solidFill>
              <a:srgbClr val="C8641E"/>
            </a:solidFill>
            <a:prstDash val="solid"/>
          </a:ln>
        </p:spPr>
      </p:sp>
      <p:pic>
        <p:nvPicPr>
          <p:cNvPr id="11" name="Image 1" descr="preencoded.png">    </p:cNvPr>
          <p:cNvPicPr>
            <a:picLocks noChangeAspect="1"/>
          </p:cNvPicPr>
          <p:nvPr/>
        </p:nvPicPr>
        <p:blipFill>
          <a:blip r:embed="rId2"/>
          <a:stretch>
            <a:fillRect/>
          </a:stretch>
        </p:blipFill>
        <p:spPr>
          <a:xfrm>
            <a:off x="2891790" y="1520190"/>
            <a:ext cx="297180" cy="297180"/>
          </a:xfrm>
          <a:prstGeom prst="rect">
            <a:avLst/>
          </a:prstGeom>
        </p:spPr>
      </p:pic>
      <p:sp>
        <p:nvSpPr>
          <p:cNvPr id="12" name="Text 8"/>
          <p:cNvSpPr txBox="1"/>
          <p:nvPr/>
        </p:nvSpPr>
        <p:spPr>
          <a:xfrm>
            <a:off x="2743200" y="2103120"/>
            <a:ext cx="1600200" cy="502920"/>
          </a:xfrm>
          <a:prstGeom prst="rect">
            <a:avLst/>
          </a:prstGeom>
          <a:noFill/>
          <a:ln/>
        </p:spPr>
        <p:txBody>
          <a:bodyPr wrap="square" lIns="0" tIns="0" rIns="0" bIns="0" rtlCol="0" anchor="t"/>
          <a:lstStyle/>
          <a:p>
            <a:pPr indent="0" marL="0">
              <a:buNone/>
            </a:pPr>
            <a:r>
              <a:rPr lang="en-US" sz="1500" b="1" dirty="0">
                <a:solidFill>
                  <a:srgbClr val="1E1E1E"/>
                </a:solidFill>
                <a:latin typeface="Calibri" pitchFamily="34" charset="0"/>
                <a:ea typeface="Calibri" pitchFamily="34" charset="-122"/>
                <a:cs typeface="Calibri" pitchFamily="34" charset="-120"/>
              </a:rPr>
              <a:t>Harold P. Brown</a:t>
            </a:r>
            <a:endParaRPr lang="en-US" sz="1500" dirty="0"/>
          </a:p>
        </p:txBody>
      </p:sp>
      <p:sp>
        <p:nvSpPr>
          <p:cNvPr id="13" name="Text 9"/>
          <p:cNvSpPr txBox="1"/>
          <p:nvPr/>
        </p:nvSpPr>
        <p:spPr>
          <a:xfrm>
            <a:off x="2743200" y="2578608"/>
            <a:ext cx="1600200" cy="274320"/>
          </a:xfrm>
          <a:prstGeom prst="rect">
            <a:avLst/>
          </a:prstGeom>
          <a:noFill/>
          <a:ln/>
        </p:spPr>
        <p:txBody>
          <a:bodyPr wrap="square" lIns="0" tIns="0" rIns="0" bIns="0" rtlCol="0" anchor="ctr"/>
          <a:lstStyle/>
          <a:p>
            <a:pPr indent="0" marL="0">
              <a:buNone/>
            </a:pPr>
            <a:r>
              <a:rPr lang="en-US" sz="1100" dirty="0">
                <a:solidFill>
                  <a:srgbClr val="5F5D58"/>
                </a:solidFill>
                <a:latin typeface="Calibri" pitchFamily="34" charset="0"/>
                <a:ea typeface="Calibri" pitchFamily="34" charset="-122"/>
                <a:cs typeface="Calibri" pitchFamily="34" charset="-120"/>
              </a:rPr>
              <a:t>Elektroingenieur</a:t>
            </a:r>
            <a:endParaRPr lang="en-US" sz="1100" dirty="0"/>
          </a:p>
        </p:txBody>
      </p:sp>
      <p:sp>
        <p:nvSpPr>
          <p:cNvPr id="14" name="Text 10"/>
          <p:cNvSpPr txBox="1"/>
          <p:nvPr/>
        </p:nvSpPr>
        <p:spPr>
          <a:xfrm>
            <a:off x="2743200" y="2880360"/>
            <a:ext cx="1600200" cy="1234440"/>
          </a:xfrm>
          <a:prstGeom prst="rect">
            <a:avLst/>
          </a:prstGeom>
          <a:noFill/>
          <a:ln/>
        </p:spPr>
        <p:txBody>
          <a:bodyPr wrap="square" lIns="0" tIns="0" rIns="0" bIns="0" rtlCol="0" anchor="t"/>
          <a:lstStyle/>
          <a:p>
            <a:pPr indent="0" marL="0">
              <a:buNone/>
            </a:pPr>
            <a:r>
              <a:rPr lang="en-US" sz="1200" dirty="0">
                <a:solidFill>
                  <a:srgbClr val="1E1E1E"/>
                </a:solidFill>
                <a:latin typeface="Calibri" pitchFamily="34" charset="0"/>
                <a:ea typeface="Calibri" pitchFamily="34" charset="-122"/>
                <a:cs typeface="Calibri" pitchFamily="34" charset="-120"/>
              </a:rPr>
              <a:t>Wortführer der Kampagne gegen den Wechselstrom, unterstützt aus Edisons Labor.</a:t>
            </a:r>
            <a:endParaRPr lang="en-US" sz="1200" dirty="0"/>
          </a:p>
        </p:txBody>
      </p:sp>
      <p:sp>
        <p:nvSpPr>
          <p:cNvPr id="15" name="Shape 11"/>
          <p:cNvSpPr/>
          <p:nvPr/>
        </p:nvSpPr>
        <p:spPr>
          <a:xfrm>
            <a:off x="4663440" y="1188720"/>
            <a:ext cx="1920240" cy="3017520"/>
          </a:xfrm>
          <a:prstGeom prst="rect">
            <a:avLst/>
          </a:prstGeom>
          <a:solidFill>
            <a:srgbClr val="F3F5F6"/>
          </a:solidFill>
          <a:ln w="12700">
            <a:solidFill>
              <a:srgbClr val="F3F5F6"/>
            </a:solidFill>
            <a:prstDash val="solid"/>
          </a:ln>
        </p:spPr>
      </p:sp>
      <p:sp>
        <p:nvSpPr>
          <p:cNvPr id="16" name="Shape 12"/>
          <p:cNvSpPr/>
          <p:nvPr/>
        </p:nvSpPr>
        <p:spPr>
          <a:xfrm>
            <a:off x="4846320" y="1371600"/>
            <a:ext cx="594360" cy="594360"/>
          </a:xfrm>
          <a:prstGeom prst="ellipse">
            <a:avLst/>
          </a:prstGeom>
          <a:solidFill>
            <a:srgbClr val="0E7C9E"/>
          </a:solidFill>
          <a:ln w="12700">
            <a:solidFill>
              <a:srgbClr val="0E7C9E"/>
            </a:solidFill>
            <a:prstDash val="solid"/>
          </a:ln>
        </p:spPr>
      </p:sp>
      <p:pic>
        <p:nvPicPr>
          <p:cNvPr id="17" name="Image 2" descr="preencoded.png">    </p:cNvPr>
          <p:cNvPicPr>
            <a:picLocks noChangeAspect="1"/>
          </p:cNvPicPr>
          <p:nvPr/>
        </p:nvPicPr>
        <p:blipFill>
          <a:blip r:embed="rId3"/>
          <a:stretch>
            <a:fillRect/>
          </a:stretch>
        </p:blipFill>
        <p:spPr>
          <a:xfrm>
            <a:off x="4994910" y="1520190"/>
            <a:ext cx="297180" cy="297180"/>
          </a:xfrm>
          <a:prstGeom prst="rect">
            <a:avLst/>
          </a:prstGeom>
        </p:spPr>
      </p:pic>
      <p:sp>
        <p:nvSpPr>
          <p:cNvPr id="18" name="Text 13"/>
          <p:cNvSpPr txBox="1"/>
          <p:nvPr/>
        </p:nvSpPr>
        <p:spPr>
          <a:xfrm>
            <a:off x="4846320" y="2103120"/>
            <a:ext cx="1600200" cy="502920"/>
          </a:xfrm>
          <a:prstGeom prst="rect">
            <a:avLst/>
          </a:prstGeom>
          <a:noFill/>
          <a:ln/>
        </p:spPr>
        <p:txBody>
          <a:bodyPr wrap="square" lIns="0" tIns="0" rIns="0" bIns="0" rtlCol="0" anchor="t"/>
          <a:lstStyle/>
          <a:p>
            <a:pPr indent="0" marL="0">
              <a:buNone/>
            </a:pPr>
            <a:r>
              <a:rPr lang="en-US" sz="1500" b="1" dirty="0">
                <a:solidFill>
                  <a:srgbClr val="1E1E1E"/>
                </a:solidFill>
                <a:latin typeface="Calibri" pitchFamily="34" charset="0"/>
                <a:ea typeface="Calibri" pitchFamily="34" charset="-122"/>
                <a:cs typeface="Calibri" pitchFamily="34" charset="-120"/>
              </a:rPr>
              <a:t>George Westinghouse</a:t>
            </a:r>
            <a:endParaRPr lang="en-US" sz="1500" dirty="0"/>
          </a:p>
        </p:txBody>
      </p:sp>
      <p:sp>
        <p:nvSpPr>
          <p:cNvPr id="19" name="Text 14"/>
          <p:cNvSpPr txBox="1"/>
          <p:nvPr/>
        </p:nvSpPr>
        <p:spPr>
          <a:xfrm>
            <a:off x="4846320" y="2578608"/>
            <a:ext cx="1600200" cy="274320"/>
          </a:xfrm>
          <a:prstGeom prst="rect">
            <a:avLst/>
          </a:prstGeom>
          <a:noFill/>
          <a:ln/>
        </p:spPr>
        <p:txBody>
          <a:bodyPr wrap="square" lIns="0" tIns="0" rIns="0" bIns="0" rtlCol="0" anchor="ctr"/>
          <a:lstStyle/>
          <a:p>
            <a:pPr indent="0" marL="0">
              <a:buNone/>
            </a:pPr>
            <a:r>
              <a:rPr lang="en-US" sz="1100" dirty="0">
                <a:solidFill>
                  <a:srgbClr val="5F5D58"/>
                </a:solidFill>
                <a:latin typeface="Calibri" pitchFamily="34" charset="0"/>
                <a:ea typeface="Calibri" pitchFamily="34" charset="-122"/>
                <a:cs typeface="Calibri" pitchFamily="34" charset="-120"/>
              </a:rPr>
              <a:t>1846–1914</a:t>
            </a:r>
            <a:endParaRPr lang="en-US" sz="1100" dirty="0"/>
          </a:p>
        </p:txBody>
      </p:sp>
      <p:sp>
        <p:nvSpPr>
          <p:cNvPr id="20" name="Text 15"/>
          <p:cNvSpPr txBox="1"/>
          <p:nvPr/>
        </p:nvSpPr>
        <p:spPr>
          <a:xfrm>
            <a:off x="4846320" y="2880360"/>
            <a:ext cx="1600200" cy="1234440"/>
          </a:xfrm>
          <a:prstGeom prst="rect">
            <a:avLst/>
          </a:prstGeom>
          <a:noFill/>
          <a:ln/>
        </p:spPr>
        <p:txBody>
          <a:bodyPr wrap="square" lIns="0" tIns="0" rIns="0" bIns="0" rtlCol="0" anchor="t"/>
          <a:lstStyle/>
          <a:p>
            <a:pPr indent="0" marL="0">
              <a:buNone/>
            </a:pPr>
            <a:r>
              <a:rPr lang="en-US" sz="1200" dirty="0">
                <a:solidFill>
                  <a:srgbClr val="1E1E1E"/>
                </a:solidFill>
                <a:latin typeface="Calibri" pitchFamily="34" charset="0"/>
                <a:ea typeface="Calibri" pitchFamily="34" charset="-122"/>
                <a:cs typeface="Calibri" pitchFamily="34" charset="-120"/>
              </a:rPr>
              <a:t>Industrieller (Druckluftbremse). Kauft Patente zu und baut ab 1886 Wechselstromnetze.</a:t>
            </a:r>
            <a:endParaRPr lang="en-US" sz="1200" dirty="0"/>
          </a:p>
        </p:txBody>
      </p:sp>
      <p:sp>
        <p:nvSpPr>
          <p:cNvPr id="21" name="Shape 16"/>
          <p:cNvSpPr/>
          <p:nvPr/>
        </p:nvSpPr>
        <p:spPr>
          <a:xfrm>
            <a:off x="6766560" y="1188720"/>
            <a:ext cx="1920240" cy="3017520"/>
          </a:xfrm>
          <a:prstGeom prst="rect">
            <a:avLst/>
          </a:prstGeom>
          <a:solidFill>
            <a:srgbClr val="F3F5F6"/>
          </a:solidFill>
          <a:ln w="12700">
            <a:solidFill>
              <a:srgbClr val="F3F5F6"/>
            </a:solidFill>
            <a:prstDash val="solid"/>
          </a:ln>
        </p:spPr>
      </p:sp>
      <p:sp>
        <p:nvSpPr>
          <p:cNvPr id="22" name="Shape 17"/>
          <p:cNvSpPr/>
          <p:nvPr/>
        </p:nvSpPr>
        <p:spPr>
          <a:xfrm>
            <a:off x="6949440" y="1371600"/>
            <a:ext cx="594360" cy="594360"/>
          </a:xfrm>
          <a:prstGeom prst="ellipse">
            <a:avLst/>
          </a:prstGeom>
          <a:solidFill>
            <a:srgbClr val="0E7C9E"/>
          </a:solidFill>
          <a:ln w="12700">
            <a:solidFill>
              <a:srgbClr val="0E7C9E"/>
            </a:solidFill>
            <a:prstDash val="solid"/>
          </a:ln>
        </p:spPr>
      </p:sp>
      <p:pic>
        <p:nvPicPr>
          <p:cNvPr id="23" name="Image 3" descr="preencoded.png">    </p:cNvPr>
          <p:cNvPicPr>
            <a:picLocks noChangeAspect="1"/>
          </p:cNvPicPr>
          <p:nvPr/>
        </p:nvPicPr>
        <p:blipFill>
          <a:blip r:embed="rId4"/>
          <a:stretch>
            <a:fillRect/>
          </a:stretch>
        </p:blipFill>
        <p:spPr>
          <a:xfrm>
            <a:off x="7098030" y="1520190"/>
            <a:ext cx="297180" cy="297180"/>
          </a:xfrm>
          <a:prstGeom prst="rect">
            <a:avLst/>
          </a:prstGeom>
        </p:spPr>
      </p:pic>
      <p:sp>
        <p:nvSpPr>
          <p:cNvPr id="24" name="Text 18"/>
          <p:cNvSpPr txBox="1"/>
          <p:nvPr/>
        </p:nvSpPr>
        <p:spPr>
          <a:xfrm>
            <a:off x="6949440" y="2103120"/>
            <a:ext cx="1600200" cy="502920"/>
          </a:xfrm>
          <a:prstGeom prst="rect">
            <a:avLst/>
          </a:prstGeom>
          <a:noFill/>
          <a:ln/>
        </p:spPr>
        <p:txBody>
          <a:bodyPr wrap="square" lIns="0" tIns="0" rIns="0" bIns="0" rtlCol="0" anchor="t"/>
          <a:lstStyle/>
          <a:p>
            <a:pPr indent="0" marL="0">
              <a:buNone/>
            </a:pPr>
            <a:r>
              <a:rPr lang="en-US" sz="1500" b="1" dirty="0">
                <a:solidFill>
                  <a:srgbClr val="1E1E1E"/>
                </a:solidFill>
                <a:latin typeface="Calibri" pitchFamily="34" charset="0"/>
                <a:ea typeface="Calibri" pitchFamily="34" charset="-122"/>
                <a:cs typeface="Calibri" pitchFamily="34" charset="-120"/>
              </a:rPr>
              <a:t>Nikola Tesla</a:t>
            </a:r>
            <a:endParaRPr lang="en-US" sz="1500" dirty="0"/>
          </a:p>
        </p:txBody>
      </p:sp>
      <p:sp>
        <p:nvSpPr>
          <p:cNvPr id="25" name="Text 19"/>
          <p:cNvSpPr txBox="1"/>
          <p:nvPr/>
        </p:nvSpPr>
        <p:spPr>
          <a:xfrm>
            <a:off x="6949440" y="2578608"/>
            <a:ext cx="1600200" cy="274320"/>
          </a:xfrm>
          <a:prstGeom prst="rect">
            <a:avLst/>
          </a:prstGeom>
          <a:noFill/>
          <a:ln/>
        </p:spPr>
        <p:txBody>
          <a:bodyPr wrap="square" lIns="0" tIns="0" rIns="0" bIns="0" rtlCol="0" anchor="ctr"/>
          <a:lstStyle/>
          <a:p>
            <a:pPr indent="0" marL="0">
              <a:buNone/>
            </a:pPr>
            <a:r>
              <a:rPr lang="en-US" sz="1100" dirty="0">
                <a:solidFill>
                  <a:srgbClr val="5F5D58"/>
                </a:solidFill>
                <a:latin typeface="Calibri" pitchFamily="34" charset="0"/>
                <a:ea typeface="Calibri" pitchFamily="34" charset="-122"/>
                <a:cs typeface="Calibri" pitchFamily="34" charset="-120"/>
              </a:rPr>
              <a:t>1856–1943</a:t>
            </a:r>
            <a:endParaRPr lang="en-US" sz="1100" dirty="0"/>
          </a:p>
        </p:txBody>
      </p:sp>
      <p:sp>
        <p:nvSpPr>
          <p:cNvPr id="26" name="Text 20"/>
          <p:cNvSpPr txBox="1"/>
          <p:nvPr/>
        </p:nvSpPr>
        <p:spPr>
          <a:xfrm>
            <a:off x="6949440" y="2880360"/>
            <a:ext cx="1600200" cy="1234440"/>
          </a:xfrm>
          <a:prstGeom prst="rect">
            <a:avLst/>
          </a:prstGeom>
          <a:noFill/>
          <a:ln/>
        </p:spPr>
        <p:txBody>
          <a:bodyPr wrap="square" lIns="0" tIns="0" rIns="0" bIns="0" rtlCol="0" anchor="t"/>
          <a:lstStyle/>
          <a:p>
            <a:pPr indent="0" marL="0">
              <a:buNone/>
            </a:pPr>
            <a:r>
              <a:rPr lang="en-US" sz="1200" dirty="0">
                <a:solidFill>
                  <a:srgbClr val="1E1E1E"/>
                </a:solidFill>
                <a:latin typeface="Calibri" pitchFamily="34" charset="0"/>
                <a:ea typeface="Calibri" pitchFamily="34" charset="-122"/>
                <a:cs typeface="Calibri" pitchFamily="34" charset="-120"/>
              </a:rPr>
              <a:t>Ingenieur, 1884 kurz bei Edison. Seine Motorpatente (1888) machen Wechselstrom fabriktauglich.</a:t>
            </a:r>
            <a:endParaRPr lang="en-US" sz="1200" dirty="0"/>
          </a:p>
        </p:txBody>
      </p:sp>
      <p:sp>
        <p:nvSpPr>
          <p:cNvPr id="27" name="Shape 21"/>
          <p:cNvSpPr/>
          <p:nvPr/>
        </p:nvSpPr>
        <p:spPr>
          <a:xfrm>
            <a:off x="457200" y="4389120"/>
            <a:ext cx="164592" cy="164592"/>
          </a:xfrm>
          <a:prstGeom prst="ellipse">
            <a:avLst/>
          </a:prstGeom>
          <a:solidFill>
            <a:srgbClr val="C8641E"/>
          </a:solidFill>
          <a:ln w="12700">
            <a:solidFill>
              <a:srgbClr val="C8641E"/>
            </a:solidFill>
            <a:prstDash val="solid"/>
          </a:ln>
        </p:spPr>
      </p:sp>
      <p:sp>
        <p:nvSpPr>
          <p:cNvPr id="28" name="Text 22"/>
          <p:cNvSpPr txBox="1"/>
          <p:nvPr/>
        </p:nvSpPr>
        <p:spPr>
          <a:xfrm>
            <a:off x="704088" y="4334256"/>
            <a:ext cx="1828800" cy="274320"/>
          </a:xfrm>
          <a:prstGeom prst="rect">
            <a:avLst/>
          </a:prstGeom>
          <a:noFill/>
          <a:ln/>
        </p:spPr>
        <p:txBody>
          <a:bodyPr wrap="square" lIns="0" tIns="0" rIns="0" bIns="0" rtlCol="0" anchor="ctr"/>
          <a:lstStyle/>
          <a:p>
            <a:pPr indent="0" marL="0">
              <a:buNone/>
            </a:pPr>
            <a:r>
              <a:rPr lang="en-US" sz="1100" dirty="0">
                <a:solidFill>
                  <a:srgbClr val="5F5D58"/>
                </a:solidFill>
                <a:latin typeface="Calibri" pitchFamily="34" charset="0"/>
                <a:ea typeface="Calibri" pitchFamily="34" charset="-122"/>
                <a:cs typeface="Calibri" pitchFamily="34" charset="-120"/>
              </a:rPr>
              <a:t>Gleichstrom-Lager</a:t>
            </a:r>
            <a:endParaRPr lang="en-US" sz="1100" dirty="0"/>
          </a:p>
        </p:txBody>
      </p:sp>
      <p:sp>
        <p:nvSpPr>
          <p:cNvPr id="29" name="Shape 23"/>
          <p:cNvSpPr/>
          <p:nvPr/>
        </p:nvSpPr>
        <p:spPr>
          <a:xfrm>
            <a:off x="2560320" y="4389120"/>
            <a:ext cx="164592" cy="164592"/>
          </a:xfrm>
          <a:prstGeom prst="ellipse">
            <a:avLst/>
          </a:prstGeom>
          <a:solidFill>
            <a:srgbClr val="0E7C9E"/>
          </a:solidFill>
          <a:ln w="12700">
            <a:solidFill>
              <a:srgbClr val="0E7C9E"/>
            </a:solidFill>
            <a:prstDash val="solid"/>
          </a:ln>
        </p:spPr>
      </p:sp>
      <p:sp>
        <p:nvSpPr>
          <p:cNvPr id="30" name="Text 24"/>
          <p:cNvSpPr txBox="1"/>
          <p:nvPr/>
        </p:nvSpPr>
        <p:spPr>
          <a:xfrm>
            <a:off x="2807208" y="4334256"/>
            <a:ext cx="1828800" cy="274320"/>
          </a:xfrm>
          <a:prstGeom prst="rect">
            <a:avLst/>
          </a:prstGeom>
          <a:noFill/>
          <a:ln/>
        </p:spPr>
        <p:txBody>
          <a:bodyPr wrap="square" lIns="0" tIns="0" rIns="0" bIns="0" rtlCol="0" anchor="ctr"/>
          <a:lstStyle/>
          <a:p>
            <a:pPr indent="0" marL="0">
              <a:buNone/>
            </a:pPr>
            <a:r>
              <a:rPr lang="en-US" sz="1100" dirty="0">
                <a:solidFill>
                  <a:srgbClr val="5F5D58"/>
                </a:solidFill>
                <a:latin typeface="Calibri" pitchFamily="34" charset="0"/>
                <a:ea typeface="Calibri" pitchFamily="34" charset="-122"/>
                <a:cs typeface="Calibri" pitchFamily="34" charset="-120"/>
              </a:rPr>
              <a:t>Wechselstrom-Lager</a:t>
            </a:r>
            <a:endParaRPr lang="en-US" sz="1100" dirty="0"/>
          </a:p>
        </p:txBody>
      </p:sp>
      <p:sp>
        <p:nvSpPr>
          <p:cNvPr id="31" name="Text 25"/>
          <p:cNvSpPr txBox="1"/>
          <p:nvPr/>
        </p:nvSpPr>
        <p:spPr>
          <a:xfrm>
            <a:off x="457200" y="4754880"/>
            <a:ext cx="6583680" cy="228600"/>
          </a:xfrm>
          <a:prstGeom prst="rect">
            <a:avLst/>
          </a:prstGeom>
          <a:noFill/>
          <a:ln/>
        </p:spPr>
        <p:txBody>
          <a:bodyPr wrap="square" lIns="0" tIns="0" rIns="0" bIns="0" rtlCol="0" anchor="ctr"/>
          <a:lstStyle/>
          <a:p>
            <a:pPr indent="0" marL="0">
              <a:buNone/>
            </a:pPr>
            <a:r>
              <a:rPr lang="en-US" sz="900" dirty="0">
                <a:solidFill>
                  <a:srgbClr val="5F5D58"/>
                </a:solidFill>
                <a:latin typeface="Calibri" pitchFamily="34" charset="0"/>
                <a:ea typeface="Calibri" pitchFamily="34" charset="-122"/>
                <a:cs typeface="Calibri" pitchFamily="34" charset="-120"/>
              </a:rPr>
              <a:t>Quellen: [2], [4], [5] (Nummern wie im Handout)</a:t>
            </a:r>
            <a:endParaRPr lang="en-US" sz="900" dirty="0"/>
          </a:p>
        </p:txBody>
      </p:sp>
      <p:sp>
        <p:nvSpPr>
          <p:cNvPr id="32" name="Text 26"/>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900" dirty="0">
                <a:solidFill>
                  <a:srgbClr val="5F5D5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85800"/>
          </a:xfrm>
          <a:prstGeom prst="rect">
            <a:avLst/>
          </a:prstGeom>
          <a:noFill/>
          <a:ln/>
        </p:spPr>
        <p:txBody>
          <a:bodyPr wrap="square" lIns="0" tIns="0" rIns="0" bIns="0" rtlCol="0" anchor="ctr"/>
          <a:lstStyle/>
          <a:p>
            <a:pPr indent="0" marL="0">
              <a:buNone/>
            </a:pPr>
            <a:r>
              <a:rPr lang="en-US" sz="2600" b="1" dirty="0">
                <a:solidFill>
                  <a:srgbClr val="1E1E1E"/>
                </a:solidFill>
                <a:latin typeface="Cambria" pitchFamily="34" charset="0"/>
                <a:ea typeface="Cambria" pitchFamily="34" charset="-122"/>
                <a:cs typeface="Cambria" pitchFamily="34" charset="-120"/>
              </a:rPr>
              <a:t>1882–1890: Vom Wettbewerb zum Propagandakrieg</a:t>
            </a:r>
            <a:endParaRPr lang="en-US" sz="2600" dirty="0"/>
          </a:p>
        </p:txBody>
      </p:sp>
      <p:sp>
        <p:nvSpPr>
          <p:cNvPr id="3" name="Shape 1"/>
          <p:cNvSpPr/>
          <p:nvPr/>
        </p:nvSpPr>
        <p:spPr>
          <a:xfrm>
            <a:off x="457200" y="1143000"/>
            <a:ext cx="3108960" cy="365760"/>
          </a:xfrm>
          <a:prstGeom prst="roundRect">
            <a:avLst>
              <a:gd name="adj" fmla="val 50000"/>
            </a:avLst>
          </a:prstGeom>
          <a:solidFill>
            <a:srgbClr val="5F5D58"/>
          </a:solidFill>
          <a:ln w="12700">
            <a:solidFill>
              <a:srgbClr val="5F5D58"/>
            </a:solidFill>
            <a:prstDash val="solid"/>
          </a:ln>
        </p:spPr>
      </p:sp>
      <p:sp>
        <p:nvSpPr>
          <p:cNvPr id="4" name="Text 2"/>
          <p:cNvSpPr txBox="1"/>
          <p:nvPr/>
        </p:nvSpPr>
        <p:spPr>
          <a:xfrm>
            <a:off x="457200" y="1143000"/>
            <a:ext cx="31089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Phase 1 · Wettbewerb 1882–1887</a:t>
            </a:r>
            <a:endParaRPr lang="en-US" sz="1200" dirty="0"/>
          </a:p>
        </p:txBody>
      </p:sp>
      <p:sp>
        <p:nvSpPr>
          <p:cNvPr id="5" name="Shape 3"/>
          <p:cNvSpPr/>
          <p:nvPr/>
        </p:nvSpPr>
        <p:spPr>
          <a:xfrm>
            <a:off x="3749040" y="1143000"/>
            <a:ext cx="4937760" cy="365760"/>
          </a:xfrm>
          <a:prstGeom prst="roundRect">
            <a:avLst>
              <a:gd name="adj" fmla="val 50000"/>
            </a:avLst>
          </a:prstGeom>
          <a:solidFill>
            <a:srgbClr val="C8641E"/>
          </a:solidFill>
          <a:ln w="12700">
            <a:solidFill>
              <a:srgbClr val="C8641E"/>
            </a:solidFill>
            <a:prstDash val="solid"/>
          </a:ln>
        </p:spPr>
      </p:sp>
      <p:sp>
        <p:nvSpPr>
          <p:cNvPr id="6" name="Text 4"/>
          <p:cNvSpPr txBox="1"/>
          <p:nvPr/>
        </p:nvSpPr>
        <p:spPr>
          <a:xfrm>
            <a:off x="3749040" y="1143000"/>
            <a:ext cx="4937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Phase 2 · Propagandakrieg 1888–1890</a:t>
            </a:r>
            <a:endParaRPr lang="en-US" sz="1200" dirty="0"/>
          </a:p>
        </p:txBody>
      </p:sp>
      <p:sp>
        <p:nvSpPr>
          <p:cNvPr id="7" name="Shape 5"/>
          <p:cNvSpPr/>
          <p:nvPr/>
        </p:nvSpPr>
        <p:spPr>
          <a:xfrm>
            <a:off x="548640" y="2331720"/>
            <a:ext cx="8046720" cy="0"/>
          </a:xfrm>
          <a:prstGeom prst="line">
            <a:avLst/>
          </a:prstGeom>
          <a:noFill/>
          <a:ln w="25400">
            <a:solidFill>
              <a:srgbClr val="C9D3D8"/>
            </a:solidFill>
            <a:prstDash val="solid"/>
          </a:ln>
        </p:spPr>
      </p:sp>
      <p:sp>
        <p:nvSpPr>
          <p:cNvPr id="8" name="Text 6"/>
          <p:cNvSpPr txBox="1"/>
          <p:nvPr/>
        </p:nvSpPr>
        <p:spPr>
          <a:xfrm>
            <a:off x="457200" y="1691640"/>
            <a:ext cx="1508760" cy="457200"/>
          </a:xfrm>
          <a:prstGeom prst="rect">
            <a:avLst/>
          </a:prstGeom>
          <a:noFill/>
          <a:ln/>
        </p:spPr>
        <p:txBody>
          <a:bodyPr wrap="square" lIns="0" tIns="0" rIns="0" bIns="0" rtlCol="0" anchor="ctr"/>
          <a:lstStyle/>
          <a:p>
            <a:pPr indent="0" marL="0">
              <a:buNone/>
            </a:pPr>
            <a:r>
              <a:rPr lang="en-US" sz="2400" b="1" dirty="0">
                <a:solidFill>
                  <a:srgbClr val="5F5D58"/>
                </a:solidFill>
                <a:latin typeface="Cambria" pitchFamily="34" charset="0"/>
                <a:ea typeface="Cambria" pitchFamily="34" charset="-122"/>
                <a:cs typeface="Cambria" pitchFamily="34" charset="-120"/>
              </a:rPr>
              <a:t>1882</a:t>
            </a:r>
            <a:endParaRPr lang="en-US" sz="2400" dirty="0"/>
          </a:p>
        </p:txBody>
      </p:sp>
      <p:sp>
        <p:nvSpPr>
          <p:cNvPr id="9" name="Shape 7"/>
          <p:cNvSpPr/>
          <p:nvPr/>
        </p:nvSpPr>
        <p:spPr>
          <a:xfrm>
            <a:off x="475488" y="2231136"/>
            <a:ext cx="201168" cy="201168"/>
          </a:xfrm>
          <a:prstGeom prst="ellipse">
            <a:avLst/>
          </a:prstGeom>
          <a:solidFill>
            <a:srgbClr val="5F5D58"/>
          </a:solidFill>
          <a:ln w="25400">
            <a:solidFill>
              <a:srgbClr val="FFFFFF"/>
            </a:solidFill>
            <a:prstDash val="solid"/>
          </a:ln>
        </p:spPr>
      </p:sp>
      <p:sp>
        <p:nvSpPr>
          <p:cNvPr id="10" name="Text 8"/>
          <p:cNvSpPr txBox="1"/>
          <p:nvPr/>
        </p:nvSpPr>
        <p:spPr>
          <a:xfrm>
            <a:off x="457200" y="2606040"/>
            <a:ext cx="1508760" cy="1737360"/>
          </a:xfrm>
          <a:prstGeom prst="rect">
            <a:avLst/>
          </a:prstGeom>
          <a:noFill/>
          <a:ln/>
        </p:spPr>
        <p:txBody>
          <a:bodyPr wrap="square" lIns="0" tIns="0" rIns="0" bIns="0" rtlCol="0" anchor="t"/>
          <a:lstStyle/>
          <a:p>
            <a:pPr indent="0" marL="0">
              <a:buNone/>
            </a:pPr>
            <a:r>
              <a:rPr lang="en-US" sz="1300" dirty="0">
                <a:solidFill>
                  <a:srgbClr val="1E1E1E"/>
                </a:solidFill>
                <a:latin typeface="Calibri" pitchFamily="34" charset="0"/>
                <a:ea typeface="Calibri" pitchFamily="34" charset="-122"/>
                <a:cs typeface="Calibri" pitchFamily="34" charset="-120"/>
              </a:rPr>
              <a:t>Pearl Street (Manhattan): Edisons Gleichstrom für rund 400 Lampen</a:t>
            </a:r>
            <a:endParaRPr lang="en-US" sz="1300" dirty="0"/>
          </a:p>
        </p:txBody>
      </p:sp>
      <p:sp>
        <p:nvSpPr>
          <p:cNvPr id="11" name="Text 9"/>
          <p:cNvSpPr txBox="1"/>
          <p:nvPr/>
        </p:nvSpPr>
        <p:spPr>
          <a:xfrm>
            <a:off x="2121408" y="1691640"/>
            <a:ext cx="1508760" cy="457200"/>
          </a:xfrm>
          <a:prstGeom prst="rect">
            <a:avLst/>
          </a:prstGeom>
          <a:noFill/>
          <a:ln/>
        </p:spPr>
        <p:txBody>
          <a:bodyPr wrap="square" lIns="0" tIns="0" rIns="0" bIns="0" rtlCol="0" anchor="ctr"/>
          <a:lstStyle/>
          <a:p>
            <a:pPr indent="0" marL="0">
              <a:buNone/>
            </a:pPr>
            <a:r>
              <a:rPr lang="en-US" sz="2400" b="1" dirty="0">
                <a:solidFill>
                  <a:srgbClr val="5F5D58"/>
                </a:solidFill>
                <a:latin typeface="Cambria" pitchFamily="34" charset="0"/>
                <a:ea typeface="Cambria" pitchFamily="34" charset="-122"/>
                <a:cs typeface="Cambria" pitchFamily="34" charset="-120"/>
              </a:rPr>
              <a:t>1886</a:t>
            </a:r>
            <a:endParaRPr lang="en-US" sz="2400" dirty="0"/>
          </a:p>
        </p:txBody>
      </p:sp>
      <p:sp>
        <p:nvSpPr>
          <p:cNvPr id="12" name="Shape 10"/>
          <p:cNvSpPr/>
          <p:nvPr/>
        </p:nvSpPr>
        <p:spPr>
          <a:xfrm>
            <a:off x="2139696" y="2231136"/>
            <a:ext cx="201168" cy="201168"/>
          </a:xfrm>
          <a:prstGeom prst="ellipse">
            <a:avLst/>
          </a:prstGeom>
          <a:solidFill>
            <a:srgbClr val="5F5D58"/>
          </a:solidFill>
          <a:ln w="25400">
            <a:solidFill>
              <a:srgbClr val="FFFFFF"/>
            </a:solidFill>
            <a:prstDash val="solid"/>
          </a:ln>
        </p:spPr>
      </p:sp>
      <p:sp>
        <p:nvSpPr>
          <p:cNvPr id="13" name="Text 11"/>
          <p:cNvSpPr txBox="1"/>
          <p:nvPr/>
        </p:nvSpPr>
        <p:spPr>
          <a:xfrm>
            <a:off x="2121408" y="2606040"/>
            <a:ext cx="1508760" cy="1737360"/>
          </a:xfrm>
          <a:prstGeom prst="rect">
            <a:avLst/>
          </a:prstGeom>
          <a:noFill/>
          <a:ln/>
        </p:spPr>
        <p:txBody>
          <a:bodyPr wrap="square" lIns="0" tIns="0" rIns="0" bIns="0" rtlCol="0" anchor="t"/>
          <a:lstStyle/>
          <a:p>
            <a:pPr indent="0" marL="0">
              <a:buNone/>
            </a:pPr>
            <a:r>
              <a:rPr lang="en-US" sz="1300" dirty="0">
                <a:solidFill>
                  <a:srgbClr val="1E1E1E"/>
                </a:solidFill>
                <a:latin typeface="Calibri" pitchFamily="34" charset="0"/>
                <a:ea typeface="Calibri" pitchFamily="34" charset="-122"/>
                <a:cs typeface="Calibri" pitchFamily="34" charset="-120"/>
              </a:rPr>
              <a:t>Great Barrington: erstes Wechselstromnetz der USA mit Transformatoren</a:t>
            </a:r>
            <a:endParaRPr lang="en-US" sz="1300" dirty="0"/>
          </a:p>
        </p:txBody>
      </p:sp>
      <p:sp>
        <p:nvSpPr>
          <p:cNvPr id="14" name="Text 12"/>
          <p:cNvSpPr txBox="1"/>
          <p:nvPr/>
        </p:nvSpPr>
        <p:spPr>
          <a:xfrm>
            <a:off x="3785616" y="1691640"/>
            <a:ext cx="1508760" cy="457200"/>
          </a:xfrm>
          <a:prstGeom prst="rect">
            <a:avLst/>
          </a:prstGeom>
          <a:noFill/>
          <a:ln/>
        </p:spPr>
        <p:txBody>
          <a:bodyPr wrap="square" lIns="0" tIns="0" rIns="0" bIns="0" rtlCol="0" anchor="ctr"/>
          <a:lstStyle/>
          <a:p>
            <a:pPr indent="0" marL="0">
              <a:buNone/>
            </a:pPr>
            <a:r>
              <a:rPr lang="en-US" sz="2400" b="1" dirty="0">
                <a:solidFill>
                  <a:srgbClr val="C8641E"/>
                </a:solidFill>
                <a:latin typeface="Cambria" pitchFamily="34" charset="0"/>
                <a:ea typeface="Cambria" pitchFamily="34" charset="-122"/>
                <a:cs typeface="Cambria" pitchFamily="34" charset="-120"/>
              </a:rPr>
              <a:t>1888</a:t>
            </a:r>
            <a:endParaRPr lang="en-US" sz="2400" dirty="0"/>
          </a:p>
        </p:txBody>
      </p:sp>
      <p:sp>
        <p:nvSpPr>
          <p:cNvPr id="15" name="Shape 13"/>
          <p:cNvSpPr/>
          <p:nvPr/>
        </p:nvSpPr>
        <p:spPr>
          <a:xfrm>
            <a:off x="3803904" y="2231136"/>
            <a:ext cx="201168" cy="201168"/>
          </a:xfrm>
          <a:prstGeom prst="ellipse">
            <a:avLst/>
          </a:prstGeom>
          <a:solidFill>
            <a:srgbClr val="C8641E"/>
          </a:solidFill>
          <a:ln w="25400">
            <a:solidFill>
              <a:srgbClr val="FFFFFF"/>
            </a:solidFill>
            <a:prstDash val="solid"/>
          </a:ln>
        </p:spPr>
      </p:sp>
      <p:sp>
        <p:nvSpPr>
          <p:cNvPr id="16" name="Text 14"/>
          <p:cNvSpPr txBox="1"/>
          <p:nvPr/>
        </p:nvSpPr>
        <p:spPr>
          <a:xfrm>
            <a:off x="3785616" y="2606040"/>
            <a:ext cx="1508760" cy="1737360"/>
          </a:xfrm>
          <a:prstGeom prst="rect">
            <a:avLst/>
          </a:prstGeom>
          <a:noFill/>
          <a:ln/>
        </p:spPr>
        <p:txBody>
          <a:bodyPr wrap="square" lIns="0" tIns="0" rIns="0" bIns="0" rtlCol="0" anchor="t"/>
          <a:lstStyle/>
          <a:p>
            <a:pPr indent="0" marL="0">
              <a:buNone/>
            </a:pPr>
            <a:r>
              <a:rPr lang="en-US" sz="1300" dirty="0">
                <a:solidFill>
                  <a:srgbClr val="1E1E1E"/>
                </a:solidFill>
                <a:latin typeface="Calibri" pitchFamily="34" charset="0"/>
                <a:ea typeface="Calibri" pitchFamily="34" charset="-122"/>
                <a:cs typeface="Calibri" pitchFamily="34" charset="-120"/>
              </a:rPr>
              <a:t>Broschüre «A Warning»; Brown tötet öffentlich Hunde mit Wechselstrom</a:t>
            </a:r>
            <a:endParaRPr lang="en-US" sz="1300" dirty="0"/>
          </a:p>
        </p:txBody>
      </p:sp>
      <p:sp>
        <p:nvSpPr>
          <p:cNvPr id="17" name="Text 15"/>
          <p:cNvSpPr txBox="1"/>
          <p:nvPr/>
        </p:nvSpPr>
        <p:spPr>
          <a:xfrm>
            <a:off x="5449824" y="1691640"/>
            <a:ext cx="1508760" cy="457200"/>
          </a:xfrm>
          <a:prstGeom prst="rect">
            <a:avLst/>
          </a:prstGeom>
          <a:noFill/>
          <a:ln/>
        </p:spPr>
        <p:txBody>
          <a:bodyPr wrap="square" lIns="0" tIns="0" rIns="0" bIns="0" rtlCol="0" anchor="ctr"/>
          <a:lstStyle/>
          <a:p>
            <a:pPr indent="0" marL="0">
              <a:buNone/>
            </a:pPr>
            <a:r>
              <a:rPr lang="en-US" sz="2400" b="1" dirty="0">
                <a:solidFill>
                  <a:srgbClr val="C8641E"/>
                </a:solidFill>
                <a:latin typeface="Cambria" pitchFamily="34" charset="0"/>
                <a:ea typeface="Cambria" pitchFamily="34" charset="-122"/>
                <a:cs typeface="Cambria" pitchFamily="34" charset="-120"/>
              </a:rPr>
              <a:t>1889</a:t>
            </a:r>
            <a:endParaRPr lang="en-US" sz="2400" dirty="0"/>
          </a:p>
        </p:txBody>
      </p:sp>
      <p:sp>
        <p:nvSpPr>
          <p:cNvPr id="18" name="Shape 16"/>
          <p:cNvSpPr/>
          <p:nvPr/>
        </p:nvSpPr>
        <p:spPr>
          <a:xfrm>
            <a:off x="5468112" y="2231136"/>
            <a:ext cx="201168" cy="201168"/>
          </a:xfrm>
          <a:prstGeom prst="ellipse">
            <a:avLst/>
          </a:prstGeom>
          <a:solidFill>
            <a:srgbClr val="C8641E"/>
          </a:solidFill>
          <a:ln w="25400">
            <a:solidFill>
              <a:srgbClr val="FFFFFF"/>
            </a:solidFill>
            <a:prstDash val="solid"/>
          </a:ln>
        </p:spPr>
      </p:sp>
      <p:sp>
        <p:nvSpPr>
          <p:cNvPr id="19" name="Text 17"/>
          <p:cNvSpPr txBox="1"/>
          <p:nvPr/>
        </p:nvSpPr>
        <p:spPr>
          <a:xfrm>
            <a:off x="5449824" y="2606040"/>
            <a:ext cx="1508760" cy="1737360"/>
          </a:xfrm>
          <a:prstGeom prst="rect">
            <a:avLst/>
          </a:prstGeom>
          <a:noFill/>
          <a:ln/>
        </p:spPr>
        <p:txBody>
          <a:bodyPr wrap="square" lIns="0" tIns="0" rIns="0" bIns="0" rtlCol="0" anchor="t"/>
          <a:lstStyle/>
          <a:p>
            <a:pPr indent="0" marL="0">
              <a:buNone/>
            </a:pPr>
            <a:r>
              <a:rPr lang="en-US" sz="1300" dirty="0">
                <a:solidFill>
                  <a:srgbClr val="1E1E1E"/>
                </a:solidFill>
                <a:latin typeface="Calibri" pitchFamily="34" charset="0"/>
                <a:ea typeface="Calibri" pitchFamily="34" charset="-122"/>
                <a:cs typeface="Calibri" pitchFamily="34" charset="-120"/>
              </a:rPr>
              <a:t>Elektrischer Stuhl mit Westinghouse-Generator; Pressekrieg in der North American Review</a:t>
            </a:r>
            <a:endParaRPr lang="en-US" sz="1300" dirty="0"/>
          </a:p>
        </p:txBody>
      </p:sp>
      <p:sp>
        <p:nvSpPr>
          <p:cNvPr id="20" name="Text 18"/>
          <p:cNvSpPr txBox="1"/>
          <p:nvPr/>
        </p:nvSpPr>
        <p:spPr>
          <a:xfrm>
            <a:off x="7114032" y="1691640"/>
            <a:ext cx="1508760" cy="457200"/>
          </a:xfrm>
          <a:prstGeom prst="rect">
            <a:avLst/>
          </a:prstGeom>
          <a:noFill/>
          <a:ln/>
        </p:spPr>
        <p:txBody>
          <a:bodyPr wrap="square" lIns="0" tIns="0" rIns="0" bIns="0" rtlCol="0" anchor="ctr"/>
          <a:lstStyle/>
          <a:p>
            <a:pPr indent="0" marL="0">
              <a:buNone/>
            </a:pPr>
            <a:r>
              <a:rPr lang="en-US" sz="2400" b="1" dirty="0">
                <a:solidFill>
                  <a:srgbClr val="C8641E"/>
                </a:solidFill>
                <a:latin typeface="Cambria" pitchFamily="34" charset="0"/>
                <a:ea typeface="Cambria" pitchFamily="34" charset="-122"/>
                <a:cs typeface="Cambria" pitchFamily="34" charset="-120"/>
              </a:rPr>
              <a:t>1890</a:t>
            </a:r>
            <a:endParaRPr lang="en-US" sz="2400" dirty="0"/>
          </a:p>
        </p:txBody>
      </p:sp>
      <p:sp>
        <p:nvSpPr>
          <p:cNvPr id="21" name="Shape 19"/>
          <p:cNvSpPr/>
          <p:nvPr/>
        </p:nvSpPr>
        <p:spPr>
          <a:xfrm>
            <a:off x="7132320" y="2231136"/>
            <a:ext cx="201168" cy="201168"/>
          </a:xfrm>
          <a:prstGeom prst="ellipse">
            <a:avLst/>
          </a:prstGeom>
          <a:solidFill>
            <a:srgbClr val="C8641E"/>
          </a:solidFill>
          <a:ln w="25400">
            <a:solidFill>
              <a:srgbClr val="FFFFFF"/>
            </a:solidFill>
            <a:prstDash val="solid"/>
          </a:ln>
        </p:spPr>
      </p:sp>
      <p:sp>
        <p:nvSpPr>
          <p:cNvPr id="22" name="Text 20"/>
          <p:cNvSpPr txBox="1"/>
          <p:nvPr/>
        </p:nvSpPr>
        <p:spPr>
          <a:xfrm>
            <a:off x="7114032" y="2606040"/>
            <a:ext cx="1508760" cy="1737360"/>
          </a:xfrm>
          <a:prstGeom prst="rect">
            <a:avLst/>
          </a:prstGeom>
          <a:noFill/>
          <a:ln/>
        </p:spPr>
        <p:txBody>
          <a:bodyPr wrap="square" lIns="0" tIns="0" rIns="0" bIns="0" rtlCol="0" anchor="t"/>
          <a:lstStyle/>
          <a:p>
            <a:pPr indent="0" marL="0">
              <a:buNone/>
            </a:pPr>
            <a:r>
              <a:rPr lang="en-US" sz="1300" dirty="0">
                <a:solidFill>
                  <a:srgbClr val="1E1E1E"/>
                </a:solidFill>
                <a:latin typeface="Calibri" pitchFamily="34" charset="0"/>
                <a:ea typeface="Calibri" pitchFamily="34" charset="-122"/>
                <a:cs typeface="Calibri" pitchFamily="34" charset="-120"/>
              </a:rPr>
              <a:t>Kemmler: erste Hinrichtung mit Strom – ein qualvolles Debakel</a:t>
            </a:r>
            <a:endParaRPr lang="en-US" sz="1300" dirty="0"/>
          </a:p>
        </p:txBody>
      </p:sp>
      <p:sp>
        <p:nvSpPr>
          <p:cNvPr id="23" name="Text 21"/>
          <p:cNvSpPr txBox="1"/>
          <p:nvPr/>
        </p:nvSpPr>
        <p:spPr>
          <a:xfrm>
            <a:off x="457200" y="4754880"/>
            <a:ext cx="6583680" cy="228600"/>
          </a:xfrm>
          <a:prstGeom prst="rect">
            <a:avLst/>
          </a:prstGeom>
          <a:noFill/>
          <a:ln/>
        </p:spPr>
        <p:txBody>
          <a:bodyPr wrap="square" lIns="0" tIns="0" rIns="0" bIns="0" rtlCol="0" anchor="ctr"/>
          <a:lstStyle/>
          <a:p>
            <a:pPr indent="0" marL="0">
              <a:buNone/>
            </a:pPr>
            <a:r>
              <a:rPr lang="en-US" sz="900" dirty="0">
                <a:solidFill>
                  <a:srgbClr val="5F5D58"/>
                </a:solidFill>
                <a:latin typeface="Calibri" pitchFamily="34" charset="0"/>
                <a:ea typeface="Calibri" pitchFamily="34" charset="-122"/>
                <a:cs typeface="Calibri" pitchFamily="34" charset="-120"/>
              </a:rPr>
              <a:t>Quellen: [1], [3], [5]–[9] (Nummern wie im Handout)</a:t>
            </a:r>
            <a:endParaRPr lang="en-US" sz="900" dirty="0"/>
          </a:p>
        </p:txBody>
      </p:sp>
      <p:sp>
        <p:nvSpPr>
          <p:cNvPr id="24" name="Text 22"/>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900" dirty="0">
                <a:solidFill>
                  <a:srgbClr val="5F5D5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85800"/>
          </a:xfrm>
          <a:prstGeom prst="rect">
            <a:avLst/>
          </a:prstGeom>
          <a:noFill/>
          <a:ln/>
        </p:spPr>
        <p:txBody>
          <a:bodyPr wrap="square" lIns="0" tIns="0" rIns="0" bIns="0" rtlCol="0" anchor="ctr"/>
          <a:lstStyle/>
          <a:p>
            <a:pPr indent="0" marL="0">
              <a:buNone/>
            </a:pPr>
            <a:r>
              <a:rPr lang="en-US" sz="2600" b="1" dirty="0">
                <a:solidFill>
                  <a:srgbClr val="1E1E1E"/>
                </a:solidFill>
                <a:latin typeface="Cambria" pitchFamily="34" charset="0"/>
                <a:ea typeface="Cambria" pitchFamily="34" charset="-122"/>
                <a:cs typeface="Cambria" pitchFamily="34" charset="-120"/>
              </a:rPr>
              <a:t>1891–1896: Markt und Kapital entscheiden</a:t>
            </a:r>
            <a:endParaRPr lang="en-US" sz="2600" dirty="0"/>
          </a:p>
        </p:txBody>
      </p:sp>
      <p:sp>
        <p:nvSpPr>
          <p:cNvPr id="3" name="Shape 1"/>
          <p:cNvSpPr/>
          <p:nvPr/>
        </p:nvSpPr>
        <p:spPr>
          <a:xfrm>
            <a:off x="457200" y="1143000"/>
            <a:ext cx="8229600" cy="365760"/>
          </a:xfrm>
          <a:prstGeom prst="roundRect">
            <a:avLst>
              <a:gd name="adj" fmla="val 50000"/>
            </a:avLst>
          </a:prstGeom>
          <a:solidFill>
            <a:srgbClr val="0E7C9E"/>
          </a:solidFill>
          <a:ln w="12700">
            <a:solidFill>
              <a:srgbClr val="0E7C9E"/>
            </a:solidFill>
            <a:prstDash val="solid"/>
          </a:ln>
        </p:spPr>
      </p:sp>
      <p:sp>
        <p:nvSpPr>
          <p:cNvPr id="4" name="Text 2"/>
          <p:cNvSpPr txBox="1"/>
          <p:nvPr/>
        </p:nvSpPr>
        <p:spPr>
          <a:xfrm>
            <a:off x="457200" y="1143000"/>
            <a:ext cx="82296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Phase 3 · Entscheidung 1891–1896</a:t>
            </a:r>
            <a:endParaRPr lang="en-US" sz="1300" dirty="0"/>
          </a:p>
        </p:txBody>
      </p:sp>
      <p:sp>
        <p:nvSpPr>
          <p:cNvPr id="5" name="Shape 3"/>
          <p:cNvSpPr/>
          <p:nvPr/>
        </p:nvSpPr>
        <p:spPr>
          <a:xfrm>
            <a:off x="457200" y="1737360"/>
            <a:ext cx="4023360" cy="1280160"/>
          </a:xfrm>
          <a:prstGeom prst="rect">
            <a:avLst/>
          </a:prstGeom>
          <a:solidFill>
            <a:srgbClr val="F3F5F6"/>
          </a:solidFill>
          <a:ln w="12700">
            <a:solidFill>
              <a:srgbClr val="F3F5F6"/>
            </a:solidFill>
            <a:prstDash val="solid"/>
          </a:ln>
        </p:spPr>
      </p:sp>
      <p:sp>
        <p:nvSpPr>
          <p:cNvPr id="6" name="Text 4"/>
          <p:cNvSpPr txBox="1"/>
          <p:nvPr/>
        </p:nvSpPr>
        <p:spPr>
          <a:xfrm>
            <a:off x="640080" y="1737360"/>
            <a:ext cx="1005840" cy="1280160"/>
          </a:xfrm>
          <a:prstGeom prst="rect">
            <a:avLst/>
          </a:prstGeom>
          <a:noFill/>
          <a:ln/>
        </p:spPr>
        <p:txBody>
          <a:bodyPr wrap="square" lIns="0" tIns="0" rIns="0" bIns="0" rtlCol="0" anchor="ctr"/>
          <a:lstStyle/>
          <a:p>
            <a:pPr indent="0" marL="0">
              <a:buNone/>
            </a:pPr>
            <a:r>
              <a:rPr lang="en-US" sz="2800" b="1" dirty="0">
                <a:solidFill>
                  <a:srgbClr val="0E7C9E"/>
                </a:solidFill>
                <a:latin typeface="Cambria" pitchFamily="34" charset="0"/>
                <a:ea typeface="Cambria" pitchFamily="34" charset="-122"/>
                <a:cs typeface="Cambria" pitchFamily="34" charset="-120"/>
              </a:rPr>
              <a:t>1891</a:t>
            </a:r>
            <a:endParaRPr lang="en-US" sz="2800" dirty="0"/>
          </a:p>
        </p:txBody>
      </p:sp>
      <p:sp>
        <p:nvSpPr>
          <p:cNvPr id="7" name="Text 5"/>
          <p:cNvSpPr txBox="1"/>
          <p:nvPr/>
        </p:nvSpPr>
        <p:spPr>
          <a:xfrm>
            <a:off x="1691640" y="1828800"/>
            <a:ext cx="2651760" cy="1097280"/>
          </a:xfrm>
          <a:prstGeom prst="rect">
            <a:avLst/>
          </a:prstGeom>
          <a:noFill/>
          <a:ln/>
        </p:spPr>
        <p:txBody>
          <a:bodyPr wrap="square" lIns="0" tIns="0" rIns="0" bIns="0" rtlCol="0" anchor="ctr"/>
          <a:lstStyle/>
          <a:p>
            <a:pPr indent="0" marL="0">
              <a:buNone/>
            </a:pPr>
            <a:r>
              <a:rPr lang="en-US" sz="1300" dirty="0">
                <a:solidFill>
                  <a:srgbClr val="1E1E1E"/>
                </a:solidFill>
                <a:latin typeface="Calibri" pitchFamily="34" charset="0"/>
                <a:ea typeface="Calibri" pitchFamily="34" charset="-122"/>
                <a:cs typeface="Calibri" pitchFamily="34" charset="-120"/>
              </a:rPr>
              <a:t>Westinghouse gerät in eine Finanzkrise; Tesla verzichtet auf seine Lizenzgebühren.</a:t>
            </a:r>
            <a:endParaRPr lang="en-US" sz="1300" dirty="0"/>
          </a:p>
        </p:txBody>
      </p:sp>
      <p:sp>
        <p:nvSpPr>
          <p:cNvPr id="8" name="Shape 6"/>
          <p:cNvSpPr/>
          <p:nvPr/>
        </p:nvSpPr>
        <p:spPr>
          <a:xfrm>
            <a:off x="4663440" y="1737360"/>
            <a:ext cx="4023360" cy="1280160"/>
          </a:xfrm>
          <a:prstGeom prst="rect">
            <a:avLst/>
          </a:prstGeom>
          <a:solidFill>
            <a:srgbClr val="E6F1F5"/>
          </a:solidFill>
          <a:ln w="12700">
            <a:solidFill>
              <a:srgbClr val="E6F1F5"/>
            </a:solidFill>
            <a:prstDash val="solid"/>
          </a:ln>
        </p:spPr>
      </p:sp>
      <p:sp>
        <p:nvSpPr>
          <p:cNvPr id="9" name="Text 7"/>
          <p:cNvSpPr txBox="1"/>
          <p:nvPr/>
        </p:nvSpPr>
        <p:spPr>
          <a:xfrm>
            <a:off x="4846320" y="1737360"/>
            <a:ext cx="1005840" cy="1280160"/>
          </a:xfrm>
          <a:prstGeom prst="rect">
            <a:avLst/>
          </a:prstGeom>
          <a:noFill/>
          <a:ln/>
        </p:spPr>
        <p:txBody>
          <a:bodyPr wrap="square" lIns="0" tIns="0" rIns="0" bIns="0" rtlCol="0" anchor="ctr"/>
          <a:lstStyle/>
          <a:p>
            <a:pPr indent="0" marL="0">
              <a:buNone/>
            </a:pPr>
            <a:r>
              <a:rPr lang="en-US" sz="2800" b="1" dirty="0">
                <a:solidFill>
                  <a:srgbClr val="0E7C9E"/>
                </a:solidFill>
                <a:latin typeface="Cambria" pitchFamily="34" charset="0"/>
                <a:ea typeface="Cambria" pitchFamily="34" charset="-122"/>
                <a:cs typeface="Cambria" pitchFamily="34" charset="-120"/>
              </a:rPr>
              <a:t>1892</a:t>
            </a:r>
            <a:endParaRPr lang="en-US" sz="2800" dirty="0"/>
          </a:p>
        </p:txBody>
      </p:sp>
      <p:sp>
        <p:nvSpPr>
          <p:cNvPr id="10" name="Text 8"/>
          <p:cNvSpPr txBox="1"/>
          <p:nvPr/>
        </p:nvSpPr>
        <p:spPr>
          <a:xfrm>
            <a:off x="5897880" y="1828800"/>
            <a:ext cx="2651760" cy="1097280"/>
          </a:xfrm>
          <a:prstGeom prst="rect">
            <a:avLst/>
          </a:prstGeom>
          <a:noFill/>
          <a:ln/>
        </p:spPr>
        <p:txBody>
          <a:bodyPr wrap="square" lIns="0" tIns="0" rIns="0" bIns="0" rtlCol="0" anchor="ctr"/>
          <a:lstStyle/>
          <a:p>
            <a:pPr indent="0" marL="0">
              <a:buNone/>
            </a:pPr>
            <a:r>
              <a:rPr lang="en-US" sz="1300" dirty="0">
                <a:solidFill>
                  <a:srgbClr val="1E1E1E"/>
                </a:solidFill>
                <a:latin typeface="Calibri" pitchFamily="34" charset="0"/>
                <a:ea typeface="Calibri" pitchFamily="34" charset="-122"/>
                <a:cs typeface="Calibri" pitchFamily="34" charset="-120"/>
              </a:rPr>
              <a:t>J. P. Morgan fusioniert Edison General Electric und Thomson-Houston zu General Electric – Edison verliert die Kontrolle, GE setzt auf Wechselstrom.</a:t>
            </a:r>
            <a:endParaRPr lang="en-US" sz="1300" dirty="0"/>
          </a:p>
        </p:txBody>
      </p:sp>
      <p:sp>
        <p:nvSpPr>
          <p:cNvPr id="11" name="Shape 9"/>
          <p:cNvSpPr/>
          <p:nvPr/>
        </p:nvSpPr>
        <p:spPr>
          <a:xfrm>
            <a:off x="457200" y="3200400"/>
            <a:ext cx="4023360" cy="1280160"/>
          </a:xfrm>
          <a:prstGeom prst="rect">
            <a:avLst/>
          </a:prstGeom>
          <a:solidFill>
            <a:srgbClr val="F3F5F6"/>
          </a:solidFill>
          <a:ln w="12700">
            <a:solidFill>
              <a:srgbClr val="F3F5F6"/>
            </a:solidFill>
            <a:prstDash val="solid"/>
          </a:ln>
        </p:spPr>
      </p:sp>
      <p:sp>
        <p:nvSpPr>
          <p:cNvPr id="12" name="Text 10"/>
          <p:cNvSpPr txBox="1"/>
          <p:nvPr/>
        </p:nvSpPr>
        <p:spPr>
          <a:xfrm>
            <a:off x="640080" y="3200400"/>
            <a:ext cx="1005840" cy="1280160"/>
          </a:xfrm>
          <a:prstGeom prst="rect">
            <a:avLst/>
          </a:prstGeom>
          <a:noFill/>
          <a:ln/>
        </p:spPr>
        <p:txBody>
          <a:bodyPr wrap="square" lIns="0" tIns="0" rIns="0" bIns="0" rtlCol="0" anchor="ctr"/>
          <a:lstStyle/>
          <a:p>
            <a:pPr indent="0" marL="0">
              <a:buNone/>
            </a:pPr>
            <a:r>
              <a:rPr lang="en-US" sz="2800" b="1" dirty="0">
                <a:solidFill>
                  <a:srgbClr val="0E7C9E"/>
                </a:solidFill>
                <a:latin typeface="Cambria" pitchFamily="34" charset="0"/>
                <a:ea typeface="Cambria" pitchFamily="34" charset="-122"/>
                <a:cs typeface="Cambria" pitchFamily="34" charset="-120"/>
              </a:rPr>
              <a:t>1893</a:t>
            </a:r>
            <a:endParaRPr lang="en-US" sz="2800" dirty="0"/>
          </a:p>
        </p:txBody>
      </p:sp>
      <p:sp>
        <p:nvSpPr>
          <p:cNvPr id="13" name="Text 11"/>
          <p:cNvSpPr txBox="1"/>
          <p:nvPr/>
        </p:nvSpPr>
        <p:spPr>
          <a:xfrm>
            <a:off x="1691640" y="3291840"/>
            <a:ext cx="2651760" cy="1097280"/>
          </a:xfrm>
          <a:prstGeom prst="rect">
            <a:avLst/>
          </a:prstGeom>
          <a:noFill/>
          <a:ln/>
        </p:spPr>
        <p:txBody>
          <a:bodyPr wrap="square" lIns="0" tIns="0" rIns="0" bIns="0" rtlCol="0" anchor="ctr"/>
          <a:lstStyle/>
          <a:p>
            <a:pPr indent="0" marL="0">
              <a:buNone/>
            </a:pPr>
            <a:r>
              <a:rPr lang="en-US" sz="1300" dirty="0">
                <a:solidFill>
                  <a:srgbClr val="1E1E1E"/>
                </a:solidFill>
                <a:latin typeface="Calibri" pitchFamily="34" charset="0"/>
                <a:ea typeface="Calibri" pitchFamily="34" charset="-122"/>
                <a:cs typeface="Calibri" pitchFamily="34" charset="-120"/>
              </a:rPr>
              <a:t>Westinghouse beleuchtet die Weltausstellung in Chicago – deutlich günstiger als GE.</a:t>
            </a:r>
            <a:endParaRPr lang="en-US" sz="1300" dirty="0"/>
          </a:p>
        </p:txBody>
      </p:sp>
      <p:sp>
        <p:nvSpPr>
          <p:cNvPr id="14" name="Shape 12"/>
          <p:cNvSpPr/>
          <p:nvPr/>
        </p:nvSpPr>
        <p:spPr>
          <a:xfrm>
            <a:off x="4663440" y="3200400"/>
            <a:ext cx="4023360" cy="1280160"/>
          </a:xfrm>
          <a:prstGeom prst="rect">
            <a:avLst/>
          </a:prstGeom>
          <a:solidFill>
            <a:srgbClr val="F3F5F6"/>
          </a:solidFill>
          <a:ln w="12700">
            <a:solidFill>
              <a:srgbClr val="F3F5F6"/>
            </a:solidFill>
            <a:prstDash val="solid"/>
          </a:ln>
        </p:spPr>
      </p:sp>
      <p:sp>
        <p:nvSpPr>
          <p:cNvPr id="15" name="Text 13"/>
          <p:cNvSpPr txBox="1"/>
          <p:nvPr/>
        </p:nvSpPr>
        <p:spPr>
          <a:xfrm>
            <a:off x="4846320" y="3200400"/>
            <a:ext cx="1005840" cy="1280160"/>
          </a:xfrm>
          <a:prstGeom prst="rect">
            <a:avLst/>
          </a:prstGeom>
          <a:noFill/>
          <a:ln/>
        </p:spPr>
        <p:txBody>
          <a:bodyPr wrap="square" lIns="0" tIns="0" rIns="0" bIns="0" rtlCol="0" anchor="ctr"/>
          <a:lstStyle/>
          <a:p>
            <a:pPr indent="0" marL="0">
              <a:buNone/>
            </a:pPr>
            <a:r>
              <a:rPr lang="en-US" sz="2800" b="1" dirty="0">
                <a:solidFill>
                  <a:srgbClr val="0E7C9E"/>
                </a:solidFill>
                <a:latin typeface="Cambria" pitchFamily="34" charset="0"/>
                <a:ea typeface="Cambria" pitchFamily="34" charset="-122"/>
                <a:cs typeface="Cambria" pitchFamily="34" charset="-120"/>
              </a:rPr>
              <a:t>1896</a:t>
            </a:r>
            <a:endParaRPr lang="en-US" sz="2800" dirty="0"/>
          </a:p>
        </p:txBody>
      </p:sp>
      <p:sp>
        <p:nvSpPr>
          <p:cNvPr id="16" name="Text 14"/>
          <p:cNvSpPr txBox="1"/>
          <p:nvPr/>
        </p:nvSpPr>
        <p:spPr>
          <a:xfrm>
            <a:off x="5897880" y="3291840"/>
            <a:ext cx="2651760" cy="1097280"/>
          </a:xfrm>
          <a:prstGeom prst="rect">
            <a:avLst/>
          </a:prstGeom>
          <a:noFill/>
          <a:ln/>
        </p:spPr>
        <p:txBody>
          <a:bodyPr wrap="square" lIns="0" tIns="0" rIns="0" bIns="0" rtlCol="0" anchor="ctr"/>
          <a:lstStyle/>
          <a:p>
            <a:pPr indent="0" marL="0">
              <a:buNone/>
            </a:pPr>
            <a:r>
              <a:rPr lang="en-US" sz="1300" dirty="0">
                <a:solidFill>
                  <a:srgbClr val="1E1E1E"/>
                </a:solidFill>
                <a:latin typeface="Calibri" pitchFamily="34" charset="0"/>
                <a:ea typeface="Calibri" pitchFamily="34" charset="-122"/>
                <a:cs typeface="Calibri" pitchFamily="34" charset="-120"/>
              </a:rPr>
              <a:t>Strom von den Niagarafällen erreicht Buffalo; GE und Westinghouse schliessen ein Patentabkommen.</a:t>
            </a:r>
            <a:endParaRPr lang="en-US" sz="1300" dirty="0"/>
          </a:p>
        </p:txBody>
      </p:sp>
      <p:sp>
        <p:nvSpPr>
          <p:cNvPr id="17" name="Text 15"/>
          <p:cNvSpPr txBox="1"/>
          <p:nvPr/>
        </p:nvSpPr>
        <p:spPr>
          <a:xfrm>
            <a:off x="457200" y="4754880"/>
            <a:ext cx="6583680" cy="228600"/>
          </a:xfrm>
          <a:prstGeom prst="rect">
            <a:avLst/>
          </a:prstGeom>
          <a:noFill/>
          <a:ln/>
        </p:spPr>
        <p:txBody>
          <a:bodyPr wrap="square" lIns="0" tIns="0" rIns="0" bIns="0" rtlCol="0" anchor="ctr"/>
          <a:lstStyle/>
          <a:p>
            <a:pPr indent="0" marL="0">
              <a:buNone/>
            </a:pPr>
            <a:r>
              <a:rPr lang="en-US" sz="900" dirty="0">
                <a:solidFill>
                  <a:srgbClr val="5F5D58"/>
                </a:solidFill>
                <a:latin typeface="Calibri" pitchFamily="34" charset="0"/>
                <a:ea typeface="Calibri" pitchFamily="34" charset="-122"/>
                <a:cs typeface="Calibri" pitchFamily="34" charset="-120"/>
              </a:rPr>
              <a:t>Quellen: [2]–[4] (Nummern wie im Handout)</a:t>
            </a:r>
            <a:endParaRPr lang="en-US" sz="900" dirty="0"/>
          </a:p>
        </p:txBody>
      </p:sp>
      <p:sp>
        <p:nvSpPr>
          <p:cNvPr id="18" name="Text 16"/>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900" dirty="0">
                <a:solidFill>
                  <a:srgbClr val="5F5D5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85800"/>
          </a:xfrm>
          <a:prstGeom prst="rect">
            <a:avLst/>
          </a:prstGeom>
          <a:noFill/>
          <a:ln/>
        </p:spPr>
        <p:txBody>
          <a:bodyPr wrap="square" lIns="0" tIns="0" rIns="0" bIns="0" rtlCol="0" anchor="ctr"/>
          <a:lstStyle/>
          <a:p>
            <a:pPr indent="0" marL="0">
              <a:buNone/>
            </a:pPr>
            <a:r>
              <a:rPr lang="en-US" sz="2600" b="1" dirty="0">
                <a:solidFill>
                  <a:srgbClr val="1E1E1E"/>
                </a:solidFill>
                <a:latin typeface="Cambria" pitchFamily="34" charset="0"/>
                <a:ea typeface="Cambria" pitchFamily="34" charset="-122"/>
                <a:cs typeface="Cambria" pitchFamily="34" charset="-120"/>
              </a:rPr>
              <a:t>Kosten und Kapital schlugen Propaganda</a:t>
            </a:r>
            <a:endParaRPr lang="en-US" sz="2600" dirty="0"/>
          </a:p>
        </p:txBody>
      </p:sp>
      <p:sp>
        <p:nvSpPr>
          <p:cNvPr id="3" name="Shape 1"/>
          <p:cNvSpPr/>
          <p:nvPr/>
        </p:nvSpPr>
        <p:spPr>
          <a:xfrm>
            <a:off x="457200" y="1188720"/>
            <a:ext cx="548640" cy="548640"/>
          </a:xfrm>
          <a:prstGeom prst="ellipse">
            <a:avLst/>
          </a:prstGeom>
          <a:solidFill>
            <a:srgbClr val="0E7C9E"/>
          </a:solidFill>
          <a:ln w="12700">
            <a:solidFill>
              <a:srgbClr val="0E7C9E"/>
            </a:solidFill>
            <a:prstDash val="solid"/>
          </a:ln>
        </p:spPr>
      </p:sp>
      <p:pic>
        <p:nvPicPr>
          <p:cNvPr id="4" name="Image 0" descr="preencoded.png">    </p:cNvPr>
          <p:cNvPicPr>
            <a:picLocks noChangeAspect="1"/>
          </p:cNvPicPr>
          <p:nvPr/>
        </p:nvPicPr>
        <p:blipFill>
          <a:blip r:embed="rId1"/>
          <a:stretch>
            <a:fillRect/>
          </a:stretch>
        </p:blipFill>
        <p:spPr>
          <a:xfrm>
            <a:off x="594360" y="1325880"/>
            <a:ext cx="274320" cy="274320"/>
          </a:xfrm>
          <a:prstGeom prst="rect">
            <a:avLst/>
          </a:prstGeom>
        </p:spPr>
      </p:pic>
      <p:sp>
        <p:nvSpPr>
          <p:cNvPr id="5" name="Text 2"/>
          <p:cNvSpPr txBox="1"/>
          <p:nvPr/>
        </p:nvSpPr>
        <p:spPr>
          <a:xfrm>
            <a:off x="457200" y="1874520"/>
            <a:ext cx="2606040" cy="365760"/>
          </a:xfrm>
          <a:prstGeom prst="rect">
            <a:avLst/>
          </a:prstGeom>
          <a:noFill/>
          <a:ln/>
        </p:spPr>
        <p:txBody>
          <a:bodyPr wrap="square" lIns="0" tIns="0" rIns="0" bIns="0" rtlCol="0" anchor="ctr"/>
          <a:lstStyle/>
          <a:p>
            <a:pPr indent="0" marL="0">
              <a:buNone/>
            </a:pPr>
            <a:r>
              <a:rPr lang="en-US" sz="1600" b="1" dirty="0">
                <a:solidFill>
                  <a:srgbClr val="1E1E1E"/>
                </a:solidFill>
                <a:latin typeface="Calibri" pitchFamily="34" charset="0"/>
                <a:ea typeface="Calibri" pitchFamily="34" charset="-122"/>
                <a:cs typeface="Calibri" pitchFamily="34" charset="-120"/>
              </a:rPr>
              <a:t>Kosten</a:t>
            </a:r>
            <a:endParaRPr lang="en-US" sz="1600" dirty="0"/>
          </a:p>
        </p:txBody>
      </p:sp>
      <p:sp>
        <p:nvSpPr>
          <p:cNvPr id="6" name="Text 3"/>
          <p:cNvSpPr txBox="1"/>
          <p:nvPr/>
        </p:nvSpPr>
        <p:spPr>
          <a:xfrm>
            <a:off x="457200" y="2240280"/>
            <a:ext cx="2606040" cy="1463040"/>
          </a:xfrm>
          <a:prstGeom prst="rect">
            <a:avLst/>
          </a:prstGeom>
          <a:noFill/>
          <a:ln/>
        </p:spPr>
        <p:txBody>
          <a:bodyPr wrap="square" lIns="0" tIns="0" rIns="0" bIns="0" rtlCol="0" anchor="t"/>
          <a:lstStyle/>
          <a:p>
            <a:pPr indent="0" marL="0">
              <a:buNone/>
            </a:pPr>
            <a:r>
              <a:rPr lang="en-US" sz="1300" dirty="0">
                <a:solidFill>
                  <a:srgbClr val="1E1E1E"/>
                </a:solidFill>
                <a:latin typeface="Calibri" pitchFamily="34" charset="0"/>
                <a:ea typeface="Calibri" pitchFamily="34" charset="-122"/>
                <a:cs typeface="Calibri" pitchFamily="34" charset="-120"/>
              </a:rPr>
              <a:t>Wechselstromnetze waren billiger zu bauen und zu betreiben; neue Versorger wählten sie zunehmend.</a:t>
            </a:r>
            <a:endParaRPr lang="en-US" sz="1300" dirty="0"/>
          </a:p>
        </p:txBody>
      </p:sp>
      <p:sp>
        <p:nvSpPr>
          <p:cNvPr id="7" name="Shape 4"/>
          <p:cNvSpPr/>
          <p:nvPr/>
        </p:nvSpPr>
        <p:spPr>
          <a:xfrm>
            <a:off x="3246120" y="1188720"/>
            <a:ext cx="548640" cy="548640"/>
          </a:xfrm>
          <a:prstGeom prst="ellipse">
            <a:avLst/>
          </a:prstGeom>
          <a:solidFill>
            <a:srgbClr val="C8641E"/>
          </a:solidFill>
          <a:ln w="12700">
            <a:solidFill>
              <a:srgbClr val="C8641E"/>
            </a:solidFill>
            <a:prstDash val="solid"/>
          </a:ln>
        </p:spPr>
      </p:sp>
      <p:pic>
        <p:nvPicPr>
          <p:cNvPr id="8" name="Image 1" descr="preencoded.png">    </p:cNvPr>
          <p:cNvPicPr>
            <a:picLocks noChangeAspect="1"/>
          </p:cNvPicPr>
          <p:nvPr/>
        </p:nvPicPr>
        <p:blipFill>
          <a:blip r:embed="rId2"/>
          <a:stretch>
            <a:fillRect/>
          </a:stretch>
        </p:blipFill>
        <p:spPr>
          <a:xfrm>
            <a:off x="3383280" y="1325880"/>
            <a:ext cx="274320" cy="274320"/>
          </a:xfrm>
          <a:prstGeom prst="rect">
            <a:avLst/>
          </a:prstGeom>
        </p:spPr>
      </p:pic>
      <p:sp>
        <p:nvSpPr>
          <p:cNvPr id="9" name="Text 5"/>
          <p:cNvSpPr txBox="1"/>
          <p:nvPr/>
        </p:nvSpPr>
        <p:spPr>
          <a:xfrm>
            <a:off x="3246120" y="1874520"/>
            <a:ext cx="2606040" cy="365760"/>
          </a:xfrm>
          <a:prstGeom prst="rect">
            <a:avLst/>
          </a:prstGeom>
          <a:noFill/>
          <a:ln/>
        </p:spPr>
        <p:txBody>
          <a:bodyPr wrap="square" lIns="0" tIns="0" rIns="0" bIns="0" rtlCol="0" anchor="ctr"/>
          <a:lstStyle/>
          <a:p>
            <a:pPr indent="0" marL="0">
              <a:buNone/>
            </a:pPr>
            <a:r>
              <a:rPr lang="en-US" sz="1600" b="1" dirty="0">
                <a:solidFill>
                  <a:srgbClr val="1E1E1E"/>
                </a:solidFill>
                <a:latin typeface="Calibri" pitchFamily="34" charset="0"/>
                <a:ea typeface="Calibri" pitchFamily="34" charset="-122"/>
                <a:cs typeface="Calibri" pitchFamily="34" charset="-120"/>
              </a:rPr>
              <a:t>Propaganda scheitert</a:t>
            </a:r>
            <a:endParaRPr lang="en-US" sz="1600" dirty="0"/>
          </a:p>
        </p:txBody>
      </p:sp>
      <p:sp>
        <p:nvSpPr>
          <p:cNvPr id="10" name="Text 6"/>
          <p:cNvSpPr txBox="1"/>
          <p:nvPr/>
        </p:nvSpPr>
        <p:spPr>
          <a:xfrm>
            <a:off x="3246120" y="2240280"/>
            <a:ext cx="2606040" cy="1463040"/>
          </a:xfrm>
          <a:prstGeom prst="rect">
            <a:avLst/>
          </a:prstGeom>
          <a:noFill/>
          <a:ln/>
        </p:spPr>
        <p:txBody>
          <a:bodyPr wrap="square" lIns="0" tIns="0" rIns="0" bIns="0" rtlCol="0" anchor="t"/>
          <a:lstStyle/>
          <a:p>
            <a:pPr indent="0" marL="0">
              <a:buNone/>
            </a:pPr>
            <a:r>
              <a:rPr lang="en-US" sz="1300" dirty="0">
                <a:solidFill>
                  <a:srgbClr val="1E1E1E"/>
                </a:solidFill>
                <a:latin typeface="Calibri" pitchFamily="34" charset="0"/>
                <a:ea typeface="Calibri" pitchFamily="34" charset="-122"/>
                <a:cs typeface="Calibri" pitchFamily="34" charset="-120"/>
              </a:rPr>
              <a:t>Cole und Chandler: «kompetitives Impression Management». Wechselstrom liess sich in der Öffentlichkeit nicht mit dem Tod verbinden.</a:t>
            </a:r>
            <a:endParaRPr lang="en-US" sz="1300" dirty="0"/>
          </a:p>
        </p:txBody>
      </p:sp>
      <p:sp>
        <p:nvSpPr>
          <p:cNvPr id="11" name="Shape 7"/>
          <p:cNvSpPr/>
          <p:nvPr/>
        </p:nvSpPr>
        <p:spPr>
          <a:xfrm>
            <a:off x="6035040" y="1188720"/>
            <a:ext cx="548640" cy="548640"/>
          </a:xfrm>
          <a:prstGeom prst="ellipse">
            <a:avLst/>
          </a:prstGeom>
          <a:solidFill>
            <a:srgbClr val="7E5AA6"/>
          </a:solidFill>
          <a:ln w="12700">
            <a:solidFill>
              <a:srgbClr val="7E5AA6"/>
            </a:solidFill>
            <a:prstDash val="solid"/>
          </a:ln>
        </p:spPr>
      </p:sp>
      <p:pic>
        <p:nvPicPr>
          <p:cNvPr id="12" name="Image 2" descr="preencoded.png">    </p:cNvPr>
          <p:cNvPicPr>
            <a:picLocks noChangeAspect="1"/>
          </p:cNvPicPr>
          <p:nvPr/>
        </p:nvPicPr>
        <p:blipFill>
          <a:blip r:embed="rId3"/>
          <a:stretch>
            <a:fillRect/>
          </a:stretch>
        </p:blipFill>
        <p:spPr>
          <a:xfrm>
            <a:off x="6172200" y="1325880"/>
            <a:ext cx="274320" cy="274320"/>
          </a:xfrm>
          <a:prstGeom prst="rect">
            <a:avLst/>
          </a:prstGeom>
        </p:spPr>
      </p:pic>
      <p:sp>
        <p:nvSpPr>
          <p:cNvPr id="13" name="Text 8"/>
          <p:cNvSpPr txBox="1"/>
          <p:nvPr/>
        </p:nvSpPr>
        <p:spPr>
          <a:xfrm>
            <a:off x="6035040" y="1874520"/>
            <a:ext cx="2606040" cy="365760"/>
          </a:xfrm>
          <a:prstGeom prst="rect">
            <a:avLst/>
          </a:prstGeom>
          <a:noFill/>
          <a:ln/>
        </p:spPr>
        <p:txBody>
          <a:bodyPr wrap="square" lIns="0" tIns="0" rIns="0" bIns="0" rtlCol="0" anchor="ctr"/>
          <a:lstStyle/>
          <a:p>
            <a:pPr indent="0" marL="0">
              <a:buNone/>
            </a:pPr>
            <a:r>
              <a:rPr lang="en-US" sz="1600" b="1" dirty="0">
                <a:solidFill>
                  <a:srgbClr val="1E1E1E"/>
                </a:solidFill>
                <a:latin typeface="Calibri" pitchFamily="34" charset="0"/>
                <a:ea typeface="Calibri" pitchFamily="34" charset="-122"/>
                <a:cs typeface="Calibri" pitchFamily="34" charset="-120"/>
              </a:rPr>
              <a:t>Schweizer Bezug</a:t>
            </a:r>
            <a:endParaRPr lang="en-US" sz="1600" dirty="0"/>
          </a:p>
        </p:txBody>
      </p:sp>
      <p:sp>
        <p:nvSpPr>
          <p:cNvPr id="14" name="Text 9"/>
          <p:cNvSpPr txBox="1"/>
          <p:nvPr/>
        </p:nvSpPr>
        <p:spPr>
          <a:xfrm>
            <a:off x="6035040" y="2240280"/>
            <a:ext cx="2606040" cy="1463040"/>
          </a:xfrm>
          <a:prstGeom prst="rect">
            <a:avLst/>
          </a:prstGeom>
          <a:noFill/>
          <a:ln/>
        </p:spPr>
        <p:txBody>
          <a:bodyPr wrap="square" lIns="0" tIns="0" rIns="0" bIns="0" rtlCol="0" anchor="t"/>
          <a:lstStyle/>
          <a:p>
            <a:pPr indent="0" marL="0">
              <a:buNone/>
            </a:pPr>
            <a:r>
              <a:rPr lang="en-US" sz="1300" dirty="0">
                <a:solidFill>
                  <a:srgbClr val="1E1E1E"/>
                </a:solidFill>
                <a:latin typeface="Calibri" pitchFamily="34" charset="0"/>
                <a:ea typeface="Calibri" pitchFamily="34" charset="-122"/>
                <a:cs typeface="Calibri" pitchFamily="34" charset="-120"/>
              </a:rPr>
              <a:t>1891: Drehstrom über 175 km von Lauffen nach Frankfurt (AEG und MFO Oerlikon). Im selben Jahr gründet Charles E. L. Brown in Baden die BBC – heute ABB.</a:t>
            </a:r>
            <a:endParaRPr lang="en-US" sz="1300" dirty="0"/>
          </a:p>
        </p:txBody>
      </p:sp>
      <p:sp>
        <p:nvSpPr>
          <p:cNvPr id="15" name="Shape 10"/>
          <p:cNvSpPr/>
          <p:nvPr/>
        </p:nvSpPr>
        <p:spPr>
          <a:xfrm>
            <a:off x="457200" y="3840480"/>
            <a:ext cx="8229600" cy="731520"/>
          </a:xfrm>
          <a:prstGeom prst="rect">
            <a:avLst/>
          </a:prstGeom>
          <a:solidFill>
            <a:srgbClr val="F3F5F6"/>
          </a:solidFill>
          <a:ln w="12700">
            <a:solidFill>
              <a:srgbClr val="F3F5F6"/>
            </a:solidFill>
            <a:prstDash val="solid"/>
          </a:ln>
        </p:spPr>
      </p:sp>
      <p:sp>
        <p:nvSpPr>
          <p:cNvPr id="16" name="Text 11"/>
          <p:cNvSpPr txBox="1"/>
          <p:nvPr/>
        </p:nvSpPr>
        <p:spPr>
          <a:xfrm>
            <a:off x="640080" y="3840480"/>
            <a:ext cx="7863840" cy="731520"/>
          </a:xfrm>
          <a:prstGeom prst="rect">
            <a:avLst/>
          </a:prstGeom>
          <a:noFill/>
          <a:ln/>
        </p:spPr>
        <p:txBody>
          <a:bodyPr wrap="square" lIns="0" tIns="0" rIns="0" bIns="0" rtlCol="0" anchor="ctr"/>
          <a:lstStyle/>
          <a:p>
            <a:pPr indent="0" marL="0">
              <a:buNone/>
            </a:pPr>
            <a:r>
              <a:rPr lang="en-US" sz="1300" b="1" dirty="0">
                <a:solidFill>
                  <a:srgbClr val="1E1E1E"/>
                </a:solidFill>
                <a:latin typeface="Calibri" pitchFamily="34" charset="0"/>
                <a:ea typeface="Calibri" pitchFamily="34" charset="-122"/>
                <a:cs typeface="Calibri" pitchFamily="34" charset="-120"/>
              </a:rPr>
              <a:t>Kein K.-o.-Sieg: </a:t>
            </a:r>
            <a:pPr indent="0" marL="0">
              <a:buNone/>
            </a:pPr>
            <a:r>
              <a:rPr lang="en-US" sz="1300" dirty="0">
                <a:solidFill>
                  <a:srgbClr val="1E1E1E"/>
                </a:solidFill>
                <a:latin typeface="Calibri" pitchFamily="34" charset="0"/>
                <a:ea typeface="Calibri" pitchFamily="34" charset="-122"/>
                <a:cs typeface="Calibri" pitchFamily="34" charset="-120"/>
              </a:rPr>
              <a:t>Umformer koppelten neue Wechselstrom- an alte Gleichstromnetze; Manhattans letzte Gleichstromversorgung endete erst 2007.</a:t>
            </a:r>
            <a:endParaRPr lang="en-US" sz="1300" dirty="0"/>
          </a:p>
        </p:txBody>
      </p:sp>
      <p:sp>
        <p:nvSpPr>
          <p:cNvPr id="17" name="Text 12"/>
          <p:cNvSpPr txBox="1"/>
          <p:nvPr/>
        </p:nvSpPr>
        <p:spPr>
          <a:xfrm>
            <a:off x="457200" y="4754880"/>
            <a:ext cx="6583680" cy="228600"/>
          </a:xfrm>
          <a:prstGeom prst="rect">
            <a:avLst/>
          </a:prstGeom>
          <a:noFill/>
          <a:ln/>
        </p:spPr>
        <p:txBody>
          <a:bodyPr wrap="square" lIns="0" tIns="0" rIns="0" bIns="0" rtlCol="0" anchor="ctr"/>
          <a:lstStyle/>
          <a:p>
            <a:pPr indent="0" marL="0">
              <a:buNone/>
            </a:pPr>
            <a:r>
              <a:rPr lang="en-US" sz="900" dirty="0">
                <a:solidFill>
                  <a:srgbClr val="5F5D58"/>
                </a:solidFill>
                <a:latin typeface="Calibri" pitchFamily="34" charset="0"/>
                <a:ea typeface="Calibri" pitchFamily="34" charset="-122"/>
                <a:cs typeface="Calibri" pitchFamily="34" charset="-120"/>
              </a:rPr>
              <a:t>Quellen: [2], [10]–[14] (Nummern wie im Handout)</a:t>
            </a:r>
            <a:endParaRPr lang="en-US" sz="900" dirty="0"/>
          </a:p>
        </p:txBody>
      </p:sp>
      <p:sp>
        <p:nvSpPr>
          <p:cNvPr id="18" name="Text 1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900" dirty="0">
                <a:solidFill>
                  <a:srgbClr val="5F5D5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85800"/>
          </a:xfrm>
          <a:prstGeom prst="rect">
            <a:avLst/>
          </a:prstGeom>
          <a:noFill/>
          <a:ln/>
        </p:spPr>
        <p:txBody>
          <a:bodyPr wrap="square" lIns="0" tIns="0" rIns="0" bIns="0" rtlCol="0" anchor="ctr"/>
          <a:lstStyle/>
          <a:p>
            <a:pPr indent="0" marL="0">
              <a:buNone/>
            </a:pPr>
            <a:r>
              <a:rPr lang="en-US" sz="2600" b="1" dirty="0">
                <a:solidFill>
                  <a:srgbClr val="1E1E1E"/>
                </a:solidFill>
                <a:latin typeface="Cambria" pitchFamily="34" charset="0"/>
                <a:ea typeface="Cambria" pitchFamily="34" charset="-122"/>
                <a:cs typeface="Cambria" pitchFamily="34" charset="-120"/>
              </a:rPr>
              <a:t>Die USA werden zur grössten Industriemacht</a:t>
            </a:r>
            <a:endParaRPr lang="en-US" sz="2600" dirty="0"/>
          </a:p>
        </p:txBody>
      </p:sp>
      <p:graphicFrame>
        <p:nvGraphicFramePr>
          <p:cNvPr id="3" name="Chart 0" descr=""/>
          <p:cNvGraphicFramePr/>
          <p:nvPr/>
        </p:nvGraphicFramePr>
        <p:xfrm>
          <a:off x="365760" y="1097280"/>
          <a:ext cx="5577840" cy="35204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309360" y="1280160"/>
            <a:ext cx="2377440" cy="365760"/>
          </a:xfrm>
          <a:prstGeom prst="rect">
            <a:avLst/>
          </a:prstGeom>
          <a:noFill/>
          <a:ln/>
        </p:spPr>
        <p:txBody>
          <a:bodyPr wrap="square" lIns="0" tIns="0" rIns="0" bIns="0" rtlCol="0" anchor="ctr"/>
          <a:lstStyle/>
          <a:p>
            <a:pPr indent="0" marL="0">
              <a:buNone/>
            </a:pPr>
            <a:r>
              <a:rPr lang="en-US" sz="1400" dirty="0">
                <a:solidFill>
                  <a:srgbClr val="5F5D58"/>
                </a:solidFill>
                <a:latin typeface="Calibri" pitchFamily="34" charset="0"/>
                <a:ea typeface="Calibri" pitchFamily="34" charset="-122"/>
                <a:cs typeface="Calibri" pitchFamily="34" charset="-120"/>
              </a:rPr>
              <a:t>1913 – zwei Jahrzehnte nach dem Stromkrieg</a:t>
            </a:r>
            <a:endParaRPr lang="en-US" sz="1400" dirty="0"/>
          </a:p>
        </p:txBody>
      </p:sp>
      <p:sp>
        <p:nvSpPr>
          <p:cNvPr id="5" name="Text 2"/>
          <p:cNvSpPr txBox="1"/>
          <p:nvPr/>
        </p:nvSpPr>
        <p:spPr>
          <a:xfrm>
            <a:off x="6309360" y="1645920"/>
            <a:ext cx="2377440" cy="868680"/>
          </a:xfrm>
          <a:prstGeom prst="rect">
            <a:avLst/>
          </a:prstGeom>
          <a:noFill/>
          <a:ln/>
        </p:spPr>
        <p:txBody>
          <a:bodyPr wrap="square" lIns="0" tIns="0" rIns="0" bIns="0" rtlCol="0" anchor="ctr"/>
          <a:lstStyle/>
          <a:p>
            <a:pPr indent="0" marL="0">
              <a:buNone/>
            </a:pPr>
            <a:r>
              <a:rPr lang="en-US" sz="5400" b="1" dirty="0">
                <a:solidFill>
                  <a:srgbClr val="0E7C9E"/>
                </a:solidFill>
                <a:latin typeface="Cambria" pitchFamily="34" charset="0"/>
                <a:ea typeface="Cambria" pitchFamily="34" charset="-122"/>
                <a:cs typeface="Cambria" pitchFamily="34" charset="-120"/>
              </a:rPr>
              <a:t>32 %</a:t>
            </a:r>
            <a:endParaRPr lang="en-US" sz="5400" dirty="0"/>
          </a:p>
        </p:txBody>
      </p:sp>
      <p:sp>
        <p:nvSpPr>
          <p:cNvPr id="6" name="Text 3"/>
          <p:cNvSpPr txBox="1"/>
          <p:nvPr/>
        </p:nvSpPr>
        <p:spPr>
          <a:xfrm>
            <a:off x="6309360" y="2560320"/>
            <a:ext cx="2377440" cy="1280160"/>
          </a:xfrm>
          <a:prstGeom prst="rect">
            <a:avLst/>
          </a:prstGeom>
          <a:noFill/>
          <a:ln/>
        </p:spPr>
        <p:txBody>
          <a:bodyPr wrap="square" lIns="0" tIns="0" rIns="0" bIns="0" rtlCol="0" anchor="t"/>
          <a:lstStyle/>
          <a:p>
            <a:pPr indent="0" marL="0">
              <a:buNone/>
            </a:pPr>
            <a:r>
              <a:rPr lang="en-US" sz="1400" dirty="0">
                <a:solidFill>
                  <a:srgbClr val="1E1E1E"/>
                </a:solidFill>
                <a:latin typeface="Calibri" pitchFamily="34" charset="0"/>
                <a:ea typeface="Calibri" pitchFamily="34" charset="-122"/>
                <a:cs typeface="Calibri" pitchFamily="34" charset="-120"/>
              </a:rPr>
              <a:t>der Weltindustrieproduktion stammen aus den USA – mehr als aus Grossbritannien und Deutschland zusammen (28,4 %).</a:t>
            </a:r>
            <a:endParaRPr lang="en-US" sz="1400" dirty="0"/>
          </a:p>
        </p:txBody>
      </p:sp>
      <p:sp>
        <p:nvSpPr>
          <p:cNvPr id="7" name="Text 4"/>
          <p:cNvSpPr txBox="1"/>
          <p:nvPr/>
        </p:nvSpPr>
        <p:spPr>
          <a:xfrm>
            <a:off x="6309360" y="4023360"/>
            <a:ext cx="2377440" cy="457200"/>
          </a:xfrm>
          <a:prstGeom prst="rect">
            <a:avLst/>
          </a:prstGeom>
          <a:noFill/>
          <a:ln/>
        </p:spPr>
        <p:txBody>
          <a:bodyPr wrap="square" lIns="0" tIns="0" rIns="0" bIns="0" rtlCol="0" anchor="ctr"/>
          <a:lstStyle/>
          <a:p>
            <a:pPr indent="0" marL="0">
              <a:buNone/>
            </a:pPr>
            <a:r>
              <a:rPr lang="en-US" sz="1000" i="1" dirty="0">
                <a:solidFill>
                  <a:srgbClr val="5F5D58"/>
                </a:solidFill>
                <a:latin typeface="Calibri" pitchFamily="34" charset="0"/>
                <a:ea typeface="Calibri" pitchFamily="34" charset="-122"/>
                <a:cs typeface="Calibri" pitchFamily="34" charset="-120"/>
              </a:rPr>
              <a:t>Stichjahre; Abstände auf der Zeitachse nicht massstäblich.</a:t>
            </a:r>
            <a:endParaRPr lang="en-US" sz="1000" dirty="0"/>
          </a:p>
        </p:txBody>
      </p:sp>
      <p:sp>
        <p:nvSpPr>
          <p:cNvPr id="8" name="Text 5"/>
          <p:cNvSpPr txBox="1"/>
          <p:nvPr/>
        </p:nvSpPr>
        <p:spPr>
          <a:xfrm>
            <a:off x="457200" y="4754880"/>
            <a:ext cx="6583680" cy="228600"/>
          </a:xfrm>
          <a:prstGeom prst="rect">
            <a:avLst/>
          </a:prstGeom>
          <a:noFill/>
          <a:ln/>
        </p:spPr>
        <p:txBody>
          <a:bodyPr wrap="square" lIns="0" tIns="0" rIns="0" bIns="0" rtlCol="0" anchor="ctr"/>
          <a:lstStyle/>
          <a:p>
            <a:pPr indent="0" marL="0">
              <a:buNone/>
            </a:pPr>
            <a:r>
              <a:rPr lang="en-US" sz="900" dirty="0">
                <a:solidFill>
                  <a:srgbClr val="5F5D58"/>
                </a:solidFill>
                <a:latin typeface="Calibri" pitchFamily="34" charset="0"/>
                <a:ea typeface="Calibri" pitchFamily="34" charset="-122"/>
                <a:cs typeface="Calibri" pitchFamily="34" charset="-120"/>
              </a:rPr>
              <a:t>Quellen: [17], [18] (Nummern wie im Handout)</a:t>
            </a:r>
            <a:endParaRPr lang="en-US" sz="900" dirty="0"/>
          </a:p>
        </p:txBody>
      </p:sp>
      <p:sp>
        <p:nvSpPr>
          <p:cNvPr id="9" name="Text 6"/>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900" dirty="0">
                <a:solidFill>
                  <a:srgbClr val="5F5D5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85800"/>
          </a:xfrm>
          <a:prstGeom prst="rect">
            <a:avLst/>
          </a:prstGeom>
          <a:noFill/>
          <a:ln/>
        </p:spPr>
        <p:txBody>
          <a:bodyPr wrap="square" lIns="0" tIns="0" rIns="0" bIns="0" rtlCol="0" anchor="ctr"/>
          <a:lstStyle/>
          <a:p>
            <a:pPr indent="0" marL="0">
              <a:buNone/>
            </a:pPr>
            <a:r>
              <a:rPr lang="en-US" sz="2600" b="1" dirty="0">
                <a:solidFill>
                  <a:srgbClr val="1E1E1E"/>
                </a:solidFill>
                <a:latin typeface="Cambria" pitchFamily="34" charset="0"/>
                <a:ea typeface="Cambria" pitchFamily="34" charset="-122"/>
                <a:cs typeface="Cambria" pitchFamily="34" charset="-120"/>
              </a:rPr>
              <a:t>Strom baut die Fabrik und den Grosskonzern um</a:t>
            </a:r>
            <a:endParaRPr lang="en-US" sz="2600" dirty="0"/>
          </a:p>
        </p:txBody>
      </p:sp>
      <p:sp>
        <p:nvSpPr>
          <p:cNvPr id="3" name="Shape 1"/>
          <p:cNvSpPr/>
          <p:nvPr/>
        </p:nvSpPr>
        <p:spPr>
          <a:xfrm>
            <a:off x="457200" y="1188720"/>
            <a:ext cx="2606040" cy="3291840"/>
          </a:xfrm>
          <a:prstGeom prst="rect">
            <a:avLst/>
          </a:prstGeom>
          <a:solidFill>
            <a:srgbClr val="F3F5F6"/>
          </a:solidFill>
          <a:ln w="12700">
            <a:solidFill>
              <a:srgbClr val="F3F5F6"/>
            </a:solidFill>
            <a:prstDash val="solid"/>
          </a:ln>
        </p:spPr>
      </p:sp>
      <p:sp>
        <p:nvSpPr>
          <p:cNvPr id="4" name="Shape 2"/>
          <p:cNvSpPr/>
          <p:nvPr/>
        </p:nvSpPr>
        <p:spPr>
          <a:xfrm>
            <a:off x="685800" y="1371600"/>
            <a:ext cx="502920" cy="502920"/>
          </a:xfrm>
          <a:prstGeom prst="ellipse">
            <a:avLst/>
          </a:prstGeom>
          <a:solidFill>
            <a:srgbClr val="0E7C9E"/>
          </a:solidFill>
          <a:ln w="12700">
            <a:solidFill>
              <a:srgbClr val="0E7C9E"/>
            </a:solidFill>
            <a:prstDash val="solid"/>
          </a:ln>
        </p:spPr>
      </p:sp>
      <p:pic>
        <p:nvPicPr>
          <p:cNvPr id="5" name="Image 0" descr="preencoded.png">    </p:cNvPr>
          <p:cNvPicPr>
            <a:picLocks noChangeAspect="1"/>
          </p:cNvPicPr>
          <p:nvPr/>
        </p:nvPicPr>
        <p:blipFill>
          <a:blip r:embed="rId1"/>
          <a:stretch>
            <a:fillRect/>
          </a:stretch>
        </p:blipFill>
        <p:spPr>
          <a:xfrm>
            <a:off x="811530" y="1497330"/>
            <a:ext cx="251460" cy="251460"/>
          </a:xfrm>
          <a:prstGeom prst="rect">
            <a:avLst/>
          </a:prstGeom>
        </p:spPr>
      </p:pic>
      <p:sp>
        <p:nvSpPr>
          <p:cNvPr id="6" name="Text 3"/>
          <p:cNvSpPr txBox="1"/>
          <p:nvPr/>
        </p:nvSpPr>
        <p:spPr>
          <a:xfrm>
            <a:off x="685800" y="2011680"/>
            <a:ext cx="2240280" cy="685800"/>
          </a:xfrm>
          <a:prstGeom prst="rect">
            <a:avLst/>
          </a:prstGeom>
          <a:noFill/>
          <a:ln/>
        </p:spPr>
        <p:txBody>
          <a:bodyPr wrap="square" lIns="0" tIns="0" rIns="0" bIns="0" rtlCol="0" anchor="ctr"/>
          <a:lstStyle/>
          <a:p>
            <a:pPr indent="0" marL="0">
              <a:buNone/>
            </a:pPr>
            <a:r>
              <a:rPr lang="en-US" sz="2600" b="1" dirty="0">
                <a:solidFill>
                  <a:srgbClr val="0E7C9E"/>
                </a:solidFill>
                <a:latin typeface="Cambria" pitchFamily="34" charset="0"/>
                <a:ea typeface="Cambria" pitchFamily="34" charset="-122"/>
                <a:cs typeface="Cambria" pitchFamily="34" charset="-120"/>
              </a:rPr>
              <a:t>5 % → 78 %</a:t>
            </a:r>
            <a:endParaRPr lang="en-US" sz="2600" dirty="0"/>
          </a:p>
        </p:txBody>
      </p:sp>
      <p:sp>
        <p:nvSpPr>
          <p:cNvPr id="7" name="Text 4"/>
          <p:cNvSpPr txBox="1"/>
          <p:nvPr/>
        </p:nvSpPr>
        <p:spPr>
          <a:xfrm>
            <a:off x="685800" y="2743200"/>
            <a:ext cx="2240280" cy="1325880"/>
          </a:xfrm>
          <a:prstGeom prst="rect">
            <a:avLst/>
          </a:prstGeom>
          <a:noFill/>
          <a:ln/>
        </p:spPr>
        <p:txBody>
          <a:bodyPr wrap="square" lIns="0" tIns="0" rIns="0" bIns="0" rtlCol="0" anchor="t"/>
          <a:lstStyle/>
          <a:p>
            <a:pPr indent="0" marL="0">
              <a:buNone/>
            </a:pPr>
            <a:r>
              <a:rPr lang="en-US" sz="1300" dirty="0">
                <a:solidFill>
                  <a:srgbClr val="1E1E1E"/>
                </a:solidFill>
                <a:latin typeface="Calibri" pitchFamily="34" charset="0"/>
                <a:ea typeface="Calibri" pitchFamily="34" charset="-122"/>
                <a:cs typeface="Calibri" pitchFamily="34" charset="-120"/>
              </a:rPr>
              <a:t>Anteil der Elektromotoren an der Antriebsleistung der US-Industrie, 1899 → 1929</a:t>
            </a:r>
            <a:endParaRPr lang="en-US" sz="1300" dirty="0"/>
          </a:p>
        </p:txBody>
      </p:sp>
      <p:sp>
        <p:nvSpPr>
          <p:cNvPr id="8" name="Text 5"/>
          <p:cNvSpPr txBox="1"/>
          <p:nvPr/>
        </p:nvSpPr>
        <p:spPr>
          <a:xfrm>
            <a:off x="685800" y="4114800"/>
            <a:ext cx="2240280" cy="274320"/>
          </a:xfrm>
          <a:prstGeom prst="rect">
            <a:avLst/>
          </a:prstGeom>
          <a:noFill/>
          <a:ln/>
        </p:spPr>
        <p:txBody>
          <a:bodyPr wrap="square" lIns="0" tIns="0" rIns="0" bIns="0" rtlCol="0" anchor="ctr"/>
          <a:lstStyle/>
          <a:p>
            <a:pPr indent="0" marL="0">
              <a:buNone/>
            </a:pPr>
            <a:r>
              <a:rPr lang="en-US" sz="1000" dirty="0">
                <a:solidFill>
                  <a:srgbClr val="5F5D58"/>
                </a:solidFill>
                <a:latin typeface="Calibri" pitchFamily="34" charset="0"/>
                <a:ea typeface="Calibri" pitchFamily="34" charset="-122"/>
                <a:cs typeface="Calibri" pitchFamily="34" charset="-120"/>
              </a:rPr>
              <a:t>[19]</a:t>
            </a:r>
            <a:endParaRPr lang="en-US" sz="1000" dirty="0"/>
          </a:p>
        </p:txBody>
      </p:sp>
      <p:sp>
        <p:nvSpPr>
          <p:cNvPr id="9" name="Shape 6"/>
          <p:cNvSpPr/>
          <p:nvPr/>
        </p:nvSpPr>
        <p:spPr>
          <a:xfrm>
            <a:off x="3246120" y="1188720"/>
            <a:ext cx="2606040" cy="3291840"/>
          </a:xfrm>
          <a:prstGeom prst="rect">
            <a:avLst/>
          </a:prstGeom>
          <a:solidFill>
            <a:srgbClr val="F3F5F6"/>
          </a:solidFill>
          <a:ln w="12700">
            <a:solidFill>
              <a:srgbClr val="F3F5F6"/>
            </a:solidFill>
            <a:prstDash val="solid"/>
          </a:ln>
        </p:spPr>
      </p:sp>
      <p:sp>
        <p:nvSpPr>
          <p:cNvPr id="10" name="Shape 7"/>
          <p:cNvSpPr/>
          <p:nvPr/>
        </p:nvSpPr>
        <p:spPr>
          <a:xfrm>
            <a:off x="3474720" y="1371600"/>
            <a:ext cx="502920" cy="502920"/>
          </a:xfrm>
          <a:prstGeom prst="ellipse">
            <a:avLst/>
          </a:prstGeom>
          <a:solidFill>
            <a:srgbClr val="0E7C9E"/>
          </a:solidFill>
          <a:ln w="12700">
            <a:solidFill>
              <a:srgbClr val="0E7C9E"/>
            </a:solidFill>
            <a:prstDash val="solid"/>
          </a:ln>
        </p:spPr>
      </p:sp>
      <p:pic>
        <p:nvPicPr>
          <p:cNvPr id="11" name="Image 1" descr="preencoded.png">    </p:cNvPr>
          <p:cNvPicPr>
            <a:picLocks noChangeAspect="1"/>
          </p:cNvPicPr>
          <p:nvPr/>
        </p:nvPicPr>
        <p:blipFill>
          <a:blip r:embed="rId2"/>
          <a:stretch>
            <a:fillRect/>
          </a:stretch>
        </p:blipFill>
        <p:spPr>
          <a:xfrm>
            <a:off x="3600450" y="1497330"/>
            <a:ext cx="251460" cy="251460"/>
          </a:xfrm>
          <a:prstGeom prst="rect">
            <a:avLst/>
          </a:prstGeom>
        </p:spPr>
      </p:pic>
      <p:sp>
        <p:nvSpPr>
          <p:cNvPr id="12" name="Text 8"/>
          <p:cNvSpPr txBox="1"/>
          <p:nvPr/>
        </p:nvSpPr>
        <p:spPr>
          <a:xfrm>
            <a:off x="3474720" y="2011680"/>
            <a:ext cx="2240280" cy="685800"/>
          </a:xfrm>
          <a:prstGeom prst="rect">
            <a:avLst/>
          </a:prstGeom>
          <a:noFill/>
          <a:ln/>
        </p:spPr>
        <p:txBody>
          <a:bodyPr wrap="square" lIns="0" tIns="0" rIns="0" bIns="0" rtlCol="0" anchor="ctr"/>
          <a:lstStyle/>
          <a:p>
            <a:pPr indent="0" marL="0">
              <a:buNone/>
            </a:pPr>
            <a:r>
              <a:rPr lang="en-US" sz="2600" b="1" dirty="0">
                <a:solidFill>
                  <a:srgbClr val="0E7C9E"/>
                </a:solidFill>
                <a:latin typeface="Cambria" pitchFamily="34" charset="0"/>
                <a:ea typeface="Cambria" pitchFamily="34" charset="-122"/>
                <a:cs typeface="Cambria" pitchFamily="34" charset="-120"/>
              </a:rPr>
              <a:t>1,3 % → 3,1 %</a:t>
            </a:r>
            <a:endParaRPr lang="en-US" sz="2600" dirty="0"/>
          </a:p>
        </p:txBody>
      </p:sp>
      <p:sp>
        <p:nvSpPr>
          <p:cNvPr id="13" name="Text 9"/>
          <p:cNvSpPr txBox="1"/>
          <p:nvPr/>
        </p:nvSpPr>
        <p:spPr>
          <a:xfrm>
            <a:off x="3474720" y="2743200"/>
            <a:ext cx="2240280" cy="1325880"/>
          </a:xfrm>
          <a:prstGeom prst="rect">
            <a:avLst/>
          </a:prstGeom>
          <a:noFill/>
          <a:ln/>
        </p:spPr>
        <p:txBody>
          <a:bodyPr wrap="square" lIns="0" tIns="0" rIns="0" bIns="0" rtlCol="0" anchor="t"/>
          <a:lstStyle/>
          <a:p>
            <a:pPr indent="0" marL="0">
              <a:buNone/>
            </a:pPr>
            <a:r>
              <a:rPr lang="en-US" sz="1300" dirty="0">
                <a:solidFill>
                  <a:srgbClr val="1E1E1E"/>
                </a:solidFill>
                <a:latin typeface="Calibri" pitchFamily="34" charset="0"/>
                <a:ea typeface="Calibri" pitchFamily="34" charset="-122"/>
                <a:cs typeface="Calibri" pitchFamily="34" charset="-120"/>
              </a:rPr>
              <a:t>Wachstum des Outputs pro Arbeitsstunde pro Jahr, vor → nach 1919 – sobald die Fabriken um den Motor herum neu organisiert waren</a:t>
            </a:r>
            <a:endParaRPr lang="en-US" sz="1300" dirty="0"/>
          </a:p>
        </p:txBody>
      </p:sp>
      <p:sp>
        <p:nvSpPr>
          <p:cNvPr id="14" name="Text 10"/>
          <p:cNvSpPr txBox="1"/>
          <p:nvPr/>
        </p:nvSpPr>
        <p:spPr>
          <a:xfrm>
            <a:off x="3474720" y="4114800"/>
            <a:ext cx="2240280" cy="274320"/>
          </a:xfrm>
          <a:prstGeom prst="rect">
            <a:avLst/>
          </a:prstGeom>
          <a:noFill/>
          <a:ln/>
        </p:spPr>
        <p:txBody>
          <a:bodyPr wrap="square" lIns="0" tIns="0" rIns="0" bIns="0" rtlCol="0" anchor="ctr"/>
          <a:lstStyle/>
          <a:p>
            <a:pPr indent="0" marL="0">
              <a:buNone/>
            </a:pPr>
            <a:r>
              <a:rPr lang="en-US" sz="1000" dirty="0">
                <a:solidFill>
                  <a:srgbClr val="5F5D58"/>
                </a:solidFill>
                <a:latin typeface="Calibri" pitchFamily="34" charset="0"/>
                <a:ea typeface="Calibri" pitchFamily="34" charset="-122"/>
                <a:cs typeface="Calibri" pitchFamily="34" charset="-120"/>
              </a:rPr>
              <a:t>[20]</a:t>
            </a:r>
            <a:endParaRPr lang="en-US" sz="1000" dirty="0"/>
          </a:p>
        </p:txBody>
      </p:sp>
      <p:sp>
        <p:nvSpPr>
          <p:cNvPr id="15" name="Shape 11"/>
          <p:cNvSpPr/>
          <p:nvPr/>
        </p:nvSpPr>
        <p:spPr>
          <a:xfrm>
            <a:off x="6035040" y="1188720"/>
            <a:ext cx="2606040" cy="3291840"/>
          </a:xfrm>
          <a:prstGeom prst="rect">
            <a:avLst/>
          </a:prstGeom>
          <a:solidFill>
            <a:srgbClr val="F3F5F6"/>
          </a:solidFill>
          <a:ln w="12700">
            <a:solidFill>
              <a:srgbClr val="F3F5F6"/>
            </a:solidFill>
            <a:prstDash val="solid"/>
          </a:ln>
        </p:spPr>
      </p:sp>
      <p:sp>
        <p:nvSpPr>
          <p:cNvPr id="16" name="Shape 12"/>
          <p:cNvSpPr/>
          <p:nvPr/>
        </p:nvSpPr>
        <p:spPr>
          <a:xfrm>
            <a:off x="6263640" y="1371600"/>
            <a:ext cx="502920" cy="502920"/>
          </a:xfrm>
          <a:prstGeom prst="ellipse">
            <a:avLst/>
          </a:prstGeom>
          <a:solidFill>
            <a:srgbClr val="0E7C9E"/>
          </a:solidFill>
          <a:ln w="12700">
            <a:solidFill>
              <a:srgbClr val="0E7C9E"/>
            </a:solidFill>
            <a:prstDash val="solid"/>
          </a:ln>
        </p:spPr>
      </p:sp>
      <p:pic>
        <p:nvPicPr>
          <p:cNvPr id="17" name="Image 2" descr="preencoded.png">    </p:cNvPr>
          <p:cNvPicPr>
            <a:picLocks noChangeAspect="1"/>
          </p:cNvPicPr>
          <p:nvPr/>
        </p:nvPicPr>
        <p:blipFill>
          <a:blip r:embed="rId3"/>
          <a:stretch>
            <a:fillRect/>
          </a:stretch>
        </p:blipFill>
        <p:spPr>
          <a:xfrm>
            <a:off x="6389370" y="1497330"/>
            <a:ext cx="251460" cy="251460"/>
          </a:xfrm>
          <a:prstGeom prst="rect">
            <a:avLst/>
          </a:prstGeom>
        </p:spPr>
      </p:pic>
      <p:sp>
        <p:nvSpPr>
          <p:cNvPr id="18" name="Text 13"/>
          <p:cNvSpPr txBox="1"/>
          <p:nvPr/>
        </p:nvSpPr>
        <p:spPr>
          <a:xfrm>
            <a:off x="6263640" y="2011680"/>
            <a:ext cx="2240280" cy="685800"/>
          </a:xfrm>
          <a:prstGeom prst="rect">
            <a:avLst/>
          </a:prstGeom>
          <a:noFill/>
          <a:ln/>
        </p:spPr>
        <p:txBody>
          <a:bodyPr wrap="square" lIns="0" tIns="0" rIns="0" bIns="0" rtlCol="0" anchor="ctr"/>
          <a:lstStyle/>
          <a:p>
            <a:pPr indent="0" marL="0">
              <a:buNone/>
            </a:pPr>
            <a:r>
              <a:rPr lang="en-US" sz="2600" b="1" dirty="0">
                <a:solidFill>
                  <a:srgbClr val="0E7C9E"/>
                </a:solidFill>
                <a:latin typeface="Cambria" pitchFamily="34" charset="0"/>
                <a:ea typeface="Cambria" pitchFamily="34" charset="-122"/>
                <a:cs typeface="Cambria" pitchFamily="34" charset="-120"/>
              </a:rPr>
              <a:t>1896</a:t>
            </a:r>
            <a:endParaRPr lang="en-US" sz="2600" dirty="0"/>
          </a:p>
        </p:txBody>
      </p:sp>
      <p:sp>
        <p:nvSpPr>
          <p:cNvPr id="19" name="Text 14"/>
          <p:cNvSpPr txBox="1"/>
          <p:nvPr/>
        </p:nvSpPr>
        <p:spPr>
          <a:xfrm>
            <a:off x="6263640" y="2743200"/>
            <a:ext cx="2240280" cy="1325880"/>
          </a:xfrm>
          <a:prstGeom prst="rect">
            <a:avLst/>
          </a:prstGeom>
          <a:noFill/>
          <a:ln/>
        </p:spPr>
        <p:txBody>
          <a:bodyPr wrap="square" lIns="0" tIns="0" rIns="0" bIns="0" rtlCol="0" anchor="t"/>
          <a:lstStyle/>
          <a:p>
            <a:pPr indent="0" marL="0">
              <a:buNone/>
            </a:pPr>
            <a:r>
              <a:rPr lang="en-US" sz="1300" dirty="0">
                <a:solidFill>
                  <a:srgbClr val="1E1E1E"/>
                </a:solidFill>
                <a:latin typeface="Calibri" pitchFamily="34" charset="0"/>
                <a:ea typeface="Calibri" pitchFamily="34" charset="-122"/>
                <a:cs typeface="Calibri" pitchFamily="34" charset="-120"/>
              </a:rPr>
              <a:t>GE gehört zu den zwölf ersten Werten des Dow Jones; mit Westinghouse bildet es ein Duopol mit Patentpool</a:t>
            </a:r>
            <a:endParaRPr lang="en-US" sz="1300" dirty="0"/>
          </a:p>
        </p:txBody>
      </p:sp>
      <p:sp>
        <p:nvSpPr>
          <p:cNvPr id="20" name="Text 15"/>
          <p:cNvSpPr txBox="1"/>
          <p:nvPr/>
        </p:nvSpPr>
        <p:spPr>
          <a:xfrm>
            <a:off x="6263640" y="4114800"/>
            <a:ext cx="2240280" cy="274320"/>
          </a:xfrm>
          <a:prstGeom prst="rect">
            <a:avLst/>
          </a:prstGeom>
          <a:noFill/>
          <a:ln/>
        </p:spPr>
        <p:txBody>
          <a:bodyPr wrap="square" lIns="0" tIns="0" rIns="0" bIns="0" rtlCol="0" anchor="ctr"/>
          <a:lstStyle/>
          <a:p>
            <a:pPr indent="0" marL="0">
              <a:buNone/>
            </a:pPr>
            <a:endParaRPr lang="en-US" sz="1000" dirty="0"/>
          </a:p>
        </p:txBody>
      </p:sp>
      <p:sp>
        <p:nvSpPr>
          <p:cNvPr id="21" name="Text 16"/>
          <p:cNvSpPr txBox="1"/>
          <p:nvPr/>
        </p:nvSpPr>
        <p:spPr>
          <a:xfrm>
            <a:off x="457200" y="4754880"/>
            <a:ext cx="6583680" cy="228600"/>
          </a:xfrm>
          <a:prstGeom prst="rect">
            <a:avLst/>
          </a:prstGeom>
          <a:noFill/>
          <a:ln/>
        </p:spPr>
        <p:txBody>
          <a:bodyPr wrap="square" lIns="0" tIns="0" rIns="0" bIns="0" rtlCol="0" anchor="ctr"/>
          <a:lstStyle/>
          <a:p>
            <a:pPr indent="0" marL="0">
              <a:buNone/>
            </a:pPr>
            <a:r>
              <a:rPr lang="en-US" sz="900" dirty="0">
                <a:solidFill>
                  <a:srgbClr val="5F5D58"/>
                </a:solidFill>
                <a:latin typeface="Calibri" pitchFamily="34" charset="0"/>
                <a:ea typeface="Calibri" pitchFamily="34" charset="-122"/>
                <a:cs typeface="Calibri" pitchFamily="34" charset="-120"/>
              </a:rPr>
              <a:t>Quellen: [19]–[21] (Nummern wie im Handout)</a:t>
            </a:r>
            <a:endParaRPr lang="en-US" sz="900" dirty="0"/>
          </a:p>
        </p:txBody>
      </p:sp>
      <p:sp>
        <p:nvSpPr>
          <p:cNvPr id="22" name="Text 17"/>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900" dirty="0">
                <a:solidFill>
                  <a:srgbClr val="5F5D5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85800"/>
          </a:xfrm>
          <a:prstGeom prst="rect">
            <a:avLst/>
          </a:prstGeom>
          <a:noFill/>
          <a:ln/>
        </p:spPr>
        <p:txBody>
          <a:bodyPr wrap="square" lIns="0" tIns="0" rIns="0" bIns="0" rtlCol="0" anchor="ctr"/>
          <a:lstStyle/>
          <a:p>
            <a:pPr indent="0" marL="0">
              <a:buNone/>
            </a:pPr>
            <a:r>
              <a:rPr lang="en-US" sz="2600" b="1" dirty="0">
                <a:solidFill>
                  <a:srgbClr val="1E1E1E"/>
                </a:solidFill>
                <a:latin typeface="Cambria" pitchFamily="34" charset="0"/>
                <a:ea typeface="Cambria" pitchFamily="34" charset="-122"/>
                <a:cs typeface="Cambria" pitchFamily="34" charset="-120"/>
              </a:rPr>
              <a:t>Drei Mythen – und was die Quellen sagen</a:t>
            </a:r>
            <a:endParaRPr lang="en-US" sz="2600" dirty="0"/>
          </a:p>
        </p:txBody>
      </p:sp>
      <p:sp>
        <p:nvSpPr>
          <p:cNvPr id="3" name="Text 1"/>
          <p:cNvSpPr txBox="1"/>
          <p:nvPr/>
        </p:nvSpPr>
        <p:spPr>
          <a:xfrm>
            <a:off x="1005840" y="1097280"/>
            <a:ext cx="3291840" cy="320040"/>
          </a:xfrm>
          <a:prstGeom prst="rect">
            <a:avLst/>
          </a:prstGeom>
          <a:noFill/>
          <a:ln/>
        </p:spPr>
        <p:txBody>
          <a:bodyPr wrap="square" lIns="0" tIns="0" rIns="0" bIns="0" rtlCol="0" anchor="ctr"/>
          <a:lstStyle/>
          <a:p>
            <a:pPr indent="0" marL="0">
              <a:buNone/>
            </a:pPr>
            <a:r>
              <a:rPr lang="en-US" sz="1300" b="1" dirty="0">
                <a:solidFill>
                  <a:srgbClr val="C8641E"/>
                </a:solidFill>
                <a:latin typeface="Calibri" pitchFamily="34" charset="0"/>
                <a:ea typeface="Calibri" pitchFamily="34" charset="-122"/>
                <a:cs typeface="Calibri" pitchFamily="34" charset="-120"/>
              </a:rPr>
              <a:t>Mythos</a:t>
            </a:r>
            <a:endParaRPr lang="en-US" sz="1300" dirty="0"/>
          </a:p>
        </p:txBody>
      </p:sp>
      <p:sp>
        <p:nvSpPr>
          <p:cNvPr id="4" name="Text 2"/>
          <p:cNvSpPr txBox="1"/>
          <p:nvPr/>
        </p:nvSpPr>
        <p:spPr>
          <a:xfrm>
            <a:off x="5303520" y="1097280"/>
            <a:ext cx="3383280" cy="320040"/>
          </a:xfrm>
          <a:prstGeom prst="rect">
            <a:avLst/>
          </a:prstGeom>
          <a:noFill/>
          <a:ln/>
        </p:spPr>
        <p:txBody>
          <a:bodyPr wrap="square" lIns="0" tIns="0" rIns="0" bIns="0" rtlCol="0" anchor="ctr"/>
          <a:lstStyle/>
          <a:p>
            <a:pPr indent="0" marL="0">
              <a:buNone/>
            </a:pPr>
            <a:r>
              <a:rPr lang="en-US" sz="1300" b="1" dirty="0">
                <a:solidFill>
                  <a:srgbClr val="0E7C9E"/>
                </a:solidFill>
                <a:latin typeface="Calibri" pitchFamily="34" charset="0"/>
                <a:ea typeface="Calibri" pitchFamily="34" charset="-122"/>
                <a:cs typeface="Calibri" pitchFamily="34" charset="-120"/>
              </a:rPr>
              <a:t>Befund</a:t>
            </a:r>
            <a:endParaRPr lang="en-US" sz="1300" dirty="0"/>
          </a:p>
        </p:txBody>
      </p:sp>
      <p:sp>
        <p:nvSpPr>
          <p:cNvPr id="5" name="Shape 3"/>
          <p:cNvSpPr/>
          <p:nvPr/>
        </p:nvSpPr>
        <p:spPr>
          <a:xfrm>
            <a:off x="457200" y="1463040"/>
            <a:ext cx="8229600" cy="960120"/>
          </a:xfrm>
          <a:prstGeom prst="rect">
            <a:avLst/>
          </a:prstGeom>
          <a:solidFill>
            <a:srgbClr val="F3F5F6"/>
          </a:solidFill>
          <a:ln w="12700">
            <a:solidFill>
              <a:srgbClr val="F3F5F6"/>
            </a:solidFill>
            <a:prstDash val="solid"/>
          </a:ln>
        </p:spPr>
      </p:sp>
      <p:sp>
        <p:nvSpPr>
          <p:cNvPr id="6" name="Shape 4"/>
          <p:cNvSpPr/>
          <p:nvPr/>
        </p:nvSpPr>
        <p:spPr>
          <a:xfrm>
            <a:off x="566928" y="1737360"/>
            <a:ext cx="384048" cy="384048"/>
          </a:xfrm>
          <a:prstGeom prst="ellipse">
            <a:avLst/>
          </a:prstGeom>
          <a:solidFill>
            <a:srgbClr val="C8641E"/>
          </a:solidFill>
          <a:ln w="12700">
            <a:solidFill>
              <a:srgbClr val="C8641E"/>
            </a:solidFill>
            <a:prstDash val="solid"/>
          </a:ln>
        </p:spPr>
      </p:sp>
      <p:pic>
        <p:nvPicPr>
          <p:cNvPr id="7" name="Image 0" descr="preencoded.png">    </p:cNvPr>
          <p:cNvPicPr>
            <a:picLocks noChangeAspect="1"/>
          </p:cNvPicPr>
          <p:nvPr/>
        </p:nvPicPr>
        <p:blipFill>
          <a:blip r:embed="rId1"/>
          <a:stretch>
            <a:fillRect/>
          </a:stretch>
        </p:blipFill>
        <p:spPr>
          <a:xfrm>
            <a:off x="662940" y="1833372"/>
            <a:ext cx="192024" cy="192024"/>
          </a:xfrm>
          <a:prstGeom prst="rect">
            <a:avLst/>
          </a:prstGeom>
        </p:spPr>
      </p:pic>
      <p:sp>
        <p:nvSpPr>
          <p:cNvPr id="8" name="Text 5"/>
          <p:cNvSpPr txBox="1"/>
          <p:nvPr/>
        </p:nvSpPr>
        <p:spPr>
          <a:xfrm>
            <a:off x="1005840" y="1463040"/>
            <a:ext cx="3429000" cy="960120"/>
          </a:xfrm>
          <a:prstGeom prst="rect">
            <a:avLst/>
          </a:prstGeom>
          <a:noFill/>
          <a:ln/>
        </p:spPr>
        <p:txBody>
          <a:bodyPr wrap="square" lIns="0" tIns="0" rIns="0" bIns="0" rtlCol="0" anchor="ctr"/>
          <a:lstStyle/>
          <a:p>
            <a:pPr indent="0" marL="0">
              <a:buNone/>
            </a:pPr>
            <a:r>
              <a:rPr lang="en-US" sz="1300" dirty="0">
                <a:solidFill>
                  <a:srgbClr val="1E1E1E"/>
                </a:solidFill>
                <a:latin typeface="Calibri" pitchFamily="34" charset="0"/>
                <a:ea typeface="Calibri" pitchFamily="34" charset="-122"/>
                <a:cs typeface="Calibri" pitchFamily="34" charset="-120"/>
              </a:rPr>
              <a:t>Edison liess 1903 den Elefanten Topsy töten, um Wechselstrom zu diskreditieren (so etwa ABB).</a:t>
            </a:r>
            <a:endParaRPr lang="en-US" sz="1300" dirty="0"/>
          </a:p>
        </p:txBody>
      </p:sp>
      <p:sp>
        <p:nvSpPr>
          <p:cNvPr id="9" name="Shape 6"/>
          <p:cNvSpPr/>
          <p:nvPr/>
        </p:nvSpPr>
        <p:spPr>
          <a:xfrm>
            <a:off x="4526280" y="1828800"/>
            <a:ext cx="274320" cy="228600"/>
          </a:xfrm>
          <a:prstGeom prst="rightArrow">
            <a:avLst/>
          </a:prstGeom>
          <a:solidFill>
            <a:srgbClr val="C9D3D8"/>
          </a:solidFill>
          <a:ln w="12700">
            <a:solidFill>
              <a:srgbClr val="C9D3D8"/>
            </a:solidFill>
            <a:prstDash val="solid"/>
          </a:ln>
        </p:spPr>
      </p:sp>
      <p:sp>
        <p:nvSpPr>
          <p:cNvPr id="10" name="Shape 7"/>
          <p:cNvSpPr/>
          <p:nvPr/>
        </p:nvSpPr>
        <p:spPr>
          <a:xfrm>
            <a:off x="4864608" y="1737360"/>
            <a:ext cx="384048" cy="384048"/>
          </a:xfrm>
          <a:prstGeom prst="ellipse">
            <a:avLst/>
          </a:prstGeom>
          <a:solidFill>
            <a:srgbClr val="0E7C9E"/>
          </a:solidFill>
          <a:ln w="12700">
            <a:solidFill>
              <a:srgbClr val="0E7C9E"/>
            </a:solidFill>
            <a:prstDash val="solid"/>
          </a:ln>
        </p:spPr>
      </p:sp>
      <p:pic>
        <p:nvPicPr>
          <p:cNvPr id="11" name="Image 1" descr="preencoded.png">    </p:cNvPr>
          <p:cNvPicPr>
            <a:picLocks noChangeAspect="1"/>
          </p:cNvPicPr>
          <p:nvPr/>
        </p:nvPicPr>
        <p:blipFill>
          <a:blip r:embed="rId2"/>
          <a:stretch>
            <a:fillRect/>
          </a:stretch>
        </p:blipFill>
        <p:spPr>
          <a:xfrm>
            <a:off x="4960620" y="1833372"/>
            <a:ext cx="192024" cy="192024"/>
          </a:xfrm>
          <a:prstGeom prst="rect">
            <a:avLst/>
          </a:prstGeom>
        </p:spPr>
      </p:pic>
      <p:sp>
        <p:nvSpPr>
          <p:cNvPr id="12" name="Text 8"/>
          <p:cNvSpPr txBox="1"/>
          <p:nvPr/>
        </p:nvSpPr>
        <p:spPr>
          <a:xfrm>
            <a:off x="5349240" y="1463040"/>
            <a:ext cx="3246120" cy="960120"/>
          </a:xfrm>
          <a:prstGeom prst="rect">
            <a:avLst/>
          </a:prstGeom>
          <a:noFill/>
          <a:ln/>
        </p:spPr>
        <p:txBody>
          <a:bodyPr wrap="square" lIns="0" tIns="0" rIns="0" bIns="0" rtlCol="0" anchor="ctr"/>
          <a:lstStyle/>
          <a:p>
            <a:pPr indent="0" marL="0">
              <a:buNone/>
            </a:pPr>
            <a:r>
              <a:rPr lang="en-US" sz="1300" dirty="0">
                <a:solidFill>
                  <a:srgbClr val="1E1E1E"/>
                </a:solidFill>
                <a:latin typeface="Calibri" pitchFamily="34" charset="0"/>
                <a:ea typeface="Calibri" pitchFamily="34" charset="-122"/>
                <a:cs typeface="Calibri" pitchFamily="34" charset="-120"/>
              </a:rPr>
              <a:t>Die Tötung geschah über zehn Jahre nach dem Stromkrieg – ohne Edisons Beteiligung. </a:t>
            </a:r>
            <a:pPr indent="0" marL="0">
              <a:buNone/>
            </a:pPr>
            <a:r>
              <a:rPr lang="en-US" sz="1100" dirty="0">
                <a:solidFill>
                  <a:srgbClr val="5F5D58"/>
                </a:solidFill>
                <a:latin typeface="Calibri" pitchFamily="34" charset="0"/>
                <a:ea typeface="Calibri" pitchFamily="34" charset="-122"/>
                <a:cs typeface="Calibri" pitchFamily="34" charset="-120"/>
              </a:rPr>
              <a:t>[23], [25]</a:t>
            </a:r>
            <a:endParaRPr lang="en-US" sz="1300" dirty="0"/>
          </a:p>
        </p:txBody>
      </p:sp>
      <p:sp>
        <p:nvSpPr>
          <p:cNvPr id="13" name="Shape 9"/>
          <p:cNvSpPr/>
          <p:nvPr/>
        </p:nvSpPr>
        <p:spPr>
          <a:xfrm>
            <a:off x="457200" y="2542032"/>
            <a:ext cx="8229600" cy="960120"/>
          </a:xfrm>
          <a:prstGeom prst="rect">
            <a:avLst/>
          </a:prstGeom>
          <a:solidFill>
            <a:srgbClr val="F3F5F6"/>
          </a:solidFill>
          <a:ln w="12700">
            <a:solidFill>
              <a:srgbClr val="F3F5F6"/>
            </a:solidFill>
            <a:prstDash val="solid"/>
          </a:ln>
        </p:spPr>
      </p:sp>
      <p:sp>
        <p:nvSpPr>
          <p:cNvPr id="14" name="Shape 10"/>
          <p:cNvSpPr/>
          <p:nvPr/>
        </p:nvSpPr>
        <p:spPr>
          <a:xfrm>
            <a:off x="566928" y="2816352"/>
            <a:ext cx="384048" cy="384048"/>
          </a:xfrm>
          <a:prstGeom prst="ellipse">
            <a:avLst/>
          </a:prstGeom>
          <a:solidFill>
            <a:srgbClr val="C8641E"/>
          </a:solidFill>
          <a:ln w="12700">
            <a:solidFill>
              <a:srgbClr val="C8641E"/>
            </a:solidFill>
            <a:prstDash val="solid"/>
          </a:ln>
        </p:spPr>
      </p:sp>
      <p:pic>
        <p:nvPicPr>
          <p:cNvPr id="15" name="Image 2" descr="preencoded.png">    </p:cNvPr>
          <p:cNvPicPr>
            <a:picLocks noChangeAspect="1"/>
          </p:cNvPicPr>
          <p:nvPr/>
        </p:nvPicPr>
        <p:blipFill>
          <a:blip r:embed="rId3"/>
          <a:stretch>
            <a:fillRect/>
          </a:stretch>
        </p:blipFill>
        <p:spPr>
          <a:xfrm>
            <a:off x="662940" y="2912364"/>
            <a:ext cx="192024" cy="192024"/>
          </a:xfrm>
          <a:prstGeom prst="rect">
            <a:avLst/>
          </a:prstGeom>
        </p:spPr>
      </p:pic>
      <p:sp>
        <p:nvSpPr>
          <p:cNvPr id="16" name="Text 11"/>
          <p:cNvSpPr txBox="1"/>
          <p:nvPr/>
        </p:nvSpPr>
        <p:spPr>
          <a:xfrm>
            <a:off x="1005840" y="2542032"/>
            <a:ext cx="3429000" cy="960120"/>
          </a:xfrm>
          <a:prstGeom prst="rect">
            <a:avLst/>
          </a:prstGeom>
          <a:noFill/>
          <a:ln/>
        </p:spPr>
        <p:txBody>
          <a:bodyPr wrap="square" lIns="0" tIns="0" rIns="0" bIns="0" rtlCol="0" anchor="ctr"/>
          <a:lstStyle/>
          <a:p>
            <a:pPr indent="0" marL="0">
              <a:buNone/>
            </a:pPr>
            <a:r>
              <a:rPr lang="en-US" sz="1300" dirty="0">
                <a:solidFill>
                  <a:srgbClr val="1E1E1E"/>
                </a:solidFill>
                <a:latin typeface="Calibri" pitchFamily="34" charset="0"/>
                <a:ea typeface="Calibri" pitchFamily="34" charset="-122"/>
                <a:cs typeface="Calibri" pitchFamily="34" charset="-120"/>
              </a:rPr>
              <a:t>Der Stromkrieg war ein Duell «Tesla gegen Edison» (so etwa der Film The Current War).</a:t>
            </a:r>
            <a:endParaRPr lang="en-US" sz="1300" dirty="0"/>
          </a:p>
        </p:txBody>
      </p:sp>
      <p:sp>
        <p:nvSpPr>
          <p:cNvPr id="17" name="Shape 12"/>
          <p:cNvSpPr/>
          <p:nvPr/>
        </p:nvSpPr>
        <p:spPr>
          <a:xfrm>
            <a:off x="4526280" y="2907792"/>
            <a:ext cx="274320" cy="228600"/>
          </a:xfrm>
          <a:prstGeom prst="rightArrow">
            <a:avLst/>
          </a:prstGeom>
          <a:solidFill>
            <a:srgbClr val="C9D3D8"/>
          </a:solidFill>
          <a:ln w="12700">
            <a:solidFill>
              <a:srgbClr val="C9D3D8"/>
            </a:solidFill>
            <a:prstDash val="solid"/>
          </a:ln>
        </p:spPr>
      </p:sp>
      <p:sp>
        <p:nvSpPr>
          <p:cNvPr id="18" name="Shape 13"/>
          <p:cNvSpPr/>
          <p:nvPr/>
        </p:nvSpPr>
        <p:spPr>
          <a:xfrm>
            <a:off x="4864608" y="2816352"/>
            <a:ext cx="384048" cy="384048"/>
          </a:xfrm>
          <a:prstGeom prst="ellipse">
            <a:avLst/>
          </a:prstGeom>
          <a:solidFill>
            <a:srgbClr val="0E7C9E"/>
          </a:solidFill>
          <a:ln w="12700">
            <a:solidFill>
              <a:srgbClr val="0E7C9E"/>
            </a:solidFill>
            <a:prstDash val="solid"/>
          </a:ln>
        </p:spPr>
      </p:sp>
      <p:pic>
        <p:nvPicPr>
          <p:cNvPr id="19" name="Image 3" descr="preencoded.png">    </p:cNvPr>
          <p:cNvPicPr>
            <a:picLocks noChangeAspect="1"/>
          </p:cNvPicPr>
          <p:nvPr/>
        </p:nvPicPr>
        <p:blipFill>
          <a:blip r:embed="rId4"/>
          <a:stretch>
            <a:fillRect/>
          </a:stretch>
        </p:blipFill>
        <p:spPr>
          <a:xfrm>
            <a:off x="4960620" y="2912364"/>
            <a:ext cx="192024" cy="192024"/>
          </a:xfrm>
          <a:prstGeom prst="rect">
            <a:avLst/>
          </a:prstGeom>
        </p:spPr>
      </p:pic>
      <p:sp>
        <p:nvSpPr>
          <p:cNvPr id="20" name="Text 14"/>
          <p:cNvSpPr txBox="1"/>
          <p:nvPr/>
        </p:nvSpPr>
        <p:spPr>
          <a:xfrm>
            <a:off x="5349240" y="2542032"/>
            <a:ext cx="3246120" cy="960120"/>
          </a:xfrm>
          <a:prstGeom prst="rect">
            <a:avLst/>
          </a:prstGeom>
          <a:noFill/>
          <a:ln/>
        </p:spPr>
        <p:txBody>
          <a:bodyPr wrap="square" lIns="0" tIns="0" rIns="0" bIns="0" rtlCol="0" anchor="ctr"/>
          <a:lstStyle/>
          <a:p>
            <a:pPr indent="0" marL="0">
              <a:buNone/>
            </a:pPr>
            <a:r>
              <a:rPr lang="en-US" sz="1300" dirty="0">
                <a:solidFill>
                  <a:srgbClr val="1E1E1E"/>
                </a:solidFill>
                <a:latin typeface="Calibri" pitchFamily="34" charset="0"/>
                <a:ea typeface="Calibri" pitchFamily="34" charset="-122"/>
                <a:cs typeface="Calibri" pitchFamily="34" charset="-120"/>
              </a:rPr>
              <a:t>Gestritten haben vor allem Unternehmen und ihre Investoren. </a:t>
            </a:r>
            <a:pPr indent="0" marL="0">
              <a:buNone/>
            </a:pPr>
            <a:r>
              <a:rPr lang="en-US" sz="1100" dirty="0">
                <a:solidFill>
                  <a:srgbClr val="5F5D58"/>
                </a:solidFill>
                <a:latin typeface="Calibri" pitchFamily="34" charset="0"/>
                <a:ea typeface="Calibri" pitchFamily="34" charset="-122"/>
                <a:cs typeface="Calibri" pitchFamily="34" charset="-120"/>
              </a:rPr>
              <a:t>[2]</a:t>
            </a:r>
            <a:endParaRPr lang="en-US" sz="1300" dirty="0"/>
          </a:p>
        </p:txBody>
      </p:sp>
      <p:sp>
        <p:nvSpPr>
          <p:cNvPr id="21" name="Shape 15"/>
          <p:cNvSpPr/>
          <p:nvPr/>
        </p:nvSpPr>
        <p:spPr>
          <a:xfrm>
            <a:off x="457200" y="3621024"/>
            <a:ext cx="8229600" cy="960120"/>
          </a:xfrm>
          <a:prstGeom prst="rect">
            <a:avLst/>
          </a:prstGeom>
          <a:solidFill>
            <a:srgbClr val="F3F5F6"/>
          </a:solidFill>
          <a:ln w="12700">
            <a:solidFill>
              <a:srgbClr val="F3F5F6"/>
            </a:solidFill>
            <a:prstDash val="solid"/>
          </a:ln>
        </p:spPr>
      </p:sp>
      <p:sp>
        <p:nvSpPr>
          <p:cNvPr id="22" name="Shape 16"/>
          <p:cNvSpPr/>
          <p:nvPr/>
        </p:nvSpPr>
        <p:spPr>
          <a:xfrm>
            <a:off x="566928" y="3895344"/>
            <a:ext cx="384048" cy="384048"/>
          </a:xfrm>
          <a:prstGeom prst="ellipse">
            <a:avLst/>
          </a:prstGeom>
          <a:solidFill>
            <a:srgbClr val="C8641E"/>
          </a:solidFill>
          <a:ln w="12700">
            <a:solidFill>
              <a:srgbClr val="C8641E"/>
            </a:solidFill>
            <a:prstDash val="solid"/>
          </a:ln>
        </p:spPr>
      </p:sp>
      <p:pic>
        <p:nvPicPr>
          <p:cNvPr id="23" name="Image 4" descr="preencoded.png">    </p:cNvPr>
          <p:cNvPicPr>
            <a:picLocks noChangeAspect="1"/>
          </p:cNvPicPr>
          <p:nvPr/>
        </p:nvPicPr>
        <p:blipFill>
          <a:blip r:embed="rId5"/>
          <a:stretch>
            <a:fillRect/>
          </a:stretch>
        </p:blipFill>
        <p:spPr>
          <a:xfrm>
            <a:off x="662940" y="3991356"/>
            <a:ext cx="192024" cy="192024"/>
          </a:xfrm>
          <a:prstGeom prst="rect">
            <a:avLst/>
          </a:prstGeom>
        </p:spPr>
      </p:pic>
      <p:sp>
        <p:nvSpPr>
          <p:cNvPr id="24" name="Text 17"/>
          <p:cNvSpPr txBox="1"/>
          <p:nvPr/>
        </p:nvSpPr>
        <p:spPr>
          <a:xfrm>
            <a:off x="1005840" y="3621024"/>
            <a:ext cx="3429000" cy="960120"/>
          </a:xfrm>
          <a:prstGeom prst="rect">
            <a:avLst/>
          </a:prstGeom>
          <a:noFill/>
          <a:ln/>
        </p:spPr>
        <p:txBody>
          <a:bodyPr wrap="square" lIns="0" tIns="0" rIns="0" bIns="0" rtlCol="0" anchor="ctr"/>
          <a:lstStyle/>
          <a:p>
            <a:pPr indent="0" marL="0">
              <a:buNone/>
            </a:pPr>
            <a:r>
              <a:rPr lang="en-US" sz="1300" dirty="0">
                <a:solidFill>
                  <a:srgbClr val="1E1E1E"/>
                </a:solidFill>
                <a:latin typeface="Calibri" pitchFamily="34" charset="0"/>
                <a:ea typeface="Calibri" pitchFamily="34" charset="-122"/>
                <a:cs typeface="Calibri" pitchFamily="34" charset="-120"/>
              </a:rPr>
              <a:t>Tesla zerriss aus Grossmut seinen Vertrag mit Westinghouse.</a:t>
            </a:r>
            <a:endParaRPr lang="en-US" sz="1300" dirty="0"/>
          </a:p>
        </p:txBody>
      </p:sp>
      <p:sp>
        <p:nvSpPr>
          <p:cNvPr id="25" name="Shape 18"/>
          <p:cNvSpPr/>
          <p:nvPr/>
        </p:nvSpPr>
        <p:spPr>
          <a:xfrm>
            <a:off x="4526280" y="3986784"/>
            <a:ext cx="274320" cy="228600"/>
          </a:xfrm>
          <a:prstGeom prst="rightArrow">
            <a:avLst/>
          </a:prstGeom>
          <a:solidFill>
            <a:srgbClr val="C9D3D8"/>
          </a:solidFill>
          <a:ln w="12700">
            <a:solidFill>
              <a:srgbClr val="C9D3D8"/>
            </a:solidFill>
            <a:prstDash val="solid"/>
          </a:ln>
        </p:spPr>
      </p:sp>
      <p:sp>
        <p:nvSpPr>
          <p:cNvPr id="26" name="Shape 19"/>
          <p:cNvSpPr/>
          <p:nvPr/>
        </p:nvSpPr>
        <p:spPr>
          <a:xfrm>
            <a:off x="4864608" y="3895344"/>
            <a:ext cx="384048" cy="384048"/>
          </a:xfrm>
          <a:prstGeom prst="ellipse">
            <a:avLst/>
          </a:prstGeom>
          <a:solidFill>
            <a:srgbClr val="0E7C9E"/>
          </a:solidFill>
          <a:ln w="12700">
            <a:solidFill>
              <a:srgbClr val="0E7C9E"/>
            </a:solidFill>
            <a:prstDash val="solid"/>
          </a:ln>
        </p:spPr>
      </p:sp>
      <p:pic>
        <p:nvPicPr>
          <p:cNvPr id="27" name="Image 5" descr="preencoded.png">    </p:cNvPr>
          <p:cNvPicPr>
            <a:picLocks noChangeAspect="1"/>
          </p:cNvPicPr>
          <p:nvPr/>
        </p:nvPicPr>
        <p:blipFill>
          <a:blip r:embed="rId6"/>
          <a:stretch>
            <a:fillRect/>
          </a:stretch>
        </p:blipFill>
        <p:spPr>
          <a:xfrm>
            <a:off x="4960620" y="3991356"/>
            <a:ext cx="192024" cy="192024"/>
          </a:xfrm>
          <a:prstGeom prst="rect">
            <a:avLst/>
          </a:prstGeom>
        </p:spPr>
      </p:pic>
      <p:sp>
        <p:nvSpPr>
          <p:cNvPr id="28" name="Text 20"/>
          <p:cNvSpPr txBox="1"/>
          <p:nvPr/>
        </p:nvSpPr>
        <p:spPr>
          <a:xfrm>
            <a:off x="5349240" y="3621024"/>
            <a:ext cx="3246120" cy="960120"/>
          </a:xfrm>
          <a:prstGeom prst="rect">
            <a:avLst/>
          </a:prstGeom>
          <a:noFill/>
          <a:ln/>
        </p:spPr>
        <p:txBody>
          <a:bodyPr wrap="square" lIns="0" tIns="0" rIns="0" bIns="0" rtlCol="0" anchor="ctr"/>
          <a:lstStyle/>
          <a:p>
            <a:pPr indent="0" marL="0">
              <a:buNone/>
            </a:pPr>
            <a:r>
              <a:rPr lang="en-US" sz="1300" dirty="0">
                <a:solidFill>
                  <a:srgbClr val="1E1E1E"/>
                </a:solidFill>
                <a:latin typeface="Calibri" pitchFamily="34" charset="0"/>
                <a:ea typeface="Calibri" pitchFamily="34" charset="-122"/>
                <a:cs typeface="Calibri" pitchFamily="34" charset="-120"/>
              </a:rPr>
              <a:t>Belegt sind nur der Verzicht auf Lizenzgebühren (1891) und der Verkauf der Patente für 216 000 Dollar. </a:t>
            </a:r>
            <a:pPr indent="0" marL="0">
              <a:buNone/>
            </a:pPr>
            <a:r>
              <a:rPr lang="en-US" sz="1100" dirty="0">
                <a:solidFill>
                  <a:srgbClr val="5F5D58"/>
                </a:solidFill>
                <a:latin typeface="Calibri" pitchFamily="34" charset="0"/>
                <a:ea typeface="Calibri" pitchFamily="34" charset="-122"/>
                <a:cs typeface="Calibri" pitchFamily="34" charset="-120"/>
              </a:rPr>
              <a:t>[4]</a:t>
            </a:r>
            <a:endParaRPr lang="en-US" sz="1300" dirty="0"/>
          </a:p>
        </p:txBody>
      </p:sp>
      <p:sp>
        <p:nvSpPr>
          <p:cNvPr id="29" name="Text 21"/>
          <p:cNvSpPr txBox="1"/>
          <p:nvPr/>
        </p:nvSpPr>
        <p:spPr>
          <a:xfrm>
            <a:off x="457200" y="4754880"/>
            <a:ext cx="6583680" cy="228600"/>
          </a:xfrm>
          <a:prstGeom prst="rect">
            <a:avLst/>
          </a:prstGeom>
          <a:noFill/>
          <a:ln/>
        </p:spPr>
        <p:txBody>
          <a:bodyPr wrap="square" lIns="0" tIns="0" rIns="0" bIns="0" rtlCol="0" anchor="ctr"/>
          <a:lstStyle/>
          <a:p>
            <a:pPr indent="0" marL="0">
              <a:buNone/>
            </a:pPr>
            <a:r>
              <a:rPr lang="en-US" sz="900" dirty="0">
                <a:solidFill>
                  <a:srgbClr val="5F5D58"/>
                </a:solidFill>
                <a:latin typeface="Calibri" pitchFamily="34" charset="0"/>
                <a:ea typeface="Calibri" pitchFamily="34" charset="-122"/>
                <a:cs typeface="Calibri" pitchFamily="34" charset="-120"/>
              </a:rPr>
              <a:t>Quellen: [2], [4], [23], [25] (Nummern wie im Handout)</a:t>
            </a:r>
            <a:endParaRPr lang="en-US" sz="900" dirty="0"/>
          </a:p>
        </p:txBody>
      </p:sp>
      <p:sp>
        <p:nvSpPr>
          <p:cNvPr id="30" name="Text 22"/>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900" dirty="0">
                <a:solidFill>
                  <a:srgbClr val="5F5D5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5171C"/>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8580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Fazit: der erste grosse Standardkrieg</a:t>
            </a:r>
            <a:endParaRPr lang="en-US" sz="2600" dirty="0"/>
          </a:p>
        </p:txBody>
      </p:sp>
      <p:sp>
        <p:nvSpPr>
          <p:cNvPr id="3" name="Shape 1"/>
          <p:cNvSpPr/>
          <p:nvPr/>
        </p:nvSpPr>
        <p:spPr>
          <a:xfrm>
            <a:off x="457200" y="1344168"/>
            <a:ext cx="548640" cy="548640"/>
          </a:xfrm>
          <a:prstGeom prst="ellipse">
            <a:avLst/>
          </a:prstGeom>
          <a:solidFill>
            <a:srgbClr val="F2B33D"/>
          </a:solidFill>
          <a:ln w="12700">
            <a:solidFill>
              <a:srgbClr val="F2B33D"/>
            </a:solidFill>
            <a:prstDash val="solid"/>
          </a:ln>
        </p:spPr>
      </p:sp>
      <p:sp>
        <p:nvSpPr>
          <p:cNvPr id="4" name="Text 2"/>
          <p:cNvSpPr txBox="1"/>
          <p:nvPr/>
        </p:nvSpPr>
        <p:spPr>
          <a:xfrm>
            <a:off x="457200" y="1344168"/>
            <a:ext cx="548640" cy="548640"/>
          </a:xfrm>
          <a:prstGeom prst="rect">
            <a:avLst/>
          </a:prstGeom>
          <a:noFill/>
          <a:ln/>
        </p:spPr>
        <p:txBody>
          <a:bodyPr wrap="square" lIns="0" tIns="0" rIns="0" bIns="0" rtlCol="0" anchor="ctr"/>
          <a:lstStyle/>
          <a:p>
            <a:pPr algn="ctr" indent="0" marL="0">
              <a:buNone/>
            </a:pPr>
            <a:r>
              <a:rPr lang="en-US" sz="2000" b="1" dirty="0">
                <a:solidFill>
                  <a:srgbClr val="15171C"/>
                </a:solidFill>
                <a:latin typeface="Cambria" pitchFamily="34" charset="0"/>
                <a:ea typeface="Cambria" pitchFamily="34" charset="-122"/>
                <a:cs typeface="Cambria" pitchFamily="34" charset="-120"/>
              </a:rPr>
              <a:t>1</a:t>
            </a:r>
            <a:endParaRPr lang="en-US" sz="2000" dirty="0"/>
          </a:p>
        </p:txBody>
      </p:sp>
      <p:sp>
        <p:nvSpPr>
          <p:cNvPr id="5" name="Text 3"/>
          <p:cNvSpPr txBox="1"/>
          <p:nvPr/>
        </p:nvSpPr>
        <p:spPr>
          <a:xfrm>
            <a:off x="1234440" y="1234440"/>
            <a:ext cx="7406640" cy="7772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Gewonnen hat das System, das sich billiger skalieren liess – nicht die bessere Propaganda.</a:t>
            </a:r>
            <a:endParaRPr lang="en-US" sz="1700" dirty="0"/>
          </a:p>
        </p:txBody>
      </p:sp>
      <p:sp>
        <p:nvSpPr>
          <p:cNvPr id="6" name="Shape 4"/>
          <p:cNvSpPr/>
          <p:nvPr/>
        </p:nvSpPr>
        <p:spPr>
          <a:xfrm>
            <a:off x="457200" y="2368296"/>
            <a:ext cx="548640" cy="548640"/>
          </a:xfrm>
          <a:prstGeom prst="ellipse">
            <a:avLst/>
          </a:prstGeom>
          <a:solidFill>
            <a:srgbClr val="F2B33D"/>
          </a:solidFill>
          <a:ln w="12700">
            <a:solidFill>
              <a:srgbClr val="F2B33D"/>
            </a:solidFill>
            <a:prstDash val="solid"/>
          </a:ln>
        </p:spPr>
      </p:sp>
      <p:sp>
        <p:nvSpPr>
          <p:cNvPr id="7" name="Text 5"/>
          <p:cNvSpPr txBox="1"/>
          <p:nvPr/>
        </p:nvSpPr>
        <p:spPr>
          <a:xfrm>
            <a:off x="457200" y="2368296"/>
            <a:ext cx="548640" cy="548640"/>
          </a:xfrm>
          <a:prstGeom prst="rect">
            <a:avLst/>
          </a:prstGeom>
          <a:noFill/>
          <a:ln/>
        </p:spPr>
        <p:txBody>
          <a:bodyPr wrap="square" lIns="0" tIns="0" rIns="0" bIns="0" rtlCol="0" anchor="ctr"/>
          <a:lstStyle/>
          <a:p>
            <a:pPr algn="ctr" indent="0" marL="0">
              <a:buNone/>
            </a:pPr>
            <a:r>
              <a:rPr lang="en-US" sz="2000" b="1" dirty="0">
                <a:solidFill>
                  <a:srgbClr val="15171C"/>
                </a:solidFill>
                <a:latin typeface="Cambria" pitchFamily="34" charset="0"/>
                <a:ea typeface="Cambria" pitchFamily="34" charset="-122"/>
                <a:cs typeface="Cambria" pitchFamily="34" charset="-120"/>
              </a:rPr>
              <a:t>2</a:t>
            </a:r>
            <a:endParaRPr lang="en-US" sz="2000" dirty="0"/>
          </a:p>
        </p:txBody>
      </p:sp>
      <p:sp>
        <p:nvSpPr>
          <p:cNvPr id="8" name="Text 6"/>
          <p:cNvSpPr txBox="1"/>
          <p:nvPr/>
        </p:nvSpPr>
        <p:spPr>
          <a:xfrm>
            <a:off x="1234440" y="2258568"/>
            <a:ext cx="7406640" cy="7772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Mitgewonnen hat der finanzstarke Grosskonzern: GE und Westinghouse als Muster des US-Industriekapitalismus.</a:t>
            </a:r>
            <a:endParaRPr lang="en-US" sz="1700" dirty="0"/>
          </a:p>
        </p:txBody>
      </p:sp>
      <p:sp>
        <p:nvSpPr>
          <p:cNvPr id="9" name="Shape 7"/>
          <p:cNvSpPr/>
          <p:nvPr/>
        </p:nvSpPr>
        <p:spPr>
          <a:xfrm>
            <a:off x="457200" y="3392424"/>
            <a:ext cx="548640" cy="548640"/>
          </a:xfrm>
          <a:prstGeom prst="ellipse">
            <a:avLst/>
          </a:prstGeom>
          <a:solidFill>
            <a:srgbClr val="F2B33D"/>
          </a:solidFill>
          <a:ln w="12700">
            <a:solidFill>
              <a:srgbClr val="F2B33D"/>
            </a:solidFill>
            <a:prstDash val="solid"/>
          </a:ln>
        </p:spPr>
      </p:sp>
      <p:sp>
        <p:nvSpPr>
          <p:cNvPr id="10" name="Text 8"/>
          <p:cNvSpPr txBox="1"/>
          <p:nvPr/>
        </p:nvSpPr>
        <p:spPr>
          <a:xfrm>
            <a:off x="457200" y="3392424"/>
            <a:ext cx="548640" cy="548640"/>
          </a:xfrm>
          <a:prstGeom prst="rect">
            <a:avLst/>
          </a:prstGeom>
          <a:noFill/>
          <a:ln/>
        </p:spPr>
        <p:txBody>
          <a:bodyPr wrap="square" lIns="0" tIns="0" rIns="0" bIns="0" rtlCol="0" anchor="ctr"/>
          <a:lstStyle/>
          <a:p>
            <a:pPr algn="ctr" indent="0" marL="0">
              <a:buNone/>
            </a:pPr>
            <a:r>
              <a:rPr lang="en-US" sz="2000" b="1" dirty="0">
                <a:solidFill>
                  <a:srgbClr val="15171C"/>
                </a:solidFill>
                <a:latin typeface="Cambria" pitchFamily="34" charset="0"/>
                <a:ea typeface="Cambria" pitchFamily="34" charset="-122"/>
                <a:cs typeface="Cambria" pitchFamily="34" charset="-120"/>
              </a:rPr>
              <a:t>3</a:t>
            </a:r>
            <a:endParaRPr lang="en-US" sz="2000" dirty="0"/>
          </a:p>
        </p:txBody>
      </p:sp>
      <p:sp>
        <p:nvSpPr>
          <p:cNvPr id="11" name="Text 9"/>
          <p:cNvSpPr txBox="1"/>
          <p:nvPr/>
        </p:nvSpPr>
        <p:spPr>
          <a:xfrm>
            <a:off x="1234440" y="3282696"/>
            <a:ext cx="7406640" cy="7772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Ironie: Mit Stromrichtern kehrt der Gleichstrom zurück – 1954 als erste kommerzielle Hochspannungs-Gleichstrom-Übertragung (Gotland), gebaut von ASEA, heute ABB.</a:t>
            </a:r>
            <a:endParaRPr lang="en-US" sz="1700" dirty="0"/>
          </a:p>
        </p:txBody>
      </p:sp>
      <p:sp>
        <p:nvSpPr>
          <p:cNvPr id="12" name="Text 10"/>
          <p:cNvSpPr txBox="1"/>
          <p:nvPr/>
        </p:nvSpPr>
        <p:spPr>
          <a:xfrm>
            <a:off x="457200" y="4251960"/>
            <a:ext cx="8229600" cy="411480"/>
          </a:xfrm>
          <a:prstGeom prst="rect">
            <a:avLst/>
          </a:prstGeom>
          <a:noFill/>
          <a:ln/>
        </p:spPr>
        <p:txBody>
          <a:bodyPr wrap="square" lIns="0" tIns="0" rIns="0" bIns="0" rtlCol="0" anchor="ctr"/>
          <a:lstStyle/>
          <a:p>
            <a:pPr indent="0" marL="0">
              <a:buNone/>
            </a:pPr>
            <a:r>
              <a:rPr lang="en-US" sz="2000" b="1" dirty="0">
                <a:solidFill>
                  <a:srgbClr val="F2B33D"/>
                </a:solidFill>
                <a:latin typeface="Cambria" pitchFamily="34" charset="0"/>
                <a:ea typeface="Cambria" pitchFamily="34" charset="-122"/>
                <a:cs typeface="Cambria" pitchFamily="34" charset="-120"/>
              </a:rPr>
              <a:t>Danke – Fragen?</a:t>
            </a:r>
            <a:endParaRPr lang="en-US" sz="2000" dirty="0"/>
          </a:p>
        </p:txBody>
      </p:sp>
      <p:sp>
        <p:nvSpPr>
          <p:cNvPr id="13" name="Text 11"/>
          <p:cNvSpPr txBox="1"/>
          <p:nvPr/>
        </p:nvSpPr>
        <p:spPr>
          <a:xfrm>
            <a:off x="457200" y="4754880"/>
            <a:ext cx="6583680" cy="228600"/>
          </a:xfrm>
          <a:prstGeom prst="rect">
            <a:avLst/>
          </a:prstGeom>
          <a:noFill/>
          <a:ln/>
        </p:spPr>
        <p:txBody>
          <a:bodyPr wrap="square" lIns="0" tIns="0" rIns="0" bIns="0" rtlCol="0" anchor="ctr"/>
          <a:lstStyle/>
          <a:p>
            <a:pPr indent="0" marL="0">
              <a:buNone/>
            </a:pPr>
            <a:r>
              <a:rPr lang="en-US" sz="900" dirty="0">
                <a:solidFill>
                  <a:srgbClr val="9AA0A8"/>
                </a:solidFill>
                <a:latin typeface="Calibri" pitchFamily="34" charset="0"/>
                <a:ea typeface="Calibri" pitchFamily="34" charset="-122"/>
                <a:cs typeface="Calibri" pitchFamily="34" charset="-120"/>
              </a:rPr>
              <a:t>Quellen: [29], [30] (Nummern wie im Handout)</a:t>
            </a:r>
            <a:endParaRPr lang="en-US" sz="900" dirty="0"/>
          </a:p>
        </p:txBody>
      </p:sp>
      <p:sp>
        <p:nvSpPr>
          <p:cNvPr id="14" name="Text 12"/>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900" dirty="0">
                <a:solidFill>
                  <a:srgbClr val="9AA0A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85800"/>
          </a:xfrm>
          <a:prstGeom prst="rect">
            <a:avLst/>
          </a:prstGeom>
          <a:noFill/>
          <a:ln/>
        </p:spPr>
        <p:txBody>
          <a:bodyPr wrap="square" lIns="0" tIns="0" rIns="0" bIns="0" rtlCol="0" anchor="ctr"/>
          <a:lstStyle/>
          <a:p>
            <a:pPr indent="0" marL="0">
              <a:buNone/>
            </a:pPr>
            <a:r>
              <a:rPr lang="en-US" sz="2600" b="1" dirty="0">
                <a:solidFill>
                  <a:srgbClr val="1E1E1E"/>
                </a:solidFill>
                <a:latin typeface="Cambria" pitchFamily="34" charset="0"/>
                <a:ea typeface="Cambria" pitchFamily="34" charset="-122"/>
                <a:cs typeface="Cambria" pitchFamily="34" charset="-120"/>
              </a:rPr>
              <a:t>Quellen (Auswahl, IEEE)</a:t>
            </a:r>
            <a:endParaRPr lang="en-US" sz="2600" dirty="0"/>
          </a:p>
        </p:txBody>
      </p:sp>
      <p:sp>
        <p:nvSpPr>
          <p:cNvPr id="3" name="Text 1"/>
          <p:cNvSpPr txBox="1"/>
          <p:nvPr/>
        </p:nvSpPr>
        <p:spPr>
          <a:xfrm>
            <a:off x="457200" y="1051560"/>
            <a:ext cx="8229600" cy="3566160"/>
          </a:xfrm>
          <a:prstGeom prst="rect">
            <a:avLst/>
          </a:prstGeom>
          <a:noFill/>
          <a:ln/>
        </p:spPr>
        <p:txBody>
          <a:bodyPr wrap="square" lIns="0" tIns="0" rIns="0" bIns="0" rtlCol="0" anchor="t"/>
          <a:lstStyle/>
          <a:p>
            <a:pPr indent="0" marL="0">
              <a:spcAft>
                <a:spcPts val="500"/>
              </a:spcAft>
              <a:buNone/>
            </a:pPr>
            <a:r>
              <a:rPr lang="en-US" sz="1050" b="1" dirty="0">
                <a:solidFill>
                  <a:srgbClr val="1E1E1E"/>
                </a:solidFill>
                <a:latin typeface="Calibri" pitchFamily="34" charset="0"/>
                <a:ea typeface="Calibri" pitchFamily="34" charset="-122"/>
                <a:cs typeface="Calibri" pitchFamily="34" charset="-120"/>
              </a:rPr>
              <a:t>[2]  </a:t>
            </a:r>
            <a:pPr indent="0" marL="0">
              <a:spcAft>
                <a:spcPts val="500"/>
              </a:spcAft>
              <a:buNone/>
            </a:pPr>
            <a:r>
              <a:rPr lang="en-US" sz="1050" dirty="0">
                <a:solidFill>
                  <a:srgbClr val="1E1E1E"/>
                </a:solidFill>
                <a:latin typeface="Calibri" pitchFamily="34" charset="0"/>
                <a:ea typeface="Calibri" pitchFamily="34" charset="-122"/>
                <a:cs typeface="Calibri" pitchFamily="34" charset="-120"/>
              </a:rPr>
              <a:t>Thomas A. Edison Papers, “The current wars,” Rutgers Univ., New Brunswick, NJ, USA. Accessed: Oct. 1, 2026. [Online]. Available: https://edison.rutgers.edu/life-of-edison/essaying-edison/essay/the-current-wars</a:t>
            </a:r>
            <a:endParaRPr lang="en-US" sz="1050" dirty="0"/>
          </a:p>
          <a:p>
            <a:pPr indent="0" marL="0">
              <a:spcAft>
                <a:spcPts val="500"/>
              </a:spcAft>
              <a:buNone/>
            </a:pPr>
            <a:r>
              <a:rPr lang="en-US" sz="1050" b="1" dirty="0">
                <a:solidFill>
                  <a:srgbClr val="1E1E1E"/>
                </a:solidFill>
                <a:latin typeface="Calibri" pitchFamily="34" charset="0"/>
                <a:ea typeface="Calibri" pitchFamily="34" charset="-122"/>
                <a:cs typeface="Calibri" pitchFamily="34" charset="-120"/>
              </a:rPr>
              <a:t>[3]  </a:t>
            </a:r>
            <a:pPr indent="0" marL="0">
              <a:spcAft>
                <a:spcPts val="500"/>
              </a:spcAft>
              <a:buNone/>
            </a:pPr>
            <a:r>
              <a:rPr lang="en-US" sz="1050" dirty="0">
                <a:solidFill>
                  <a:srgbClr val="1E1E1E"/>
                </a:solidFill>
                <a:latin typeface="Calibri" pitchFamily="34" charset="0"/>
                <a:ea typeface="Calibri" pitchFamily="34" charset="-122"/>
                <a:cs typeface="Calibri" pitchFamily="34" charset="-120"/>
              </a:rPr>
              <a:t>J. Jonnes, </a:t>
            </a:r>
            <a:pPr indent="0" marL="0">
              <a:spcAft>
                <a:spcPts val="500"/>
              </a:spcAft>
              <a:buNone/>
            </a:pPr>
            <a:r>
              <a:rPr lang="en-US" sz="1050" i="1" dirty="0">
                <a:solidFill>
                  <a:srgbClr val="1E1E1E"/>
                </a:solidFill>
                <a:latin typeface="Calibri" pitchFamily="34" charset="0"/>
                <a:ea typeface="Calibri" pitchFamily="34" charset="-122"/>
                <a:cs typeface="Calibri" pitchFamily="34" charset="-120"/>
              </a:rPr>
              <a:t>Empires of Light: Edison, Tesla, Westinghouse, and the Race to Electrify the World</a:t>
            </a:r>
            <a:pPr indent="0" marL="0">
              <a:spcAft>
                <a:spcPts val="500"/>
              </a:spcAft>
              <a:buNone/>
            </a:pPr>
            <a:r>
              <a:rPr lang="en-US" sz="1050" dirty="0">
                <a:solidFill>
                  <a:srgbClr val="1E1E1E"/>
                </a:solidFill>
                <a:latin typeface="Calibri" pitchFamily="34" charset="0"/>
                <a:ea typeface="Calibri" pitchFamily="34" charset="-122"/>
                <a:cs typeface="Calibri" pitchFamily="34" charset="-120"/>
              </a:rPr>
              <a:t>. New York, NY, USA: Random House, 2003.</a:t>
            </a:r>
            <a:endParaRPr lang="en-US" sz="1050" dirty="0"/>
          </a:p>
          <a:p>
            <a:pPr indent="0" marL="0">
              <a:spcAft>
                <a:spcPts val="500"/>
              </a:spcAft>
              <a:buNone/>
            </a:pPr>
            <a:r>
              <a:rPr lang="en-US" sz="1050" b="1" dirty="0">
                <a:solidFill>
                  <a:srgbClr val="1E1E1E"/>
                </a:solidFill>
                <a:latin typeface="Calibri" pitchFamily="34" charset="0"/>
                <a:ea typeface="Calibri" pitchFamily="34" charset="-122"/>
                <a:cs typeface="Calibri" pitchFamily="34" charset="-120"/>
              </a:rPr>
              <a:t>[4]  </a:t>
            </a:r>
            <a:pPr indent="0" marL="0">
              <a:spcAft>
                <a:spcPts val="500"/>
              </a:spcAft>
              <a:buNone/>
            </a:pPr>
            <a:r>
              <a:rPr lang="en-US" sz="1050" dirty="0">
                <a:solidFill>
                  <a:srgbClr val="1E1E1E"/>
                </a:solidFill>
                <a:latin typeface="Calibri" pitchFamily="34" charset="0"/>
                <a:ea typeface="Calibri" pitchFamily="34" charset="-122"/>
                <a:cs typeface="Calibri" pitchFamily="34" charset="-120"/>
              </a:rPr>
              <a:t>W. B. Carlson, </a:t>
            </a:r>
            <a:pPr indent="0" marL="0">
              <a:spcAft>
                <a:spcPts val="500"/>
              </a:spcAft>
              <a:buNone/>
            </a:pPr>
            <a:r>
              <a:rPr lang="en-US" sz="1050" i="1" dirty="0">
                <a:solidFill>
                  <a:srgbClr val="1E1E1E"/>
                </a:solidFill>
                <a:latin typeface="Calibri" pitchFamily="34" charset="0"/>
                <a:ea typeface="Calibri" pitchFamily="34" charset="-122"/>
                <a:cs typeface="Calibri" pitchFamily="34" charset="-120"/>
              </a:rPr>
              <a:t>Tesla: Inventor of the Electrical Age</a:t>
            </a:r>
            <a:pPr indent="0" marL="0">
              <a:spcAft>
                <a:spcPts val="500"/>
              </a:spcAft>
              <a:buNone/>
            </a:pPr>
            <a:r>
              <a:rPr lang="en-US" sz="1050" dirty="0">
                <a:solidFill>
                  <a:srgbClr val="1E1E1E"/>
                </a:solidFill>
                <a:latin typeface="Calibri" pitchFamily="34" charset="0"/>
                <a:ea typeface="Calibri" pitchFamily="34" charset="-122"/>
                <a:cs typeface="Calibri" pitchFamily="34" charset="-120"/>
              </a:rPr>
              <a:t>. Princeton, NJ, USA: Princeton Univ. Press, 2013.</a:t>
            </a:r>
            <a:endParaRPr lang="en-US" sz="1050" dirty="0"/>
          </a:p>
          <a:p>
            <a:pPr indent="0" marL="0">
              <a:spcAft>
                <a:spcPts val="500"/>
              </a:spcAft>
              <a:buNone/>
            </a:pPr>
            <a:r>
              <a:rPr lang="en-US" sz="1050" b="1" dirty="0">
                <a:solidFill>
                  <a:srgbClr val="1E1E1E"/>
                </a:solidFill>
                <a:latin typeface="Calibri" pitchFamily="34" charset="0"/>
                <a:ea typeface="Calibri" pitchFamily="34" charset="-122"/>
                <a:cs typeface="Calibri" pitchFamily="34" charset="-120"/>
              </a:rPr>
              <a:t>[5]  </a:t>
            </a:r>
            <a:pPr indent="0" marL="0">
              <a:spcAft>
                <a:spcPts val="500"/>
              </a:spcAft>
              <a:buNone/>
            </a:pPr>
            <a:r>
              <a:rPr lang="en-US" sz="1050" dirty="0">
                <a:solidFill>
                  <a:srgbClr val="1E1E1E"/>
                </a:solidFill>
                <a:latin typeface="Calibri" pitchFamily="34" charset="0"/>
                <a:ea typeface="Calibri" pitchFamily="34" charset="-122"/>
                <a:cs typeface="Calibri" pitchFamily="34" charset="-120"/>
              </a:rPr>
              <a:t>T. P. Hughes, “Harold P. Brown and the executioner's current: An incident in the AC-DC controversy,” </a:t>
            </a:r>
            <a:pPr indent="0" marL="0">
              <a:spcAft>
                <a:spcPts val="500"/>
              </a:spcAft>
              <a:buNone/>
            </a:pPr>
            <a:r>
              <a:rPr lang="en-US" sz="1050" i="1" dirty="0">
                <a:solidFill>
                  <a:srgbClr val="1E1E1E"/>
                </a:solidFill>
                <a:latin typeface="Calibri" pitchFamily="34" charset="0"/>
                <a:ea typeface="Calibri" pitchFamily="34" charset="-122"/>
                <a:cs typeface="Calibri" pitchFamily="34" charset="-120"/>
              </a:rPr>
              <a:t>Business History Review</a:t>
            </a:r>
            <a:pPr indent="0" marL="0">
              <a:spcAft>
                <a:spcPts val="500"/>
              </a:spcAft>
              <a:buNone/>
            </a:pPr>
            <a:r>
              <a:rPr lang="en-US" sz="1050" dirty="0">
                <a:solidFill>
                  <a:srgbClr val="1E1E1E"/>
                </a:solidFill>
                <a:latin typeface="Calibri" pitchFamily="34" charset="0"/>
                <a:ea typeface="Calibri" pitchFamily="34" charset="-122"/>
                <a:cs typeface="Calibri" pitchFamily="34" charset="-120"/>
              </a:rPr>
              <a:t>, vol. 32, no. 2, pp. 143–165, 1958.</a:t>
            </a:r>
            <a:endParaRPr lang="en-US" sz="1050" dirty="0"/>
          </a:p>
          <a:p>
            <a:pPr indent="0" marL="0">
              <a:spcAft>
                <a:spcPts val="500"/>
              </a:spcAft>
              <a:buNone/>
            </a:pPr>
            <a:r>
              <a:rPr lang="en-US" sz="1050" b="1" dirty="0">
                <a:solidFill>
                  <a:srgbClr val="1E1E1E"/>
                </a:solidFill>
                <a:latin typeface="Calibri" pitchFamily="34" charset="0"/>
                <a:ea typeface="Calibri" pitchFamily="34" charset="-122"/>
                <a:cs typeface="Calibri" pitchFamily="34" charset="-120"/>
              </a:rPr>
              <a:t>[10]  </a:t>
            </a:r>
            <a:pPr indent="0" marL="0">
              <a:spcAft>
                <a:spcPts val="500"/>
              </a:spcAft>
              <a:buNone/>
            </a:pPr>
            <a:r>
              <a:rPr lang="en-US" sz="1050" dirty="0">
                <a:solidFill>
                  <a:srgbClr val="1E1E1E"/>
                </a:solidFill>
                <a:latin typeface="Calibri" pitchFamily="34" charset="0"/>
                <a:ea typeface="Calibri" pitchFamily="34" charset="-122"/>
                <a:cs typeface="Calibri" pitchFamily="34" charset="-120"/>
              </a:rPr>
              <a:t>B. M. Cole and D. Chandler, “A model of competitive impression management: Edison versus Westinghouse in the War of the Currents,” </a:t>
            </a:r>
            <a:pPr indent="0" marL="0">
              <a:spcAft>
                <a:spcPts val="500"/>
              </a:spcAft>
              <a:buNone/>
            </a:pPr>
            <a:r>
              <a:rPr lang="en-US" sz="1050" i="1" dirty="0">
                <a:solidFill>
                  <a:srgbClr val="1E1E1E"/>
                </a:solidFill>
                <a:latin typeface="Calibri" pitchFamily="34" charset="0"/>
                <a:ea typeface="Calibri" pitchFamily="34" charset="-122"/>
                <a:cs typeface="Calibri" pitchFamily="34" charset="-120"/>
              </a:rPr>
              <a:t>Administrative Science Quarterly</a:t>
            </a:r>
            <a:pPr indent="0" marL="0">
              <a:spcAft>
                <a:spcPts val="500"/>
              </a:spcAft>
              <a:buNone/>
            </a:pPr>
            <a:r>
              <a:rPr lang="en-US" sz="1050" dirty="0">
                <a:solidFill>
                  <a:srgbClr val="1E1E1E"/>
                </a:solidFill>
                <a:latin typeface="Calibri" pitchFamily="34" charset="0"/>
                <a:ea typeface="Calibri" pitchFamily="34" charset="-122"/>
                <a:cs typeface="Calibri" pitchFamily="34" charset="-120"/>
              </a:rPr>
              <a:t>, vol. 64, no. 4, pp. 1020–1063, 2019, doi: 10.1177/0001839218821439.</a:t>
            </a:r>
            <a:endParaRPr lang="en-US" sz="1050" dirty="0"/>
          </a:p>
          <a:p>
            <a:pPr indent="0" marL="0">
              <a:spcAft>
                <a:spcPts val="500"/>
              </a:spcAft>
              <a:buNone/>
            </a:pPr>
            <a:r>
              <a:rPr lang="en-US" sz="1050" b="1" dirty="0">
                <a:solidFill>
                  <a:srgbClr val="1E1E1E"/>
                </a:solidFill>
                <a:latin typeface="Calibri" pitchFamily="34" charset="0"/>
                <a:ea typeface="Calibri" pitchFamily="34" charset="-122"/>
                <a:cs typeface="Calibri" pitchFamily="34" charset="-120"/>
              </a:rPr>
              <a:t>[15]  </a:t>
            </a:r>
            <a:pPr indent="0" marL="0">
              <a:spcAft>
                <a:spcPts val="500"/>
              </a:spcAft>
              <a:buNone/>
            </a:pPr>
            <a:r>
              <a:rPr lang="en-US" sz="1050" dirty="0">
                <a:solidFill>
                  <a:srgbClr val="1E1E1E"/>
                </a:solidFill>
                <a:latin typeface="Calibri" pitchFamily="34" charset="0"/>
                <a:ea typeface="Calibri" pitchFamily="34" charset="-122"/>
                <a:cs typeface="Calibri" pitchFamily="34" charset="-120"/>
              </a:rPr>
              <a:t>P. A. David, “Heroes, herds and hysteresis in technological history: Thomas Edison and 'the battle of the systems' reconsidered,” </a:t>
            </a:r>
            <a:pPr indent="0" marL="0">
              <a:spcAft>
                <a:spcPts val="500"/>
              </a:spcAft>
              <a:buNone/>
            </a:pPr>
            <a:r>
              <a:rPr lang="en-US" sz="1050" i="1" dirty="0">
                <a:solidFill>
                  <a:srgbClr val="1E1E1E"/>
                </a:solidFill>
                <a:latin typeface="Calibri" pitchFamily="34" charset="0"/>
                <a:ea typeface="Calibri" pitchFamily="34" charset="-122"/>
                <a:cs typeface="Calibri" pitchFamily="34" charset="-120"/>
              </a:rPr>
              <a:t>Industrial and Corporate Change</a:t>
            </a:r>
            <a:pPr indent="0" marL="0">
              <a:spcAft>
                <a:spcPts val="500"/>
              </a:spcAft>
              <a:buNone/>
            </a:pPr>
            <a:r>
              <a:rPr lang="en-US" sz="1050" dirty="0">
                <a:solidFill>
                  <a:srgbClr val="1E1E1E"/>
                </a:solidFill>
                <a:latin typeface="Calibri" pitchFamily="34" charset="0"/>
                <a:ea typeface="Calibri" pitchFamily="34" charset="-122"/>
                <a:cs typeface="Calibri" pitchFamily="34" charset="-120"/>
              </a:rPr>
              <a:t>, vol. 1, no. 1, pp. 129–180, 1992, doi: 10.1093/icc/1.1.129.</a:t>
            </a:r>
            <a:endParaRPr lang="en-US" sz="1050" dirty="0"/>
          </a:p>
          <a:p>
            <a:pPr indent="0" marL="0">
              <a:spcAft>
                <a:spcPts val="500"/>
              </a:spcAft>
              <a:buNone/>
            </a:pPr>
            <a:r>
              <a:rPr lang="en-US" sz="1050" b="1" dirty="0">
                <a:solidFill>
                  <a:srgbClr val="1E1E1E"/>
                </a:solidFill>
                <a:latin typeface="Calibri" pitchFamily="34" charset="0"/>
                <a:ea typeface="Calibri" pitchFamily="34" charset="-122"/>
                <a:cs typeface="Calibri" pitchFamily="34" charset="-120"/>
              </a:rPr>
              <a:t>[18]  </a:t>
            </a:r>
            <a:pPr indent="0" marL="0">
              <a:spcAft>
                <a:spcPts val="500"/>
              </a:spcAft>
              <a:buNone/>
            </a:pPr>
            <a:r>
              <a:rPr lang="en-US" sz="1050" dirty="0">
                <a:solidFill>
                  <a:srgbClr val="1E1E1E"/>
                </a:solidFill>
                <a:latin typeface="Calibri" pitchFamily="34" charset="0"/>
                <a:ea typeface="Calibri" pitchFamily="34" charset="-122"/>
                <a:cs typeface="Calibri" pitchFamily="34" charset="-120"/>
              </a:rPr>
              <a:t>P. Bairoch, “International industrialization levels from 1750 to 1980,” </a:t>
            </a:r>
            <a:pPr indent="0" marL="0">
              <a:spcAft>
                <a:spcPts val="500"/>
              </a:spcAft>
              <a:buNone/>
            </a:pPr>
            <a:r>
              <a:rPr lang="en-US" sz="1050" i="1" dirty="0">
                <a:solidFill>
                  <a:srgbClr val="1E1E1E"/>
                </a:solidFill>
                <a:latin typeface="Calibri" pitchFamily="34" charset="0"/>
                <a:ea typeface="Calibri" pitchFamily="34" charset="-122"/>
                <a:cs typeface="Calibri" pitchFamily="34" charset="-120"/>
              </a:rPr>
              <a:t>Journal of European Economic History</a:t>
            </a:r>
            <a:pPr indent="0" marL="0">
              <a:spcAft>
                <a:spcPts val="500"/>
              </a:spcAft>
              <a:buNone/>
            </a:pPr>
            <a:r>
              <a:rPr lang="en-US" sz="1050" dirty="0">
                <a:solidFill>
                  <a:srgbClr val="1E1E1E"/>
                </a:solidFill>
                <a:latin typeface="Calibri" pitchFamily="34" charset="0"/>
                <a:ea typeface="Calibri" pitchFamily="34" charset="-122"/>
                <a:cs typeface="Calibri" pitchFamily="34" charset="-120"/>
              </a:rPr>
              <a:t>, vol. 11, no. 2, pp. 269–333, 1982.</a:t>
            </a:r>
            <a:endParaRPr lang="en-US" sz="1050" dirty="0"/>
          </a:p>
          <a:p>
            <a:pPr indent="0" marL="0">
              <a:spcAft>
                <a:spcPts val="500"/>
              </a:spcAft>
              <a:buNone/>
            </a:pPr>
            <a:r>
              <a:rPr lang="en-US" sz="1050" b="1" dirty="0">
                <a:solidFill>
                  <a:srgbClr val="1E1E1E"/>
                </a:solidFill>
                <a:latin typeface="Calibri" pitchFamily="34" charset="0"/>
                <a:ea typeface="Calibri" pitchFamily="34" charset="-122"/>
                <a:cs typeface="Calibri" pitchFamily="34" charset="-120"/>
              </a:rPr>
              <a:t>[19]  </a:t>
            </a:r>
            <a:pPr indent="0" marL="0">
              <a:spcAft>
                <a:spcPts val="500"/>
              </a:spcAft>
              <a:buNone/>
            </a:pPr>
            <a:r>
              <a:rPr lang="en-US" sz="1050" dirty="0">
                <a:solidFill>
                  <a:srgbClr val="1E1E1E"/>
                </a:solidFill>
                <a:latin typeface="Calibri" pitchFamily="34" charset="0"/>
                <a:ea typeface="Calibri" pitchFamily="34" charset="-122"/>
                <a:cs typeface="Calibri" pitchFamily="34" charset="-120"/>
              </a:rPr>
              <a:t>W. D. Devine, Jr., “From shafts to wires: Historical perspective on electrification,” </a:t>
            </a:r>
            <a:pPr indent="0" marL="0">
              <a:spcAft>
                <a:spcPts val="500"/>
              </a:spcAft>
              <a:buNone/>
            </a:pPr>
            <a:r>
              <a:rPr lang="en-US" sz="1050" i="1" dirty="0">
                <a:solidFill>
                  <a:srgbClr val="1E1E1E"/>
                </a:solidFill>
                <a:latin typeface="Calibri" pitchFamily="34" charset="0"/>
                <a:ea typeface="Calibri" pitchFamily="34" charset="-122"/>
                <a:cs typeface="Calibri" pitchFamily="34" charset="-120"/>
              </a:rPr>
              <a:t>The Journal of Economic History</a:t>
            </a:r>
            <a:pPr indent="0" marL="0">
              <a:spcAft>
                <a:spcPts val="500"/>
              </a:spcAft>
              <a:buNone/>
            </a:pPr>
            <a:r>
              <a:rPr lang="en-US" sz="1050" dirty="0">
                <a:solidFill>
                  <a:srgbClr val="1E1E1E"/>
                </a:solidFill>
                <a:latin typeface="Calibri" pitchFamily="34" charset="0"/>
                <a:ea typeface="Calibri" pitchFamily="34" charset="-122"/>
                <a:cs typeface="Calibri" pitchFamily="34" charset="-120"/>
              </a:rPr>
              <a:t>, vol. 43, no. 2, pp. 347–372, 1983.</a:t>
            </a:r>
            <a:endParaRPr lang="en-US" sz="1050" dirty="0"/>
          </a:p>
          <a:p>
            <a:pPr indent="0" marL="0">
              <a:spcAft>
                <a:spcPts val="500"/>
              </a:spcAft>
              <a:buNone/>
            </a:pPr>
            <a:r>
              <a:rPr lang="en-US" sz="1050" b="1" dirty="0">
                <a:solidFill>
                  <a:srgbClr val="1E1E1E"/>
                </a:solidFill>
                <a:latin typeface="Calibri" pitchFamily="34" charset="0"/>
                <a:ea typeface="Calibri" pitchFamily="34" charset="-122"/>
                <a:cs typeface="Calibri" pitchFamily="34" charset="-120"/>
              </a:rPr>
              <a:t>[20]  </a:t>
            </a:r>
            <a:pPr indent="0" marL="0">
              <a:spcAft>
                <a:spcPts val="500"/>
              </a:spcAft>
              <a:buNone/>
            </a:pPr>
            <a:r>
              <a:rPr lang="en-US" sz="1050" dirty="0">
                <a:solidFill>
                  <a:srgbClr val="1E1E1E"/>
                </a:solidFill>
                <a:latin typeface="Calibri" pitchFamily="34" charset="0"/>
                <a:ea typeface="Calibri" pitchFamily="34" charset="-122"/>
                <a:cs typeface="Calibri" pitchFamily="34" charset="-120"/>
              </a:rPr>
              <a:t>P. A. David, “The dynamo and the computer: An historical perspective on the modern productivity paradox,” </a:t>
            </a:r>
            <a:pPr indent="0" marL="0">
              <a:spcAft>
                <a:spcPts val="500"/>
              </a:spcAft>
              <a:buNone/>
            </a:pPr>
            <a:r>
              <a:rPr lang="en-US" sz="1050" i="1" dirty="0">
                <a:solidFill>
                  <a:srgbClr val="1E1E1E"/>
                </a:solidFill>
                <a:latin typeface="Calibri" pitchFamily="34" charset="0"/>
                <a:ea typeface="Calibri" pitchFamily="34" charset="-122"/>
                <a:cs typeface="Calibri" pitchFamily="34" charset="-120"/>
              </a:rPr>
              <a:t>American Economic Review</a:t>
            </a:r>
            <a:pPr indent="0" marL="0">
              <a:spcAft>
                <a:spcPts val="500"/>
              </a:spcAft>
              <a:buNone/>
            </a:pPr>
            <a:r>
              <a:rPr lang="en-US" sz="1050" dirty="0">
                <a:solidFill>
                  <a:srgbClr val="1E1E1E"/>
                </a:solidFill>
                <a:latin typeface="Calibri" pitchFamily="34" charset="0"/>
                <a:ea typeface="Calibri" pitchFamily="34" charset="-122"/>
                <a:cs typeface="Calibri" pitchFamily="34" charset="-120"/>
              </a:rPr>
              <a:t>, vol. 80, no. 2, pp. 355–361, 1990.</a:t>
            </a:r>
            <a:endParaRPr lang="en-US" sz="1050" dirty="0"/>
          </a:p>
          <a:p>
            <a:pPr indent="0" marL="0">
              <a:spcAft>
                <a:spcPts val="500"/>
              </a:spcAft>
              <a:buNone/>
            </a:pPr>
            <a:r>
              <a:rPr lang="en-US" sz="1050" b="1" dirty="0">
                <a:solidFill>
                  <a:srgbClr val="1E1E1E"/>
                </a:solidFill>
                <a:latin typeface="Calibri" pitchFamily="34" charset="0"/>
                <a:ea typeface="Calibri" pitchFamily="34" charset="-122"/>
                <a:cs typeface="Calibri" pitchFamily="34" charset="-120"/>
              </a:rPr>
              <a:t>[25]  </a:t>
            </a:r>
            <a:pPr indent="0" marL="0">
              <a:spcAft>
                <a:spcPts val="500"/>
              </a:spcAft>
              <a:buNone/>
            </a:pPr>
            <a:r>
              <a:rPr lang="en-US" sz="1050" dirty="0">
                <a:solidFill>
                  <a:srgbClr val="1E1E1E"/>
                </a:solidFill>
                <a:latin typeface="Calibri" pitchFamily="34" charset="0"/>
                <a:ea typeface="Calibri" pitchFamily="34" charset="-122"/>
                <a:cs typeface="Calibri" pitchFamily="34" charset="-120"/>
              </a:rPr>
              <a:t>Thomas A. Edison Papers, “Myth buster: Topsy the elephant,” Rutgers Univ., New Brunswick, NJ, USA. Accessed: Oct. 1, 2026. [Online]. Available: https://edison.rutgers.edu/life-of-edison/essaying-edison/essay/myth-buster-topsy-the-elephant</a:t>
            </a:r>
            <a:endParaRPr lang="en-US" sz="1050" dirty="0"/>
          </a:p>
        </p:txBody>
      </p:sp>
      <p:sp>
        <p:nvSpPr>
          <p:cNvPr id="4" name="Text 2"/>
          <p:cNvSpPr txBox="1"/>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rgbClr val="5F5D58"/>
                </a:solidFill>
                <a:latin typeface="Calibri" pitchFamily="34" charset="0"/>
                <a:ea typeface="Calibri" pitchFamily="34" charset="-122"/>
                <a:cs typeface="Calibri" pitchFamily="34" charset="-120"/>
              </a:rPr>
              <a:t>Vollständiges Verzeichnis (30 Einträge) im Handout.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Der Stromkrieg – Edison vs. Westinghouse</dc:title>
  <dc:subject>PptxGenJS Presentation</dc:subject>
  <dc:creator>Simon Bruder</dc:creator>
  <cp:lastModifiedBy>Simon Bruder</cp:lastModifiedBy>
  <cp:revision>1</cp:revision>
  <dcterms:created xsi:type="dcterms:W3CDTF">2026-10-01T11:46:02Z</dcterms:created>
  <dcterms:modified xsi:type="dcterms:W3CDTF">2026-10-01T11:46:02Z</dcterms:modified>
</cp:coreProperties>
</file>